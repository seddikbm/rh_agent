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b24dcfa2e34789" /><Relationship Type="http://schemas.openxmlformats.org/officeDocument/2006/relationships/extended-properties" Target="/docProps/app.xml" Id="Rb53ef96fa36f461f" /><Relationship Type="http://schemas.openxmlformats.org/officeDocument/2006/relationships/officeDocument" Target="/ppt/presentation.xml" Id="R7a5037a62fe04c11" /></Relationships>
</file>

<file path=ppt/presentation.xml><?xml version="1.0" encoding="utf-8"?>
<p:presentation xmlns:p="http://schemas.openxmlformats.org/presentationml/2006/main">
  <p:sldMasterIdLst>
    <p:sldMasterId xmlns:r="http://schemas.openxmlformats.org/officeDocument/2006/relationships" id="2147483648" r:id="R195071a3f3e442fd"/>
  </p:sldMasterIdLst>
  <p:notesMasterIdLst>
    <p:notesMasterId xmlns:r="http://schemas.openxmlformats.org/officeDocument/2006/relationships" r:id="Re711154888504e9c"/>
  </p:notesMasterIdLst>
  <p:sldIdLst>
    <p:sldId xmlns:r="http://schemas.openxmlformats.org/officeDocument/2006/relationships" id="256" r:id="R34d4c2e7ba5147de"/>
    <p:sldId xmlns:r="http://schemas.openxmlformats.org/officeDocument/2006/relationships" id="257" r:id="Rd4ce3669c6e94e60"/>
    <p:sldId xmlns:r="http://schemas.openxmlformats.org/officeDocument/2006/relationships" id="258" r:id="Rc222b678bf3149e4"/>
    <p:sldId xmlns:r="http://schemas.openxmlformats.org/officeDocument/2006/relationships" id="259" r:id="Rb2148013cbb644ad"/>
    <p:sldId xmlns:r="http://schemas.openxmlformats.org/officeDocument/2006/relationships" id="260" r:id="Rf7d22a3167b3497a"/>
    <p:sldId xmlns:r="http://schemas.openxmlformats.org/officeDocument/2006/relationships" id="261" r:id="R8e31dc69f33e4750"/>
    <p:sldId xmlns:r="http://schemas.openxmlformats.org/officeDocument/2006/relationships" id="262" r:id="Red3a2e12753041e7"/>
    <p:sldId xmlns:r="http://schemas.openxmlformats.org/officeDocument/2006/relationships" id="263" r:id="R2dd2a8616455445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95071a3f3e442fd" /><Relationship Type="http://schemas.openxmlformats.org/officeDocument/2006/relationships/theme" Target="/ppt/theme/theme1.xml" Id="Rcc455bbdc5ba43ed" /><Relationship Type="http://schemas.openxmlformats.org/officeDocument/2006/relationships/notesMaster" Target="/ppt/notesMasters/notesMaster1.xml" Id="Re711154888504e9c" /><Relationship Type="http://schemas.openxmlformats.org/officeDocument/2006/relationships/presProps" Target="/ppt/presProps.xml" Id="R17d2be4140ae48ee" /><Relationship Type="http://schemas.openxmlformats.org/officeDocument/2006/relationships/viewProps" Target="/ppt/viewProps.xml" Id="R17b93bf3024144cd" /><Relationship Type="http://schemas.openxmlformats.org/officeDocument/2006/relationships/tableStyles" Target="/ppt/tableStyles.xml" Id="R8be0338e1171448e" /><Relationship Type="http://schemas.openxmlformats.org/officeDocument/2006/relationships/slide" Target="/ppt/slides/slide1.xml" Id="R34d4c2e7ba5147de" /><Relationship Type="http://schemas.openxmlformats.org/officeDocument/2006/relationships/slide" Target="/ppt/slides/slide2.xml" Id="Rd4ce3669c6e94e60" /><Relationship Type="http://schemas.openxmlformats.org/officeDocument/2006/relationships/slide" Target="/ppt/slides/slide3.xml" Id="Rc222b678bf3149e4" /><Relationship Type="http://schemas.openxmlformats.org/officeDocument/2006/relationships/slide" Target="/ppt/slides/slide4.xml" Id="Rb2148013cbb644ad" /><Relationship Type="http://schemas.openxmlformats.org/officeDocument/2006/relationships/slide" Target="/ppt/slides/slide5.xml" Id="Rf7d22a3167b3497a" /><Relationship Type="http://schemas.openxmlformats.org/officeDocument/2006/relationships/slide" Target="/ppt/slides/slide6.xml" Id="R8e31dc69f33e4750" /><Relationship Type="http://schemas.openxmlformats.org/officeDocument/2006/relationships/slide" Target="/ppt/slides/slide7.xml" Id="Red3a2e12753041e7" /><Relationship Type="http://schemas.openxmlformats.org/officeDocument/2006/relationships/slide" Target="/ppt/slides/slide8.xml" Id="R2dd2a861645544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2369780e08846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f97eef3f19495d" /><Relationship Type="http://schemas.openxmlformats.org/officeDocument/2006/relationships/notesMaster" Target="/ppt/notesMasters/notesMaster1.xml" Id="R347158ea650d45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46053706114901" /><Relationship Type="http://schemas.openxmlformats.org/officeDocument/2006/relationships/notesMaster" Target="/ppt/notesMasters/notesMaster1.xml" Id="R2e0f94fc3c4b47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5b9750ced7434f" /><Relationship Type="http://schemas.openxmlformats.org/officeDocument/2006/relationships/notesMaster" Target="/ppt/notesMasters/notesMaster1.xml" Id="R4305b52187304b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a55efbe7fa4b14" /><Relationship Type="http://schemas.openxmlformats.org/officeDocument/2006/relationships/notesMaster" Target="/ppt/notesMasters/notesMaster1.xml" Id="Rd01ddb09039c4e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253bc605f6445a" /><Relationship Type="http://schemas.openxmlformats.org/officeDocument/2006/relationships/notesMaster" Target="/ppt/notesMasters/notesMaster1.xml" Id="Ra3673095a8484e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67ca459d4740d5" /><Relationship Type="http://schemas.openxmlformats.org/officeDocument/2006/relationships/notesMaster" Target="/ppt/notesMasters/notesMaster1.xml" Id="R47954644466949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69b7ed6c1143aa" /><Relationship Type="http://schemas.openxmlformats.org/officeDocument/2006/relationships/notesMaster" Target="/ppt/notesMasters/notesMaster1.xml" Id="R6370d40c7312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b43de231864ded" /><Relationship Type="http://schemas.openxmlformats.org/officeDocument/2006/relationships/notesMaster" Target="/ppt/notesMasters/notesMaster1.xml" Id="R811168e424814c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En huit minutes, je vais vous presenter un projet d'aide a la decision RH. L'idee n'est pas de remplacer le recruteur, mais de lui faire gagner du temps sur le tri des candidatures. Le systeme commence par classer rapidement les CV face a une fiche de poste, puis il lance une analyse plus profonde sur les meilleurs profils. A la fin, on obtient un rapport lisible, argumente et exportable en PDF.</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backend/api/routes/analysis.py</a:t>
            </a:r>
          </a:p>
          <a:p xmlns:a="http://schemas.openxmlformats.org/drawingml/2006/main">
            <a:r>
              <a:t>- backend/agents/graph.py et backend/agents/nodes/*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point de depart du projet, c'est un probleme tres concret. Quand une offre attire beaucoup de candidatures, l'equipe RH doit lire des CV de formats differents, verifier les competences, l'experience et la formation, puis justifier ses choix. Ce travail est repetitif et prend du temps. Le besoin, donc, est un outil capable d'accelerer la selection initiale tout en restant explicable et responsable.</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solution suit une logique en deux temps. D'abord, on passe par un tri large, rapide et scalable avec le RAG. Ensuite, on reserve l'analyse la plus couteuse aux profils les plus pertinents. Ce choix est important, parce qu'il reduit les couts de calcul et garde l'humain dans la boucle. Le systeme n'est donc pas un moteur de decision automatique, mais un accelerateur de travail RH.</a:t>
            </a:r>
          </a:p>
          <a:p xmlns:a="http://schemas.openxmlformats.org/drawingml/2006/main">
            <a:r>
              <a:t/>
            </a:r>
          </a:p>
          <a:p xmlns:a="http://schemas.openxmlformats.org/drawingml/2006/main">
            <a:r>
              <a:t>[Sources]</a:t>
            </a:r>
          </a:p>
          <a:p xmlns:a="http://schemas.openxmlformats.org/drawingml/2006/main">
            <a:r>
              <a:t>- backend/api/routes/analysis.py</a:t>
            </a:r>
          </a:p>
          <a:p xmlns:a="http://schemas.openxmlformats.org/drawingml/2006/main">
            <a:r>
              <a:t>- backend/services/rag.py et backend/services/section_extractor.py</a:t>
            </a:r>
          </a:p>
          <a:p xmlns:a="http://schemas.openxmlformats.org/drawingml/2006/main">
            <a:r>
              <a:t>- backend/agents/graph.py et backend/agents/nodes/*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Techniquement, le projet repose sur une architecture assez claire. Le frontend React sert a piloter le processus. Le backend FastAPI expose les endpoints et orchestre les etapes. PostgreSQL stocke les entites metier comme les CV, les jobs, les analyses et les batches. ChromaDB sert au matching semantique. Enfin, le LLM intervient pour structurer, scorer et rediger les rapports. Le tout est lance facilement avec Docker Compose.</a:t>
            </a:r>
          </a:p>
          <a:p xmlns:a="http://schemas.openxmlformats.org/drawingml/2006/main">
            <a:r>
              <a:t/>
            </a:r>
          </a:p>
          <a:p xmlns:a="http://schemas.openxmlformats.org/drawingml/2006/main">
            <a:r>
              <a:t>[Sources]</a:t>
            </a:r>
          </a:p>
          <a:p xmlns:a="http://schemas.openxmlformats.org/drawingml/2006/main">
            <a:r>
              <a:t>- backend/main.py, backend/config.py, backend/models/database.py</a:t>
            </a:r>
          </a:p>
          <a:p xmlns:a="http://schemas.openxmlformats.org/drawingml/2006/main">
            <a:r>
              <a:t>- docker-compose.yml, backend/Dockerfile, frontend/Dockerfile</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Cote utilisateur, le parcours est volontairement simple. On commence par la fiche de poste, soit saisie manuellement, soit extraite depuis un fichier. Ensuite, on importe plusieurs CV. Le systeme lance un batch de classement, puis il affiche un top preliminaire. Le recruteur selectionne ensuite les profils qui meritent une lecture plus fine. Enfin, chaque candidat analyse donne lieu a un rapport detaille et telechargeable.</a:t>
            </a:r>
          </a:p>
          <a:p xmlns:a="http://schemas.openxmlformats.org/drawingml/2006/main">
            <a:r>
              <a:t/>
            </a:r>
          </a:p>
          <a:p xmlns:a="http://schemas.openxmlformats.org/drawingml/2006/main">
            <a:r>
              <a:t>[Sources]</a:t>
            </a:r>
          </a:p>
          <a:p xmlns:a="http://schemas.openxmlformats.org/drawingml/2006/main">
            <a:r>
              <a:t>- frontend/src/pages/Upload.jsx, Analyses.jsx, Report.jsx, Jobs.jsx</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L'algorithme repose sur deux idees. La premiere, c'est la ponderation metier: les competences techniques comptent pour 40 pour cent, puis viennent l'experience, la formation et enfin le profil. La seconde, c'est l'hybridation. Le projet ne se contente pas d'un simple score de similarite: il combine le signal du RAG avec une evaluation plus qualitative du modele. Dans le code, ce melange est fait a 70 pour cent LLM et 30 pour cent RAG par categorie.</a:t>
            </a:r>
          </a:p>
          <a:p xmlns:a="http://schemas.openxmlformats.org/drawingml/2006/main">
            <a:r>
              <a:t/>
            </a:r>
          </a:p>
          <a:p xmlns:a="http://schemas.openxmlformats.org/drawingml/2006/main">
            <a:r>
              <a:t>[Sources]</a:t>
            </a:r>
          </a:p>
          <a:p xmlns:a="http://schemas.openxmlformats.org/drawingml/2006/main">
            <a:r>
              <a:t>- backend/services/rag.py et backend/services/section_extractor.py</a:t>
            </a:r>
          </a:p>
          <a:p xmlns:a="http://schemas.openxmlformats.org/drawingml/2006/main">
            <a:r>
              <a:t>- backend/agents/graph.py et backend/agents/nodes/*</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vraie valeur du projet est dans la qualite des sorties. D'abord, il y a un classement batch pour orienter rapidement le travail. Ensuite, pour les candidats retenus, il y a un rapport complet avec les scores, les points forts, les points faibles, le niveau de matching par competence et une recommandation. Enfin, le PDF permet de conserver une trace claire du raisonnement, ce qui est tres utile pour partager ou archiver l'analyse.</a:t>
            </a:r>
          </a:p>
          <a:p xmlns:a="http://schemas.openxmlformats.org/drawingml/2006/main">
            <a:r>
              <a:t/>
            </a:r>
          </a:p>
          <a:p xmlns:a="http://schemas.openxmlformats.org/drawingml/2006/main">
            <a:r>
              <a:t>[Sources]</a:t>
            </a:r>
          </a:p>
          <a:p xmlns:a="http://schemas.openxmlformats.org/drawingml/2006/main">
            <a:r>
              <a:t>- backend/api/routes/analysis.py</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conclure, ce projet apporte deja une valeur claire: il accelere le pre-tri, structure l'analyse et rend la decision plus lisible. Mais il a aussi des limites importantes. Comme tout systeme d'IA, il depend des donnees d'entree et doit etre surveille pour eviter les biais ou les interpretations abusives. La bonne lecture de ce projet, c'est donc celle d'un copilote RH explicable, avec un vrai potentiel d'industrialisation.</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backend/agents/graph.py et backend/agents/nodes/*</a:t>
            </a:r>
          </a:p>
          <a:p xmlns:a="http://schemas.openxmlformats.org/drawingml/2006/main">
            <a:r>
              <a:t>- docker-compose.yml, backend/Dockerfile, frontend/Dockerfile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681270ec3e4fc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1E37928F-6780-42B4-8696-CC3E43B9C5E0}"/>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E68C83D4-28FC-4CF9-A7F2-86DBF9C62485}"/>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17D318FC-6BBB-4D44-8BB7-720DEFC54696}"/>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DFD9769D-F184-4508-9189-01E374F3DAF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3B8A6FBB-4EA7-4BA4-A7C9-E4163FB53D1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9f3d02615ca40a7" /><Relationship Type="http://schemas.openxmlformats.org/officeDocument/2006/relationships/slideLayout" Target="/ppt/slideLayouts/slideLayout2.xml" Id="R2744ed9d588846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0352C0AC-6002-49F4-B86A-9CFE6F09BF5E}"/>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4ed9d588846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6c03e6c30cb4706" /><Relationship Type="http://schemas.openxmlformats.org/officeDocument/2006/relationships/notesSlide" Target="/ppt/notesSlides/notesSlide1.xml" Id="Rf9f19d6899b34d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809cd9d2d0e45dc" /><Relationship Type="http://schemas.openxmlformats.org/officeDocument/2006/relationships/notesSlide" Target="/ppt/notesSlides/notesSlide2.xml" Id="R45b6451f753e4f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e248ed7cd114518" /><Relationship Type="http://schemas.openxmlformats.org/officeDocument/2006/relationships/notesSlide" Target="/ppt/notesSlides/notesSlide3.xml" Id="Re98a31ba8b7648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7bf456878d142f1" /><Relationship Type="http://schemas.openxmlformats.org/officeDocument/2006/relationships/notesSlide" Target="/ppt/notesSlides/notesSlide4.xml" Id="R48b1a6f749e648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c5e600f9b65470d" /><Relationship Type="http://schemas.openxmlformats.org/officeDocument/2006/relationships/notesSlide" Target="/ppt/notesSlides/notesSlide5.xml" Id="Rba43916e8d6042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ffa4013cb334b7d" /><Relationship Type="http://schemas.openxmlformats.org/officeDocument/2006/relationships/notesSlide" Target="/ppt/notesSlides/notesSlide6.xml" Id="R87da5a716d58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45638c31f81485d" /><Relationship Type="http://schemas.openxmlformats.org/officeDocument/2006/relationships/notesSlide" Target="/ppt/notesSlides/notesSlide7.xml" Id="Raf26229a63c948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ca5b5f21aa942de" /><Relationship Type="http://schemas.openxmlformats.org/officeDocument/2006/relationships/notesSlide" Target="/ppt/notesSlides/notesSlide8.xml" Id="R78ed06276ac04614" /></Relationships>
</file>

<file path=ppt/slides/slide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B88B197-0119-4E42-BCCB-E912FC2CDB70}"/>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7873E5-D6AC-43AD-9B18-A0386E8CCF78}"/>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4B1C874-7113-43AE-B69B-D971CE791EB1}"/>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608C1EA-7959-4C87-8C22-7B174D368BC7}"/>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56849FE4-FF91-4BA3-AA2E-DA8968B43094}"/>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571C12FD-BB54-45C2-95AB-728BF239BAB7}"/>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6C5159A8-9BD1-47E2-B17D-F376DEBE073F}"/>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3AF1B67-48FA-4C5C-B92D-3407C1B9A9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2167B36-4B06-4ABB-A98B-56B50E191446}"/>
              </a:ext>
            </a:extLst>
          </p:cNvPr>
          <p:cNvSpPr>
            <a:spLocks xmlns:a="http://schemas.openxmlformats.org/drawingml/2006/main" noGrp="1"/>
          </p:cNvSpPr>
          <p:nvPr/>
        </p:nvSpPr>
        <p:spPr>
          <a:xfrm xmlns:a="http://schemas.openxmlformats.org/drawingml/2006/main">
            <a:off x="685800" y="990600"/>
            <a:ext cx="66675" cy="40957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935DBCD-74A1-487B-AB9A-2311E32B3160}"/>
              </a:ext>
            </a:extLst>
          </p:cNvPr>
          <p:cNvSpPr>
            <a:spLocks xmlns:a="http://schemas.openxmlformats.org/drawingml/2006/main" noGrp="1"/>
          </p:cNvSpPr>
          <p:nvPr/>
        </p:nvSpPr>
        <p:spPr>
          <a:xfrm xmlns:a="http://schemas.openxmlformats.org/drawingml/2006/main">
            <a:off x="914400" y="9715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PROJET RH AGENT</a:t>
            </a:r>
          </a:p>
        </p:txBody>
      </p:sp>
      <p:sp>
        <p:nvSpPr>
          <p:cNvPr id="12" name="">
            <a:extLst xmlns:a="http://schemas.openxmlformats.org/drawingml/2006/main">
              <a:ext uri="{FF2B5EF4-FFF2-40B4-BE49-F238E27FC236}">
                <a16:creationId xmlns:a16="http://schemas.microsoft.com/office/drawing/2014/main" id="{FA26DF14-EC3E-4E2F-9E83-AFB6770F781D}"/>
              </a:ext>
            </a:extLst>
          </p:cNvPr>
          <p:cNvSpPr>
            <a:spLocks xmlns:a="http://schemas.openxmlformats.org/drawingml/2006/main" noGrp="1"/>
          </p:cNvSpPr>
          <p:nvPr/>
        </p:nvSpPr>
        <p:spPr>
          <a:xfrm xmlns:a="http://schemas.openxmlformats.org/drawingml/2006/main">
            <a:off x="876300" y="1371600"/>
            <a:ext cx="74295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0B1320"/>
                </a:solidFill>
              </a:defRPr>
            </a:pPr>
            <a:r>
              <a:rPr sz="3750" b="1">
                <a:solidFill>
                  <a:srgbClr val="0B1320"/>
                </a:solidFill>
              </a:rPr>
              <a:t>Agent RH IA</a:t>
            </a:r>
          </a:p>
          <a:p xmlns:a="http://schemas.openxmlformats.org/drawingml/2006/main">
            <a:pPr algn="l">
              <a:defRPr sz="3750" b="1">
                <a:solidFill>
                  <a:srgbClr val="0B1320"/>
                </a:solidFill>
              </a:defRPr>
            </a:pPr>
            <a:r>
              <a:rPr sz="3750" b="1">
                <a:solidFill>
                  <a:srgbClr val="0B1320"/>
                </a:solidFill>
              </a:rPr>
              <a:t>Évaluation intelligente de candidatures</a:t>
            </a:r>
          </a:p>
        </p:txBody>
      </p:sp>
      <p:sp>
        <p:nvSpPr>
          <p:cNvPr id="13" name="">
            <a:extLst xmlns:a="http://schemas.openxmlformats.org/drawingml/2006/main">
              <a:ext uri="{FF2B5EF4-FFF2-40B4-BE49-F238E27FC236}">
                <a16:creationId xmlns:a16="http://schemas.microsoft.com/office/drawing/2014/main" id="{5A0C4BBE-AD94-441B-81BD-0A90F6DE00E8}"/>
              </a:ext>
            </a:extLst>
          </p:cNvPr>
          <p:cNvSpPr>
            <a:spLocks xmlns:a="http://schemas.openxmlformats.org/drawingml/2006/main" noGrp="1"/>
          </p:cNvSpPr>
          <p:nvPr/>
        </p:nvSpPr>
        <p:spPr>
          <a:xfrm xmlns:a="http://schemas.openxmlformats.org/drawingml/2006/main">
            <a:off x="914400" y="3162300"/>
            <a:ext cx="66675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defRPr>
            </a:pPr>
            <a:r>
              <a:rPr sz="1575" b="0">
                <a:solidFill>
                  <a:srgbClr val="334155"/>
                </a:solidFill>
              </a:rPr>
              <a:t>Une plateforme qui classe des CV, sélectionne les profils les plus prometteurs et génère des rapports explicatifs pour aider le recruteur.</a:t>
            </a:r>
          </a:p>
        </p:txBody>
      </p:sp>
      <p:sp>
        <p:nvSpPr>
          <p:cNvPr id="14" name="">
            <a:extLst xmlns:a="http://schemas.openxmlformats.org/drawingml/2006/main">
              <a:ext uri="{FF2B5EF4-FFF2-40B4-BE49-F238E27FC236}">
                <a16:creationId xmlns:a16="http://schemas.microsoft.com/office/drawing/2014/main" id="{BDB12651-1F2B-4E58-8658-1883DB434D12}"/>
              </a:ext>
            </a:extLst>
          </p:cNvPr>
          <p:cNvSpPr>
            <a:spLocks xmlns:a="http://schemas.openxmlformats.org/drawingml/2006/main" noGrp="1"/>
          </p:cNvSpPr>
          <p:nvPr/>
        </p:nvSpPr>
        <p:spPr>
          <a:xfrm xmlns:a="http://schemas.openxmlformats.org/drawingml/2006/main">
            <a:off x="914400" y="4476750"/>
            <a:ext cx="4000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1430">
            <a:solidFill>
              <a:srgbClr val="D7E3F3"/>
            </a:solidFill>
            <a:prstDash val="solid"/>
          </a:ln>
        </p:spPr>
      </p:sp>
      <p:sp>
        <p:nvSpPr>
          <p:cNvPr id="15" name="">
            <a:extLst xmlns:a="http://schemas.openxmlformats.org/drawingml/2006/main">
              <a:ext uri="{FF2B5EF4-FFF2-40B4-BE49-F238E27FC236}">
                <a16:creationId xmlns:a16="http://schemas.microsoft.com/office/drawing/2014/main" id="{5DCEDA69-BB8F-4543-83CE-BE28B3122340}"/>
              </a:ext>
            </a:extLst>
          </p:cNvPr>
          <p:cNvSpPr>
            <a:spLocks xmlns:a="http://schemas.openxmlformats.org/drawingml/2006/main" noGrp="1"/>
          </p:cNvSpPr>
          <p:nvPr/>
        </p:nvSpPr>
        <p:spPr>
          <a:xfrm xmlns:a="http://schemas.openxmlformats.org/drawingml/2006/main">
            <a:off x="1162050" y="4695825"/>
            <a:ext cx="3543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1320"/>
                </a:solidFill>
              </a:defRPr>
            </a:pPr>
            <a:r>
              <a:rPr sz="1800" b="1">
                <a:solidFill>
                  <a:srgbClr val="0B1320"/>
                </a:solidFill>
              </a:rPr>
              <a:t>RAG + LangGraph</a:t>
            </a:r>
          </a:p>
        </p:txBody>
      </p:sp>
      <p:sp>
        <p:nvSpPr>
          <p:cNvPr id="16" name="">
            <a:extLst xmlns:a="http://schemas.openxmlformats.org/drawingml/2006/main">
              <a:ext uri="{FF2B5EF4-FFF2-40B4-BE49-F238E27FC236}">
                <a16:creationId xmlns:a16="http://schemas.microsoft.com/office/drawing/2014/main" id="{326BFBB1-E4CC-450D-98C8-627EB2C2C2B5}"/>
              </a:ext>
            </a:extLst>
          </p:cNvPr>
          <p:cNvSpPr>
            <a:spLocks xmlns:a="http://schemas.openxmlformats.org/drawingml/2006/main" noGrp="1"/>
          </p:cNvSpPr>
          <p:nvPr/>
        </p:nvSpPr>
        <p:spPr>
          <a:xfrm xmlns:a="http://schemas.openxmlformats.org/drawingml/2006/main">
            <a:off x="8763000" y="1162050"/>
            <a:ext cx="2095500" cy="2095500"/>
          </a:xfrm>
          <a:prstGeom xmlns:a="http://schemas.openxmlformats.org/drawingml/2006/main" prst="roundRect">
            <a:avLst>
              <a:gd name="adj" fmla="val 3636"/>
            </a:avLst>
          </a:prstGeom>
          <a:solidFill xmlns:a="http://schemas.openxmlformats.org/drawingml/2006/main">
            <a:srgbClr val="FFFFFF">
              <a:alpha val="65882"/>
            </a:srgbClr>
          </a:solidFill>
          <a:ln xmlns:a="http://schemas.openxmlformats.org/drawingml/2006/main" w="11430">
            <a:solidFill>
              <a:srgbClr val="DCE6F6"/>
            </a:solidFill>
            <a:prstDash val="solid"/>
          </a:ln>
        </p:spPr>
      </p:sp>
      <p:sp>
        <p:nvSpPr>
          <p:cNvPr id="17" name="">
            <a:extLst xmlns:a="http://schemas.openxmlformats.org/drawingml/2006/main">
              <a:ext uri="{FF2B5EF4-FFF2-40B4-BE49-F238E27FC236}">
                <a16:creationId xmlns:a16="http://schemas.microsoft.com/office/drawing/2014/main" id="{DDB21DBD-8EF6-436B-A7D8-51CF4331153F}"/>
              </a:ext>
            </a:extLst>
          </p:cNvPr>
          <p:cNvSpPr>
            <a:spLocks xmlns:a="http://schemas.openxmlformats.org/drawingml/2006/main" noGrp="1"/>
          </p:cNvSpPr>
          <p:nvPr/>
        </p:nvSpPr>
        <p:spPr>
          <a:xfrm xmlns:a="http://schemas.openxmlformats.org/drawingml/2006/main">
            <a:off x="9258300" y="1466850"/>
            <a:ext cx="114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1747A6"/>
                </a:solidFill>
              </a:defRPr>
            </a:pPr>
            <a:r>
              <a:rPr sz="1950" b="1">
                <a:solidFill>
                  <a:srgbClr val="1747A6"/>
                </a:solidFill>
              </a:rPr>
              <a:t>2 phases</a:t>
            </a:r>
          </a:p>
        </p:txBody>
      </p:sp>
      <p:sp>
        <p:nvSpPr>
          <p:cNvPr id="18" name="">
            <a:extLst xmlns:a="http://schemas.openxmlformats.org/drawingml/2006/main">
              <a:ext uri="{FF2B5EF4-FFF2-40B4-BE49-F238E27FC236}">
                <a16:creationId xmlns:a16="http://schemas.microsoft.com/office/drawing/2014/main" id="{7CDD8E54-7664-4DBA-ABAB-862C46542B96}"/>
              </a:ext>
            </a:extLst>
          </p:cNvPr>
          <p:cNvSpPr>
            <a:spLocks xmlns:a="http://schemas.openxmlformats.org/drawingml/2006/main" noGrp="1"/>
          </p:cNvSpPr>
          <p:nvPr/>
        </p:nvSpPr>
        <p:spPr>
          <a:xfrm xmlns:a="http://schemas.openxmlformats.org/drawingml/2006/main">
            <a:off x="9144000" y="2019300"/>
            <a:ext cx="13906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334155"/>
                </a:solidFill>
              </a:defRPr>
            </a:pPr>
            <a:r>
              <a:rPr sz="1200" b="0">
                <a:solidFill>
                  <a:srgbClr val="334155"/>
                </a:solidFill>
              </a:rPr>
              <a:t>RAG pour classer</a:t>
            </a:r>
          </a:p>
          <a:p xmlns:a="http://schemas.openxmlformats.org/drawingml/2006/main">
            <a:pPr algn="ctr">
              <a:defRPr sz="1200" b="0">
                <a:solidFill>
                  <a:srgbClr val="334155"/>
                </a:solidFill>
              </a:defRPr>
            </a:pPr>
            <a:r>
              <a:rPr sz="1200" b="0">
                <a:solidFill>
                  <a:srgbClr val="334155"/>
                </a:solidFill>
              </a:rPr>
              <a:t>LangGraph pour expliquer</a:t>
            </a:r>
          </a:p>
        </p:txBody>
      </p:sp>
    </p:spTree>
    <p:extLst>
      <p:ext uri="{BB962C8B-B14F-4D97-AF65-F5344CB8AC3E}">
        <p14:creationId xmlns:p14="http://schemas.microsoft.com/office/powerpoint/2010/main" val="1805174639"/>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0B95927-E3E8-439B-96C9-DFBBD3137D8B}"/>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7E7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6EED522-1319-4B98-92A1-31280BAF2531}"/>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AFBF0">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DC4150A-31DD-4AA2-A8DA-4A4D6F41A092}"/>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DE4D9">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47BDCE1-338B-4B95-80EF-7794D277A871}"/>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C00146EA-85D2-4531-8499-6E4E6C3996FE}"/>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428FCAE0-FF00-4F83-BD89-584A08A65EC3}"/>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561CABED-9B35-4B52-85D0-C9EC25C4885E}"/>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981FAB8-972C-4E36-B248-4B9E469873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392C00F-1F20-4969-846A-50805603CEE3}"/>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01. PROBLEME</a:t>
            </a:r>
          </a:p>
        </p:txBody>
      </p:sp>
      <p:sp>
        <p:nvSpPr>
          <p:cNvPr id="11" name="">
            <a:extLst xmlns:a="http://schemas.openxmlformats.org/drawingml/2006/main">
              <a:ext uri="{FF2B5EF4-FFF2-40B4-BE49-F238E27FC236}">
                <a16:creationId xmlns:a16="http://schemas.microsoft.com/office/drawing/2014/main" id="{E5B6C8F6-E5C6-4C99-9D38-629EE062D630}"/>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02 / 08</a:t>
            </a:r>
          </a:p>
        </p:txBody>
      </p:sp>
      <p:sp>
        <p:nvSpPr>
          <p:cNvPr id="12" name="">
            <a:extLst xmlns:a="http://schemas.openxmlformats.org/drawingml/2006/main">
              <a:ext uri="{FF2B5EF4-FFF2-40B4-BE49-F238E27FC236}">
                <a16:creationId xmlns:a16="http://schemas.microsoft.com/office/drawing/2014/main" id="{A7076E51-4D05-4854-AD7F-2E9337546B9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8549C4B-30D1-4EBB-AEF3-DE010AE2119F}"/>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55E0DABD-67BB-48A0-B625-AC01EC7F9D0E}"/>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Pourquoi ce projet ?</a:t>
            </a:r>
          </a:p>
        </p:txBody>
      </p:sp>
      <p:sp>
        <p:nvSpPr>
          <p:cNvPr id="15" name="">
            <a:extLst xmlns:a="http://schemas.openxmlformats.org/drawingml/2006/main">
              <a:ext uri="{FF2B5EF4-FFF2-40B4-BE49-F238E27FC236}">
                <a16:creationId xmlns:a16="http://schemas.microsoft.com/office/drawing/2014/main" id="{C0EA13E5-14F9-4A7A-9672-06E485EC718A}"/>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recrutement produit beaucoup de CV, peu de temps d'analyse et un vrai besoin de justification.</a:t>
            </a:r>
          </a:p>
        </p:txBody>
      </p:sp>
      <p:sp>
        <p:nvSpPr>
          <p:cNvPr id="16" name="">
            <a:extLst xmlns:a="http://schemas.openxmlformats.org/drawingml/2006/main">
              <a:ext uri="{FF2B5EF4-FFF2-40B4-BE49-F238E27FC236}">
                <a16:creationId xmlns:a16="http://schemas.microsoft.com/office/drawing/2014/main" id="{6D591844-5242-482C-9397-11BCEE21CEB3}"/>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C149AD83-7D3F-4E14-B406-14D3FDBD01ED}"/>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E9C7309-881D-4184-8DD4-31152741B310}"/>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5E832FD2-2DDD-4385-B403-BF96D91B5E42}"/>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4D319B1-37EE-4167-9461-95567FD664FB}"/>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F4DC7BC-8582-4240-8546-1CB1D8FBFDFE}"/>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5987EB1-6BA6-42D8-BDB5-38A5353A19BE}"/>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Volume</a:t>
            </a:r>
          </a:p>
        </p:txBody>
      </p:sp>
      <p:sp>
        <p:nvSpPr>
          <p:cNvPr id="23" name="">
            <a:extLst xmlns:a="http://schemas.openxmlformats.org/drawingml/2006/main">
              <a:ext uri="{FF2B5EF4-FFF2-40B4-BE49-F238E27FC236}">
                <a16:creationId xmlns:a16="http://schemas.microsoft.com/office/drawing/2014/main" id="{D927B5BE-E712-428C-B144-5447E8A0339B}"/>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 recruteur doit comparer</a:t>
            </a:r>
          </a:p>
          <a:p xmlns:a="http://schemas.openxmlformats.org/drawingml/2006/main">
            <a:pPr algn="l">
              <a:defRPr sz="1275" b="0">
                <a:solidFill>
                  <a:srgbClr val="0B1320"/>
                </a:solidFill>
              </a:defRPr>
            </a:pPr>
            <a:r>
              <a:rPr sz="1275" b="0">
                <a:solidFill>
                  <a:srgbClr val="0B1320"/>
                </a:solidFill>
              </a:rPr>
              <a:t>rapidement beaucoup de CV</a:t>
            </a:r>
          </a:p>
          <a:p xmlns:a="http://schemas.openxmlformats.org/drawingml/2006/main">
            <a:pPr algn="l">
              <a:defRPr sz="1275" b="0">
                <a:solidFill>
                  <a:srgbClr val="0B1320"/>
                </a:solidFill>
              </a:defRPr>
            </a:pPr>
            <a:r>
              <a:rPr sz="1275" b="0">
                <a:solidFill>
                  <a:srgbClr val="0B1320"/>
                </a:solidFill>
              </a:rPr>
              <a:t>heterogenes pour un meme</a:t>
            </a:r>
          </a:p>
          <a:p xmlns:a="http://schemas.openxmlformats.org/drawingml/2006/main">
            <a:pPr algn="l">
              <a:defRPr sz="1275" b="0">
                <a:solidFill>
                  <a:srgbClr val="0B1320"/>
                </a:solidFill>
              </a:defRPr>
            </a:pPr>
            <a:r>
              <a:rPr sz="1275" b="0">
                <a:solidFill>
                  <a:srgbClr val="0B1320"/>
                </a:solidFill>
              </a:rPr>
              <a:t>poste.</a:t>
            </a:r>
          </a:p>
        </p:txBody>
      </p:sp>
      <p:sp>
        <p:nvSpPr>
          <p:cNvPr id="24" name="">
            <a:extLst xmlns:a="http://schemas.openxmlformats.org/drawingml/2006/main">
              <a:ext uri="{FF2B5EF4-FFF2-40B4-BE49-F238E27FC236}">
                <a16:creationId xmlns:a16="http://schemas.microsoft.com/office/drawing/2014/main" id="{031F28DF-E68F-4068-B5B7-6E28764EE4D8}"/>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A2E09117-A45F-4894-9815-181137DBA429}"/>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6A81F49-FB34-447E-BAD8-FAF47D0E068D}"/>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D13BF917-4FD2-4294-A1CE-E9FD16D15CB8}"/>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15B8ED0-78A0-4D9D-B978-7A027386A9E8}"/>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E47317D-5AB4-4445-93BC-34CFA5BB424E}"/>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11A5231D-D641-429B-B52C-043D1DEBC969}"/>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Risque</a:t>
            </a:r>
          </a:p>
        </p:txBody>
      </p:sp>
      <p:sp>
        <p:nvSpPr>
          <p:cNvPr id="31" name="">
            <a:extLst xmlns:a="http://schemas.openxmlformats.org/drawingml/2006/main">
              <a:ext uri="{FF2B5EF4-FFF2-40B4-BE49-F238E27FC236}">
                <a16:creationId xmlns:a16="http://schemas.microsoft.com/office/drawing/2014/main" id="{2476DE2E-DEA7-47D8-BC6F-E14C4E54F4C4}"/>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tri manuel devient long,</a:t>
            </a:r>
          </a:p>
          <a:p xmlns:a="http://schemas.openxmlformats.org/drawingml/2006/main">
            <a:pPr algn="l">
              <a:defRPr sz="1275" b="0">
                <a:solidFill>
                  <a:srgbClr val="0B1320"/>
                </a:solidFill>
              </a:defRPr>
            </a:pPr>
            <a:r>
              <a:rPr sz="1275" b="0">
                <a:solidFill>
                  <a:srgbClr val="0B1320"/>
                </a:solidFill>
              </a:rPr>
              <a:t>variable et difficile à</a:t>
            </a:r>
          </a:p>
          <a:p xmlns:a="http://schemas.openxmlformats.org/drawingml/2006/main">
            <a:pPr algn="l">
              <a:defRPr sz="1275" b="0">
                <a:solidFill>
                  <a:srgbClr val="0B1320"/>
                </a:solidFill>
              </a:defRPr>
            </a:pPr>
            <a:r>
              <a:rPr sz="1275" b="0">
                <a:solidFill>
                  <a:srgbClr val="0B1320"/>
                </a:solidFill>
              </a:rPr>
              <a:t>expliquer quand la pression</a:t>
            </a:r>
          </a:p>
          <a:p xmlns:a="http://schemas.openxmlformats.org/drawingml/2006/main">
            <a:pPr algn="l">
              <a:defRPr sz="1275" b="0">
                <a:solidFill>
                  <a:srgbClr val="0B1320"/>
                </a:solidFill>
              </a:defRPr>
            </a:pPr>
            <a:r>
              <a:rPr sz="1275" b="0">
                <a:solidFill>
                  <a:srgbClr val="0B1320"/>
                </a:solidFill>
              </a:rPr>
              <a:t>monte.</a:t>
            </a:r>
          </a:p>
        </p:txBody>
      </p:sp>
      <p:sp>
        <p:nvSpPr>
          <p:cNvPr id="32" name="">
            <a:extLst xmlns:a="http://schemas.openxmlformats.org/drawingml/2006/main">
              <a:ext uri="{FF2B5EF4-FFF2-40B4-BE49-F238E27FC236}">
                <a16:creationId xmlns:a16="http://schemas.microsoft.com/office/drawing/2014/main" id="{030DD510-280C-4398-9F3E-4761BEFD8E09}"/>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65B132F8-D660-4C0F-A3C2-B4864CBBB9A2}"/>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12D9CBFC-38D0-4787-9C41-B0E6252F21AF}"/>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2698085A-5144-491B-86FA-7619E66241A5}"/>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5A967EE7-807D-463A-A5F7-0B82BAF037B4}"/>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5DC7FED4-5162-4ED5-8C48-7F3C749D198B}"/>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093A00DF-CF7C-4821-948A-8F89EEC9B93B}"/>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Besoin</a:t>
            </a:r>
          </a:p>
        </p:txBody>
      </p:sp>
      <p:sp>
        <p:nvSpPr>
          <p:cNvPr id="39" name="">
            <a:extLst xmlns:a="http://schemas.openxmlformats.org/drawingml/2006/main">
              <a:ext uri="{FF2B5EF4-FFF2-40B4-BE49-F238E27FC236}">
                <a16:creationId xmlns:a16="http://schemas.microsoft.com/office/drawing/2014/main" id="{3ABEDB4E-166D-4F61-8973-60CD387D2942}"/>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Il faut accélérer le pré-tri</a:t>
            </a:r>
          </a:p>
          <a:p xmlns:a="http://schemas.openxmlformats.org/drawingml/2006/main">
            <a:pPr algn="l">
              <a:defRPr sz="1275" b="0">
                <a:solidFill>
                  <a:srgbClr val="0B1320"/>
                </a:solidFill>
              </a:defRPr>
            </a:pPr>
            <a:r>
              <a:rPr sz="1275" b="0">
                <a:solidFill>
                  <a:srgbClr val="0B1320"/>
                </a:solidFill>
              </a:rPr>
              <a:t>sans retirer le contrôle</a:t>
            </a:r>
          </a:p>
          <a:p xmlns:a="http://schemas.openxmlformats.org/drawingml/2006/main">
            <a:pPr algn="l">
              <a:defRPr sz="1275" b="0">
                <a:solidFill>
                  <a:srgbClr val="0B1320"/>
                </a:solidFill>
              </a:defRPr>
            </a:pPr>
            <a:r>
              <a:rPr sz="1275" b="0">
                <a:solidFill>
                  <a:srgbClr val="0B1320"/>
                </a:solidFill>
              </a:rPr>
              <a:t>humain sur la décision</a:t>
            </a:r>
          </a:p>
          <a:p xmlns:a="http://schemas.openxmlformats.org/drawingml/2006/main">
            <a:pPr algn="l">
              <a:defRPr sz="1275" b="0">
                <a:solidFill>
                  <a:srgbClr val="0B1320"/>
                </a:solidFill>
              </a:defRPr>
            </a:pPr>
            <a:r>
              <a:rPr sz="1275" b="0">
                <a:solidFill>
                  <a:srgbClr val="0B1320"/>
                </a:solidFill>
              </a:rPr>
              <a:t>finale.</a:t>
            </a:r>
          </a:p>
        </p:txBody>
      </p:sp>
    </p:spTree>
    <p:extLst>
      <p:ext uri="{BB962C8B-B14F-4D97-AF65-F5344CB8AC3E}">
        <p14:creationId xmlns:p14="http://schemas.microsoft.com/office/powerpoint/2010/main" val="1641900452"/>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58C15B3-B9C6-4E4F-A897-39E5E2339E9D}"/>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9EA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6EC94AC-83FE-40AD-ADAE-274668E90F43}"/>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1F9F1">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AE6CDB2-F403-4D4F-AC2F-92D93C01996B}"/>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CDD">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A297CA5-212E-4839-AC86-EAEFBD6E6EDD}"/>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CEFF62AE-18E8-4A30-9AF1-BC1E494CCDD3}"/>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B5868176-4330-4F1B-A1B3-687879E2C846}"/>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06CA5E1D-A9C4-4DBD-A5E1-9778982D6EA7}"/>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F875E5B-589D-47C1-8B8F-B502BC2174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59381D7-3ED6-4454-8558-9C3FF874CFA5}"/>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02. SOLUTION</a:t>
            </a:r>
          </a:p>
        </p:txBody>
      </p:sp>
      <p:sp>
        <p:nvSpPr>
          <p:cNvPr id="11" name="">
            <a:extLst xmlns:a="http://schemas.openxmlformats.org/drawingml/2006/main">
              <a:ext uri="{FF2B5EF4-FFF2-40B4-BE49-F238E27FC236}">
                <a16:creationId xmlns:a16="http://schemas.microsoft.com/office/drawing/2014/main" id="{4CC75F60-DF42-44D3-AF1F-422D78897D20}"/>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03 / 08</a:t>
            </a:r>
          </a:p>
        </p:txBody>
      </p:sp>
      <p:sp>
        <p:nvSpPr>
          <p:cNvPr id="12" name="">
            <a:extLst xmlns:a="http://schemas.openxmlformats.org/drawingml/2006/main">
              <a:ext uri="{FF2B5EF4-FFF2-40B4-BE49-F238E27FC236}">
                <a16:creationId xmlns:a16="http://schemas.microsoft.com/office/drawing/2014/main" id="{9A6B8246-1DC0-4F26-A3D0-8D6AEEA2A6F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6158C97-B9E6-4F6C-86D4-99C3FF15A0D2}"/>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20B54A42-52A0-4263-A3E8-4EF830522822}"/>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La réponse proposée</a:t>
            </a:r>
          </a:p>
        </p:txBody>
      </p:sp>
      <p:sp>
        <p:nvSpPr>
          <p:cNvPr id="15" name="">
            <a:extLst xmlns:a="http://schemas.openxmlformats.org/drawingml/2006/main">
              <a:ext uri="{FF2B5EF4-FFF2-40B4-BE49-F238E27FC236}">
                <a16:creationId xmlns:a16="http://schemas.microsoft.com/office/drawing/2014/main" id="{377143D4-B976-4595-B6A5-3917705114C7}"/>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combine présélection rapide, analyse détaillée et validation humaine.</a:t>
            </a:r>
          </a:p>
        </p:txBody>
      </p:sp>
      <p:sp>
        <p:nvSpPr>
          <p:cNvPr id="16" name="">
            <a:extLst xmlns:a="http://schemas.openxmlformats.org/drawingml/2006/main">
              <a:ext uri="{FF2B5EF4-FFF2-40B4-BE49-F238E27FC236}">
                <a16:creationId xmlns:a16="http://schemas.microsoft.com/office/drawing/2014/main" id="{921F7A62-1B1E-4888-A56C-E6EB27CBAF9D}"/>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EC7E49D3-7628-4BD2-A460-364F859ECD02}"/>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1BC0AAF-B05A-4CFE-9FAE-4572E77A132B}"/>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B10F0095-1783-4975-AC43-9A87E9E1C1B7}"/>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C2D0025-7792-4CC4-B34A-6DE52EE21F18}"/>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1296E61-2063-43FA-BC29-E1AE3EFAE1B6}"/>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BB6A381-4CF6-4228-B3CA-219C66A84137}"/>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Phase 1</a:t>
            </a:r>
          </a:p>
        </p:txBody>
      </p:sp>
      <p:sp>
        <p:nvSpPr>
          <p:cNvPr id="23" name="">
            <a:extLst xmlns:a="http://schemas.openxmlformats.org/drawingml/2006/main">
              <a:ext uri="{FF2B5EF4-FFF2-40B4-BE49-F238E27FC236}">
                <a16:creationId xmlns:a16="http://schemas.microsoft.com/office/drawing/2014/main" id="{77BC0E85-8749-41E3-8A30-9F7037943DAD}"/>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 moteur RAG classe tous</a:t>
            </a:r>
          </a:p>
          <a:p xmlns:a="http://schemas.openxmlformats.org/drawingml/2006/main">
            <a:pPr algn="l">
              <a:defRPr sz="1275" b="0">
                <a:solidFill>
                  <a:srgbClr val="0B1320"/>
                </a:solidFill>
              </a:defRPr>
            </a:pPr>
            <a:r>
              <a:rPr sz="1275" b="0">
                <a:solidFill>
                  <a:srgbClr val="0B1320"/>
                </a:solidFill>
              </a:rPr>
              <a:t>les CV contre une fiche de</a:t>
            </a:r>
          </a:p>
          <a:p xmlns:a="http://schemas.openxmlformats.org/drawingml/2006/main">
            <a:pPr algn="l">
              <a:defRPr sz="1275" b="0">
                <a:solidFill>
                  <a:srgbClr val="0B1320"/>
                </a:solidFill>
              </a:defRPr>
            </a:pPr>
            <a:r>
              <a:rPr sz="1275" b="0">
                <a:solidFill>
                  <a:srgbClr val="0B1320"/>
                </a:solidFill>
              </a:rPr>
              <a:t>poste à partir de sections</a:t>
            </a:r>
          </a:p>
          <a:p xmlns:a="http://schemas.openxmlformats.org/drawingml/2006/main">
            <a:pPr algn="l">
              <a:defRPr sz="1275" b="0">
                <a:solidFill>
                  <a:srgbClr val="0B1320"/>
                </a:solidFill>
              </a:defRPr>
            </a:pPr>
            <a:r>
              <a:rPr sz="1275" b="0">
                <a:solidFill>
                  <a:srgbClr val="0B1320"/>
                </a:solidFill>
              </a:rPr>
              <a:t>comparables.</a:t>
            </a:r>
          </a:p>
        </p:txBody>
      </p:sp>
      <p:sp>
        <p:nvSpPr>
          <p:cNvPr id="24" name="">
            <a:extLst xmlns:a="http://schemas.openxmlformats.org/drawingml/2006/main">
              <a:ext uri="{FF2B5EF4-FFF2-40B4-BE49-F238E27FC236}">
                <a16:creationId xmlns:a16="http://schemas.microsoft.com/office/drawing/2014/main" id="{DBBF0C7D-10FD-4BE4-9614-487129823C78}"/>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6A0C8F0E-E202-4D97-B57B-BBBCD08D3EB7}"/>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1DEDE8C-7D87-4427-AF27-519DE8358364}"/>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3CAA43E1-B838-4437-8FCA-51DDEE2452C4}"/>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3501DA2-16B0-47E4-84B3-1FDC480F3D12}"/>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CE6483E-6C53-4FD6-AC2C-348EDDC8C079}"/>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4C607DB1-F5B2-4BE5-BFCB-362F431AC3EC}"/>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Phase 2</a:t>
            </a:r>
          </a:p>
        </p:txBody>
      </p:sp>
      <p:sp>
        <p:nvSpPr>
          <p:cNvPr id="31" name="">
            <a:extLst xmlns:a="http://schemas.openxmlformats.org/drawingml/2006/main">
              <a:ext uri="{FF2B5EF4-FFF2-40B4-BE49-F238E27FC236}">
                <a16:creationId xmlns:a16="http://schemas.microsoft.com/office/drawing/2014/main" id="{B7A0F561-3C83-42A0-81C5-BA19E1BF5D29}"/>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LangGraph analyse ensuite</a:t>
            </a:r>
          </a:p>
          <a:p xmlns:a="http://schemas.openxmlformats.org/drawingml/2006/main">
            <a:pPr algn="l">
              <a:defRPr sz="1275" b="0">
                <a:solidFill>
                  <a:srgbClr val="0B1320"/>
                </a:solidFill>
              </a:defRPr>
            </a:pPr>
            <a:r>
              <a:rPr sz="1275" b="0">
                <a:solidFill>
                  <a:srgbClr val="0B1320"/>
                </a:solidFill>
              </a:rPr>
              <a:t>les profils retenus pour</a:t>
            </a:r>
          </a:p>
          <a:p xmlns:a="http://schemas.openxmlformats.org/drawingml/2006/main">
            <a:pPr algn="l">
              <a:defRPr sz="1275" b="0">
                <a:solidFill>
                  <a:srgbClr val="0B1320"/>
                </a:solidFill>
              </a:defRPr>
            </a:pPr>
            <a:r>
              <a:rPr sz="1275" b="0">
                <a:solidFill>
                  <a:srgbClr val="0B1320"/>
                </a:solidFill>
              </a:rPr>
              <a:t>produire un rapport détaillé</a:t>
            </a:r>
          </a:p>
          <a:p xmlns:a="http://schemas.openxmlformats.org/drawingml/2006/main">
            <a:pPr algn="l">
              <a:defRPr sz="1275" b="0">
                <a:solidFill>
                  <a:srgbClr val="0B1320"/>
                </a:solidFill>
              </a:defRPr>
            </a:pPr>
            <a:r>
              <a:rPr sz="1275" b="0">
                <a:solidFill>
                  <a:srgbClr val="0B1320"/>
                </a:solidFill>
              </a:rPr>
              <a:t>et argumenté.</a:t>
            </a:r>
          </a:p>
        </p:txBody>
      </p:sp>
      <p:sp>
        <p:nvSpPr>
          <p:cNvPr id="32" name="">
            <a:extLst xmlns:a="http://schemas.openxmlformats.org/drawingml/2006/main">
              <a:ext uri="{FF2B5EF4-FFF2-40B4-BE49-F238E27FC236}">
                <a16:creationId xmlns:a16="http://schemas.microsoft.com/office/drawing/2014/main" id="{A0705E29-C286-4F73-B4B5-0B707C71DBA3}"/>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5333F67A-6B3E-410B-97E2-FE51F541EB3D}"/>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9C16C83B-28DD-48BA-9FFD-A59EEA0795FA}"/>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708CE8C6-5A52-4984-83E4-D3F4635F1F44}"/>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E706FC2-E02D-4E66-B180-0B9F39338026}"/>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E5A1216-BCFA-4FF3-A9DE-768C8D59C7E6}"/>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A9DDC247-11CA-44E6-B02D-4E1B95860B8B}"/>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Contrôle RH</a:t>
            </a:r>
          </a:p>
        </p:txBody>
      </p:sp>
      <p:sp>
        <p:nvSpPr>
          <p:cNvPr id="39" name="">
            <a:extLst xmlns:a="http://schemas.openxmlformats.org/drawingml/2006/main">
              <a:ext uri="{FF2B5EF4-FFF2-40B4-BE49-F238E27FC236}">
                <a16:creationId xmlns:a16="http://schemas.microsoft.com/office/drawing/2014/main" id="{EC8E986A-7347-451B-9DF5-5397A040AD48}"/>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recruteur choisit quels</a:t>
            </a:r>
          </a:p>
          <a:p xmlns:a="http://schemas.openxmlformats.org/drawingml/2006/main">
            <a:pPr algn="l">
              <a:defRPr sz="1275" b="0">
                <a:solidFill>
                  <a:srgbClr val="0B1320"/>
                </a:solidFill>
              </a:defRPr>
            </a:pPr>
            <a:r>
              <a:rPr sz="1275" b="0">
                <a:solidFill>
                  <a:srgbClr val="0B1320"/>
                </a:solidFill>
              </a:rPr>
              <a:t>candidats passent à</a:t>
            </a:r>
          </a:p>
          <a:p xmlns:a="http://schemas.openxmlformats.org/drawingml/2006/main">
            <a:pPr algn="l">
              <a:defRPr sz="1275" b="0">
                <a:solidFill>
                  <a:srgbClr val="0B1320"/>
                </a:solidFill>
              </a:defRPr>
            </a:pPr>
            <a:r>
              <a:rPr sz="1275" b="0">
                <a:solidFill>
                  <a:srgbClr val="0B1320"/>
                </a:solidFill>
              </a:rPr>
              <a:t>l'analyse approfondie : l'IA</a:t>
            </a:r>
          </a:p>
          <a:p xmlns:a="http://schemas.openxmlformats.org/drawingml/2006/main">
            <a:pPr algn="l">
              <a:defRPr sz="1275" b="0">
                <a:solidFill>
                  <a:srgbClr val="0B1320"/>
                </a:solidFill>
              </a:defRPr>
            </a:pPr>
            <a:r>
              <a:rPr sz="1275" b="0">
                <a:solidFill>
                  <a:srgbClr val="0B1320"/>
                </a:solidFill>
              </a:rPr>
              <a:t>assiste, elle ne décide pas.</a:t>
            </a:r>
          </a:p>
        </p:txBody>
      </p:sp>
    </p:spTree>
    <p:extLst>
      <p:ext uri="{BB962C8B-B14F-4D97-AF65-F5344CB8AC3E}">
        <p14:creationId xmlns:p14="http://schemas.microsoft.com/office/powerpoint/2010/main" val="441590303"/>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E371B41-1AB2-4029-84B9-7A9F58C4AD89}"/>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6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D1D384-CFAE-4C8C-9984-0BA1624E52ED}"/>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8FCF5">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A306E5A-8030-4D94-918C-3DA0E0269D30}"/>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F0D8">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93D1FB6-432C-4448-BE17-7BEDE18EB116}"/>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DFB17477-D759-448D-835B-E8FACAC5012B}"/>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659381F5-9810-4D8C-AAC4-965644C9ED63}"/>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1A4E2AB1-D805-4E84-9806-08F138E485EB}"/>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F8C3A33-74F7-4910-A1F4-02F87001DB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09F568B-4582-402D-B70B-308C76C50406}"/>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03. ARCHITECTURE</a:t>
            </a:r>
          </a:p>
        </p:txBody>
      </p:sp>
      <p:sp>
        <p:nvSpPr>
          <p:cNvPr id="11" name="">
            <a:extLst xmlns:a="http://schemas.openxmlformats.org/drawingml/2006/main">
              <a:ext uri="{FF2B5EF4-FFF2-40B4-BE49-F238E27FC236}">
                <a16:creationId xmlns:a16="http://schemas.microsoft.com/office/drawing/2014/main" id="{6A237484-7623-48C8-87BA-44CF280A2CCB}"/>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04 / 08</a:t>
            </a:r>
          </a:p>
        </p:txBody>
      </p:sp>
      <p:sp>
        <p:nvSpPr>
          <p:cNvPr id="12" name="">
            <a:extLst xmlns:a="http://schemas.openxmlformats.org/drawingml/2006/main">
              <a:ext uri="{FF2B5EF4-FFF2-40B4-BE49-F238E27FC236}">
                <a16:creationId xmlns:a16="http://schemas.microsoft.com/office/drawing/2014/main" id="{A42F1B80-CB08-495C-A24A-2298A68F9FCF}"/>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C9EB992-1C1D-4A49-BB30-693BA9F60A3A}"/>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1B93DFF8-06EC-42EE-A39B-6347296D438B}"/>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Architecture technique</a:t>
            </a:r>
          </a:p>
        </p:txBody>
      </p:sp>
      <p:sp>
        <p:nvSpPr>
          <p:cNvPr id="15" name="">
            <a:extLst xmlns:a="http://schemas.openxmlformats.org/drawingml/2006/main">
              <a:ext uri="{FF2B5EF4-FFF2-40B4-BE49-F238E27FC236}">
                <a16:creationId xmlns:a16="http://schemas.microsoft.com/office/drawing/2014/main" id="{5CC8C80F-D988-4B85-8CFE-9FDEB36D55F1}"/>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système relie une interface React, une API FastAPI, un stockage SQL et un moteur vectoriel.</a:t>
            </a:r>
          </a:p>
        </p:txBody>
      </p:sp>
      <p:sp>
        <p:nvSpPr>
          <p:cNvPr id="16" name="">
            <a:extLst xmlns:a="http://schemas.openxmlformats.org/drawingml/2006/main">
              <a:ext uri="{FF2B5EF4-FFF2-40B4-BE49-F238E27FC236}">
                <a16:creationId xmlns:a16="http://schemas.microsoft.com/office/drawing/2014/main" id="{162E9483-7AA3-42B9-9D5A-10FCDFE60776}"/>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6BD36718-762B-4A6E-AECE-F6F47A89CF66}"/>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C4256DE-8363-47A3-BF43-2BD08CE67DC6}"/>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EB71443D-BF2B-486A-88E4-BA14E2350507}"/>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715169D-1E4F-4A27-AC1B-77A35981D3E9}"/>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E56B12D-0EA5-4D15-A25D-37A62467DC38}"/>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EB790CD-7B5C-4E5D-A5F9-3B50B2875E20}"/>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Frontend</a:t>
            </a:r>
          </a:p>
        </p:txBody>
      </p:sp>
      <p:sp>
        <p:nvSpPr>
          <p:cNvPr id="23" name="">
            <a:extLst xmlns:a="http://schemas.openxmlformats.org/drawingml/2006/main">
              <a:ext uri="{FF2B5EF4-FFF2-40B4-BE49-F238E27FC236}">
                <a16:creationId xmlns:a16="http://schemas.microsoft.com/office/drawing/2014/main" id="{3196C9CB-08E8-4A16-8677-C5B33379D027}"/>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React + Vite pour créer les</a:t>
            </a:r>
          </a:p>
          <a:p xmlns:a="http://schemas.openxmlformats.org/drawingml/2006/main">
            <a:pPr algn="l">
              <a:defRPr sz="1275" b="0">
                <a:solidFill>
                  <a:srgbClr val="0B1320"/>
                </a:solidFill>
              </a:defRPr>
            </a:pPr>
            <a:r>
              <a:rPr sz="1275" b="0">
                <a:solidFill>
                  <a:srgbClr val="0B1320"/>
                </a:solidFill>
              </a:rPr>
              <a:t>postes, déposer les CV,</a:t>
            </a:r>
          </a:p>
          <a:p xmlns:a="http://schemas.openxmlformats.org/drawingml/2006/main">
            <a:pPr algn="l">
              <a:defRPr sz="1275" b="0">
                <a:solidFill>
                  <a:srgbClr val="0B1320"/>
                </a:solidFill>
              </a:defRPr>
            </a:pPr>
            <a:r>
              <a:rPr sz="1275" b="0">
                <a:solidFill>
                  <a:srgbClr val="0B1320"/>
                </a:solidFill>
              </a:rPr>
              <a:t>suivre les analyses et lire</a:t>
            </a:r>
          </a:p>
          <a:p xmlns:a="http://schemas.openxmlformats.org/drawingml/2006/main">
            <a:pPr algn="l">
              <a:defRPr sz="1275" b="0">
                <a:solidFill>
                  <a:srgbClr val="0B1320"/>
                </a:solidFill>
              </a:defRPr>
            </a:pPr>
            <a:r>
              <a:rPr sz="1275" b="0">
                <a:solidFill>
                  <a:srgbClr val="0B1320"/>
                </a:solidFill>
              </a:rPr>
              <a:t>les rapports.</a:t>
            </a:r>
          </a:p>
        </p:txBody>
      </p:sp>
      <p:sp>
        <p:nvSpPr>
          <p:cNvPr id="24" name="">
            <a:extLst xmlns:a="http://schemas.openxmlformats.org/drawingml/2006/main">
              <a:ext uri="{FF2B5EF4-FFF2-40B4-BE49-F238E27FC236}">
                <a16:creationId xmlns:a16="http://schemas.microsoft.com/office/drawing/2014/main" id="{38232BE6-BA7E-4848-BB20-2CE211B71203}"/>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3289B25E-E690-45EC-ABC4-81F6C884AD09}"/>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7A572F9-5BD2-4426-9F53-6A11652C038D}"/>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987C2CEF-3A8C-419D-8343-06CD2791A830}"/>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E5AE23A-AE8A-4339-AFE1-330933F2D451}"/>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B5127DF-3EEC-45BA-BA24-75128728F50A}"/>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549D3B6-AEF0-4A56-8233-3FB3A6E50B0E}"/>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Backend</a:t>
            </a:r>
          </a:p>
        </p:txBody>
      </p:sp>
      <p:sp>
        <p:nvSpPr>
          <p:cNvPr id="31" name="">
            <a:extLst xmlns:a="http://schemas.openxmlformats.org/drawingml/2006/main">
              <a:ext uri="{FF2B5EF4-FFF2-40B4-BE49-F238E27FC236}">
                <a16:creationId xmlns:a16="http://schemas.microsoft.com/office/drawing/2014/main" id="{35C263D8-F531-4AA9-9824-699FF2E46164}"/>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FastAPI orchestre les routes</a:t>
            </a:r>
          </a:p>
          <a:p xmlns:a="http://schemas.openxmlformats.org/drawingml/2006/main">
            <a:pPr algn="l">
              <a:defRPr sz="1275" b="0">
                <a:solidFill>
                  <a:srgbClr val="0B1320"/>
                </a:solidFill>
              </a:defRPr>
            </a:pPr>
            <a:r>
              <a:rPr sz="1275" b="0">
                <a:solidFill>
                  <a:srgbClr val="0B1320"/>
                </a:solidFill>
              </a:rPr>
              <a:t>CV, jobs et analyses, ainsi</a:t>
            </a:r>
          </a:p>
          <a:p xmlns:a="http://schemas.openxmlformats.org/drawingml/2006/main">
            <a:pPr algn="l">
              <a:defRPr sz="1275" b="0">
                <a:solidFill>
                  <a:srgbClr val="0B1320"/>
                </a:solidFill>
              </a:defRPr>
            </a:pPr>
            <a:r>
              <a:rPr sz="1275" b="0">
                <a:solidFill>
                  <a:srgbClr val="0B1320"/>
                </a:solidFill>
              </a:rPr>
              <a:t>que les traitements en</a:t>
            </a:r>
          </a:p>
          <a:p xmlns:a="http://schemas.openxmlformats.org/drawingml/2006/main">
            <a:pPr algn="l">
              <a:defRPr sz="1275" b="0">
                <a:solidFill>
                  <a:srgbClr val="0B1320"/>
                </a:solidFill>
              </a:defRPr>
            </a:pPr>
            <a:r>
              <a:rPr sz="1275" b="0">
                <a:solidFill>
                  <a:srgbClr val="0B1320"/>
                </a:solidFill>
              </a:rPr>
              <a:t>arrière-plan.</a:t>
            </a:r>
          </a:p>
        </p:txBody>
      </p:sp>
      <p:sp>
        <p:nvSpPr>
          <p:cNvPr id="32" name="">
            <a:extLst xmlns:a="http://schemas.openxmlformats.org/drawingml/2006/main">
              <a:ext uri="{FF2B5EF4-FFF2-40B4-BE49-F238E27FC236}">
                <a16:creationId xmlns:a16="http://schemas.microsoft.com/office/drawing/2014/main" id="{C5E7B9CF-4B4E-46EA-BD01-919C60AB4B96}"/>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74A1949F-C7DD-4BC9-AB15-A279B9E6D76F}"/>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80FDFC8-A10A-47F2-A899-21C07069D1E9}"/>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31AA0640-D056-459B-9DA6-42B7AEB695DA}"/>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8285011-1B62-48B5-9FF2-068D7FCC076D}"/>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6F169A7-4B60-4F7B-9399-5CA942D0FBA4}"/>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5F05FAFC-3585-4F9E-BAE3-B38F0A5D5C71}"/>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Données &amp; IA</a:t>
            </a:r>
          </a:p>
        </p:txBody>
      </p:sp>
      <p:sp>
        <p:nvSpPr>
          <p:cNvPr id="39" name="">
            <a:extLst xmlns:a="http://schemas.openxmlformats.org/drawingml/2006/main">
              <a:ext uri="{FF2B5EF4-FFF2-40B4-BE49-F238E27FC236}">
                <a16:creationId xmlns:a16="http://schemas.microsoft.com/office/drawing/2014/main" id="{4652C1A6-2402-425B-8EA6-B972297772A5}"/>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PostgreSQL garde</a:t>
            </a:r>
          </a:p>
          <a:p xmlns:a="http://schemas.openxmlformats.org/drawingml/2006/main">
            <a:pPr algn="l">
              <a:defRPr sz="1275" b="0">
                <a:solidFill>
                  <a:srgbClr val="0B1320"/>
                </a:solidFill>
              </a:defRPr>
            </a:pPr>
            <a:r>
              <a:rPr sz="1275" b="0">
                <a:solidFill>
                  <a:srgbClr val="0B1320"/>
                </a:solidFill>
              </a:rPr>
              <a:t>l'historique métier,</a:t>
            </a:r>
          </a:p>
          <a:p xmlns:a="http://schemas.openxmlformats.org/drawingml/2006/main">
            <a:pPr algn="l">
              <a:defRPr sz="1275" b="0">
                <a:solidFill>
                  <a:srgbClr val="0B1320"/>
                </a:solidFill>
              </a:defRPr>
            </a:pPr>
            <a:r>
              <a:rPr sz="1275" b="0">
                <a:solidFill>
                  <a:srgbClr val="0B1320"/>
                </a:solidFill>
              </a:rPr>
              <a:t>ChromaDB gère la similarité</a:t>
            </a:r>
          </a:p>
          <a:p xmlns:a="http://schemas.openxmlformats.org/drawingml/2006/main">
            <a:pPr algn="l">
              <a:defRPr sz="1275" b="0">
                <a:solidFill>
                  <a:srgbClr val="0B1320"/>
                </a:solidFill>
              </a:defRPr>
            </a:pPr>
            <a:r>
              <a:rPr sz="1275" b="0">
                <a:solidFill>
                  <a:srgbClr val="0B1320"/>
                </a:solidFill>
              </a:rPr>
              <a:t>et le LLM structure puis</a:t>
            </a:r>
          </a:p>
          <a:p xmlns:a="http://schemas.openxmlformats.org/drawingml/2006/main">
            <a:pPr algn="l">
              <a:defRPr sz="1275" b="0">
                <a:solidFill>
                  <a:srgbClr val="0B1320"/>
                </a:solidFill>
              </a:defRPr>
            </a:pPr>
            <a:r>
              <a:rPr sz="1275" b="0">
                <a:solidFill>
                  <a:srgbClr val="0B1320"/>
                </a:solidFill>
              </a:rPr>
              <a:t>explique.</a:t>
            </a:r>
          </a:p>
        </p:txBody>
      </p:sp>
    </p:spTree>
    <p:extLst>
      <p:ext uri="{BB962C8B-B14F-4D97-AF65-F5344CB8AC3E}">
        <p14:creationId xmlns:p14="http://schemas.microsoft.com/office/powerpoint/2010/main" val="726026401"/>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9368025-9679-4C47-B866-0DBCAC77AF37}"/>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72D2DC-691C-4D55-818B-1B7CDFE60372}"/>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89A12A4-7C04-4A45-AC5A-6377B11E2063}"/>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0D609E4-0E8A-4644-8811-90879DC11DAA}"/>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1FD705A0-4565-442D-AB14-40FBC8F5BB15}"/>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397A5ECF-B8CA-4F31-B770-0CBBB626CF48}"/>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C317D214-8A36-4CEB-8AF3-2AA6D2B07885}"/>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E1F3C54-B0DF-49D0-9ABA-D30F1D1675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44E03FB-7200-485D-83D1-8F313598A0C8}"/>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04. PARCOURS</a:t>
            </a:r>
          </a:p>
        </p:txBody>
      </p:sp>
      <p:sp>
        <p:nvSpPr>
          <p:cNvPr id="11" name="">
            <a:extLst xmlns:a="http://schemas.openxmlformats.org/drawingml/2006/main">
              <a:ext uri="{FF2B5EF4-FFF2-40B4-BE49-F238E27FC236}">
                <a16:creationId xmlns:a16="http://schemas.microsoft.com/office/drawing/2014/main" id="{75A79BBE-6220-4C2E-8797-6121EB343A9C}"/>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05 / 08</a:t>
            </a:r>
          </a:p>
        </p:txBody>
      </p:sp>
      <p:sp>
        <p:nvSpPr>
          <p:cNvPr id="12" name="">
            <a:extLst xmlns:a="http://schemas.openxmlformats.org/drawingml/2006/main">
              <a:ext uri="{FF2B5EF4-FFF2-40B4-BE49-F238E27FC236}">
                <a16:creationId xmlns:a16="http://schemas.microsoft.com/office/drawing/2014/main" id="{AD5A50AA-2676-4E13-8B2C-DBE46B820A24}"/>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34718DC-5183-4DC9-903F-E2BED9CF0DDE}"/>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3E88F739-CA73-4B35-8302-721C3EAD202F}"/>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Parcours d'utilisation</a:t>
            </a:r>
          </a:p>
        </p:txBody>
      </p:sp>
      <p:sp>
        <p:nvSpPr>
          <p:cNvPr id="15" name="">
            <a:extLst xmlns:a="http://schemas.openxmlformats.org/drawingml/2006/main">
              <a:ext uri="{FF2B5EF4-FFF2-40B4-BE49-F238E27FC236}">
                <a16:creationId xmlns:a16="http://schemas.microsoft.com/office/drawing/2014/main" id="{219C29A3-6127-49C4-913E-C62C54309399}"/>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flux est simple : du poste jusqu'au classement, puis du classement jusqu'au rapport PDF.</a:t>
            </a:r>
          </a:p>
        </p:txBody>
      </p:sp>
      <p:sp>
        <p:nvSpPr>
          <p:cNvPr id="16" name="">
            <a:extLst xmlns:a="http://schemas.openxmlformats.org/drawingml/2006/main">
              <a:ext uri="{FF2B5EF4-FFF2-40B4-BE49-F238E27FC236}">
                <a16:creationId xmlns:a16="http://schemas.microsoft.com/office/drawing/2014/main" id="{4DCAD6DA-CD3C-4547-A0AB-5BEDE4804FE8}"/>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2AFA66A8-E7F5-463F-B6B6-FC74A0F9EC25}"/>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A5888BF-A0D6-4E5A-9C17-E4A04E65C956}"/>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FB295588-0854-4338-9436-47E7549BA992}"/>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77D0C7B-8552-4F55-85B2-C3348F815DC5}"/>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41A93AD-BE63-4715-8CDE-B4B125181944}"/>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A8A57DD-E446-45B4-AF5B-8BF6EC8F644F}"/>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1. Entrée</a:t>
            </a:r>
          </a:p>
        </p:txBody>
      </p:sp>
      <p:sp>
        <p:nvSpPr>
          <p:cNvPr id="23" name="">
            <a:extLst xmlns:a="http://schemas.openxmlformats.org/drawingml/2006/main">
              <a:ext uri="{FF2B5EF4-FFF2-40B4-BE49-F238E27FC236}">
                <a16:creationId xmlns:a16="http://schemas.microsoft.com/office/drawing/2014/main" id="{46A2DCA5-3A44-41FA-81EE-779EF402B18B}"/>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recruteur crée un poste</a:t>
            </a:r>
          </a:p>
          <a:p xmlns:a="http://schemas.openxmlformats.org/drawingml/2006/main">
            <a:pPr algn="l">
              <a:defRPr sz="1275" b="0">
                <a:solidFill>
                  <a:srgbClr val="0B1320"/>
                </a:solidFill>
              </a:defRPr>
            </a:pPr>
            <a:r>
              <a:rPr sz="1275" b="0">
                <a:solidFill>
                  <a:srgbClr val="0B1320"/>
                </a:solidFill>
              </a:rPr>
              <a:t>ou l'extrait d'un document,</a:t>
            </a:r>
          </a:p>
          <a:p xmlns:a="http://schemas.openxmlformats.org/drawingml/2006/main">
            <a:pPr algn="l">
              <a:defRPr sz="1275" b="0">
                <a:solidFill>
                  <a:srgbClr val="0B1320"/>
                </a:solidFill>
              </a:defRPr>
            </a:pPr>
            <a:r>
              <a:rPr sz="1275" b="0">
                <a:solidFill>
                  <a:srgbClr val="0B1320"/>
                </a:solidFill>
              </a:rPr>
              <a:t>puis dépose plusieurs CV.</a:t>
            </a:r>
          </a:p>
        </p:txBody>
      </p:sp>
      <p:sp>
        <p:nvSpPr>
          <p:cNvPr id="24" name="">
            <a:extLst xmlns:a="http://schemas.openxmlformats.org/drawingml/2006/main">
              <a:ext uri="{FF2B5EF4-FFF2-40B4-BE49-F238E27FC236}">
                <a16:creationId xmlns:a16="http://schemas.microsoft.com/office/drawing/2014/main" id="{0D485E00-F9AC-42FE-B4E2-D9B399F57BCC}"/>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4ACBE5A0-263A-46A1-88A1-AF5AD3BF6E12}"/>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E280B5A-002F-4253-8CC4-D428DC71F5FF}"/>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0AE87703-8595-46BA-9F1D-55EC74AC87FF}"/>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7D8B04B-0046-4EDF-92DC-9F46F2CBBFFA}"/>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85255B4-DF4C-47F4-8E15-8498545E48A1}"/>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4600347C-E5B0-4A28-80F5-ECB290A0322E}"/>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2. Sélection</a:t>
            </a:r>
          </a:p>
        </p:txBody>
      </p:sp>
      <p:sp>
        <p:nvSpPr>
          <p:cNvPr id="31" name="">
            <a:extLst xmlns:a="http://schemas.openxmlformats.org/drawingml/2006/main">
              <a:ext uri="{FF2B5EF4-FFF2-40B4-BE49-F238E27FC236}">
                <a16:creationId xmlns:a16="http://schemas.microsoft.com/office/drawing/2014/main" id="{7E3DD69F-9228-47D8-B627-6FEF86011A14}"/>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batch calcule un</a:t>
            </a:r>
          </a:p>
          <a:p xmlns:a="http://schemas.openxmlformats.org/drawingml/2006/main">
            <a:pPr algn="l">
              <a:defRPr sz="1275" b="0">
                <a:solidFill>
                  <a:srgbClr val="0B1320"/>
                </a:solidFill>
              </a:defRPr>
            </a:pPr>
            <a:r>
              <a:rPr sz="1275" b="0">
                <a:solidFill>
                  <a:srgbClr val="0B1320"/>
                </a:solidFill>
              </a:rPr>
              <a:t>classement RAG, affiche les</a:t>
            </a:r>
          </a:p>
          <a:p xmlns:a="http://schemas.openxmlformats.org/drawingml/2006/main">
            <a:pPr algn="l">
              <a:defRPr sz="1275" b="0">
                <a:solidFill>
                  <a:srgbClr val="0B1320"/>
                </a:solidFill>
              </a:defRPr>
            </a:pPr>
            <a:r>
              <a:rPr sz="1275" b="0">
                <a:solidFill>
                  <a:srgbClr val="0B1320"/>
                </a:solidFill>
              </a:rPr>
              <a:t>meilleurs profils et laisse</a:t>
            </a:r>
          </a:p>
          <a:p xmlns:a="http://schemas.openxmlformats.org/drawingml/2006/main">
            <a:pPr algn="l">
              <a:defRPr sz="1275" b="0">
                <a:solidFill>
                  <a:srgbClr val="0B1320"/>
                </a:solidFill>
              </a:defRPr>
            </a:pPr>
            <a:r>
              <a:rPr sz="1275" b="0">
                <a:solidFill>
                  <a:srgbClr val="0B1320"/>
                </a:solidFill>
              </a:rPr>
              <a:t>choisir le top à</a:t>
            </a:r>
          </a:p>
          <a:p xmlns:a="http://schemas.openxmlformats.org/drawingml/2006/main">
            <a:pPr algn="l">
              <a:defRPr sz="1275" b="0">
                <a:solidFill>
                  <a:srgbClr val="0B1320"/>
                </a:solidFill>
              </a:defRPr>
            </a:pPr>
            <a:r>
              <a:rPr sz="1275" b="0">
                <a:solidFill>
                  <a:srgbClr val="0B1320"/>
                </a:solidFill>
              </a:rPr>
              <a:t>approfondir.</a:t>
            </a:r>
          </a:p>
        </p:txBody>
      </p:sp>
      <p:sp>
        <p:nvSpPr>
          <p:cNvPr id="32" name="">
            <a:extLst xmlns:a="http://schemas.openxmlformats.org/drawingml/2006/main">
              <a:ext uri="{FF2B5EF4-FFF2-40B4-BE49-F238E27FC236}">
                <a16:creationId xmlns:a16="http://schemas.microsoft.com/office/drawing/2014/main" id="{8F965C3F-CCA4-4521-AF54-8A875343FD0A}"/>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0D1AD045-167D-400F-ABEC-A50A44431F69}"/>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88564AB8-F01E-4934-8C2C-F8428681717D}"/>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89BE3F01-B9A3-45A3-8810-71573CDCD4A2}"/>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BC0928E-B984-48B7-BCD2-7F501AEAC01E}"/>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6E176909-8A89-4AA4-B062-D2814F65A1BF}"/>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ACE6F5DA-55B1-472E-9AF5-FD4DE179C595}"/>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3. Restitution</a:t>
            </a:r>
          </a:p>
        </p:txBody>
      </p:sp>
      <p:sp>
        <p:nvSpPr>
          <p:cNvPr id="39" name="">
            <a:extLst xmlns:a="http://schemas.openxmlformats.org/drawingml/2006/main">
              <a:ext uri="{FF2B5EF4-FFF2-40B4-BE49-F238E27FC236}">
                <a16:creationId xmlns:a16="http://schemas.microsoft.com/office/drawing/2014/main" id="{F30A3CD1-BDD5-480C-B6AC-0C9107937068}"/>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Chaque analyse produit des</a:t>
            </a:r>
          </a:p>
          <a:p xmlns:a="http://schemas.openxmlformats.org/drawingml/2006/main">
            <a:pPr algn="l">
              <a:defRPr sz="1275" b="0">
                <a:solidFill>
                  <a:srgbClr val="0B1320"/>
                </a:solidFill>
              </a:defRPr>
            </a:pPr>
            <a:r>
              <a:rPr sz="1275" b="0">
                <a:solidFill>
                  <a:srgbClr val="0B1320"/>
                </a:solidFill>
              </a:rPr>
              <a:t>scores, des points forts,</a:t>
            </a:r>
          </a:p>
          <a:p xmlns:a="http://schemas.openxmlformats.org/drawingml/2006/main">
            <a:pPr algn="l">
              <a:defRPr sz="1275" b="0">
                <a:solidFill>
                  <a:srgbClr val="0B1320"/>
                </a:solidFill>
              </a:defRPr>
            </a:pPr>
            <a:r>
              <a:rPr sz="1275" b="0">
                <a:solidFill>
                  <a:srgbClr val="0B1320"/>
                </a:solidFill>
              </a:rPr>
              <a:t>des lacunes, une</a:t>
            </a:r>
          </a:p>
          <a:p xmlns:a="http://schemas.openxmlformats.org/drawingml/2006/main">
            <a:pPr algn="l">
              <a:defRPr sz="1275" b="0">
                <a:solidFill>
                  <a:srgbClr val="0B1320"/>
                </a:solidFill>
              </a:defRPr>
            </a:pPr>
            <a:r>
              <a:rPr sz="1275" b="0">
                <a:solidFill>
                  <a:srgbClr val="0B1320"/>
                </a:solidFill>
              </a:rPr>
              <a:t>recommandation et un PDF.</a:t>
            </a:r>
          </a:p>
        </p:txBody>
      </p:sp>
    </p:spTree>
    <p:extLst>
      <p:ext uri="{BB962C8B-B14F-4D97-AF65-F5344CB8AC3E}">
        <p14:creationId xmlns:p14="http://schemas.microsoft.com/office/powerpoint/2010/main" val="70634602"/>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E623D4D-CB43-443C-B41D-E8CB5D67D555}"/>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7E7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0B47F52-A2DD-4729-91B7-B0456A660F0F}"/>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AFBF0">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AA67F3E-4414-47D2-A054-CA1494041007}"/>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DE4D9">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8FEE01B-5F63-4DB4-8532-3F34D1931E59}"/>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E1769761-5278-43EE-8917-885B1064A60B}"/>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7BECF93A-E028-483D-80B3-EA3072ADCCF6}"/>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707F6830-43BC-4C6C-A01E-301030A44FBF}"/>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8D75C86-DDD5-4B97-BD97-CBA067BCC9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7451"/>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ACE248A-6B7B-4A56-9BD9-5E23362189F8}"/>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05. ALGORITHME</a:t>
            </a:r>
          </a:p>
        </p:txBody>
      </p:sp>
      <p:sp>
        <p:nvSpPr>
          <p:cNvPr id="11" name="">
            <a:extLst xmlns:a="http://schemas.openxmlformats.org/drawingml/2006/main">
              <a:ext uri="{FF2B5EF4-FFF2-40B4-BE49-F238E27FC236}">
                <a16:creationId xmlns:a16="http://schemas.microsoft.com/office/drawing/2014/main" id="{5154CDF9-7327-4D0E-909D-61A76F955816}"/>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06 / 08</a:t>
            </a:r>
          </a:p>
        </p:txBody>
      </p:sp>
      <p:sp>
        <p:nvSpPr>
          <p:cNvPr id="12" name="">
            <a:extLst xmlns:a="http://schemas.openxmlformats.org/drawingml/2006/main">
              <a:ext uri="{FF2B5EF4-FFF2-40B4-BE49-F238E27FC236}">
                <a16:creationId xmlns:a16="http://schemas.microsoft.com/office/drawing/2014/main" id="{41DBF424-8BEF-4FF0-91CF-E8CDC7803776}"/>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25F4249-FFB6-45F4-AA80-0628BBC375B1}"/>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B8A3993E-6257-46DA-A841-8406AE82CB97}"/>
              </a:ext>
            </a:extLst>
          </p:cNvPr>
          <p:cNvSpPr>
            <a:spLocks xmlns:a="http://schemas.openxmlformats.org/drawingml/2006/main" noGrp="1"/>
          </p:cNvSpPr>
          <p:nvPr/>
        </p:nvSpPr>
        <p:spPr>
          <a:xfrm xmlns:a="http://schemas.openxmlformats.org/drawingml/2006/main">
            <a:off x="685800" y="876300"/>
            <a:ext cx="781050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Logique d'évaluation</a:t>
            </a:r>
          </a:p>
        </p:txBody>
      </p:sp>
      <p:sp>
        <p:nvSpPr>
          <p:cNvPr id="15" name="">
            <a:extLst xmlns:a="http://schemas.openxmlformats.org/drawingml/2006/main">
              <a:ext uri="{FF2B5EF4-FFF2-40B4-BE49-F238E27FC236}">
                <a16:creationId xmlns:a16="http://schemas.microsoft.com/office/drawing/2014/main" id="{51FDE7AE-D674-44C1-ABA6-C5F15055669C}"/>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score métier suit une pondération 40/30/20/10, puis un scoring détaillé mélange 70 % LLM et 30 % RAG.</a:t>
            </a:r>
          </a:p>
        </p:txBody>
      </p:sp>
      <p:sp>
        <p:nvSpPr>
          <p:cNvPr id="16" name="">
            <a:extLst xmlns:a="http://schemas.openxmlformats.org/drawingml/2006/main">
              <a:ext uri="{FF2B5EF4-FFF2-40B4-BE49-F238E27FC236}">
                <a16:creationId xmlns:a16="http://schemas.microsoft.com/office/drawing/2014/main" id="{819E6D0A-4DD9-44BD-9FCA-3102BC559A21}"/>
              </a:ext>
            </a:extLst>
          </p:cNvPr>
          <p:cNvSpPr>
            <a:spLocks xmlns:a="http://schemas.openxmlformats.org/drawingml/2006/main" noGrp="1"/>
          </p:cNvSpPr>
          <p:nvPr/>
        </p:nvSpPr>
        <p:spPr>
          <a:xfrm xmlns:a="http://schemas.openxmlformats.org/drawingml/2006/main">
            <a:off x="876300" y="32766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6DAE0345-1192-44D8-970B-0B199E368118}"/>
              </a:ext>
            </a:extLst>
          </p:cNvPr>
          <p:cNvSpPr>
            <a:spLocks xmlns:a="http://schemas.openxmlformats.org/drawingml/2006/main" noGrp="1"/>
          </p:cNvSpPr>
          <p:nvPr/>
        </p:nvSpPr>
        <p:spPr>
          <a:xfrm xmlns:a="http://schemas.openxmlformats.org/drawingml/2006/main">
            <a:off x="876300" y="3276600"/>
            <a:ext cx="5143500" cy="666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6E9DC37-81C9-491E-ACEE-3EEACECD934F}"/>
              </a:ext>
            </a:extLst>
          </p:cNvPr>
          <p:cNvSpPr>
            <a:spLocks xmlns:a="http://schemas.openxmlformats.org/drawingml/2006/main" noGrp="1"/>
          </p:cNvSpPr>
          <p:nvPr/>
        </p:nvSpPr>
        <p:spPr>
          <a:xfrm xmlns:a="http://schemas.openxmlformats.org/drawingml/2006/main">
            <a:off x="1085850" y="35052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40 %</a:t>
            </a:r>
          </a:p>
        </p:txBody>
      </p:sp>
      <p:sp>
        <p:nvSpPr>
          <p:cNvPr id="19" name="">
            <a:extLst xmlns:a="http://schemas.openxmlformats.org/drawingml/2006/main">
              <a:ext uri="{FF2B5EF4-FFF2-40B4-BE49-F238E27FC236}">
                <a16:creationId xmlns:a16="http://schemas.microsoft.com/office/drawing/2014/main" id="{5BB7BE4C-EE7B-402C-A4A4-65D82D227D6C}"/>
              </a:ext>
            </a:extLst>
          </p:cNvPr>
          <p:cNvSpPr>
            <a:spLocks xmlns:a="http://schemas.openxmlformats.org/drawingml/2006/main" noGrp="1"/>
          </p:cNvSpPr>
          <p:nvPr/>
        </p:nvSpPr>
        <p:spPr>
          <a:xfrm xmlns:a="http://schemas.openxmlformats.org/drawingml/2006/main">
            <a:off x="1104900" y="40005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Compétences techniques</a:t>
            </a:r>
          </a:p>
        </p:txBody>
      </p:sp>
      <p:sp>
        <p:nvSpPr>
          <p:cNvPr id="20" name="">
            <a:extLst xmlns:a="http://schemas.openxmlformats.org/drawingml/2006/main">
              <a:ext uri="{FF2B5EF4-FFF2-40B4-BE49-F238E27FC236}">
                <a16:creationId xmlns:a16="http://schemas.microsoft.com/office/drawing/2014/main" id="{70E9C32C-9D15-40B8-A015-BE677CBE6D3B}"/>
              </a:ext>
            </a:extLst>
          </p:cNvPr>
          <p:cNvSpPr>
            <a:spLocks xmlns:a="http://schemas.openxmlformats.org/drawingml/2006/main" noGrp="1"/>
          </p:cNvSpPr>
          <p:nvPr/>
        </p:nvSpPr>
        <p:spPr>
          <a:xfrm xmlns:a="http://schemas.openxmlformats.org/drawingml/2006/main">
            <a:off x="1104900" y="43243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Poids principal dans le score global</a:t>
            </a:r>
          </a:p>
        </p:txBody>
      </p:sp>
      <p:sp>
        <p:nvSpPr>
          <p:cNvPr id="21" name="">
            <a:extLst xmlns:a="http://schemas.openxmlformats.org/drawingml/2006/main">
              <a:ext uri="{FF2B5EF4-FFF2-40B4-BE49-F238E27FC236}">
                <a16:creationId xmlns:a16="http://schemas.microsoft.com/office/drawing/2014/main" id="{EAD041EC-7753-4310-A218-F19D056E069E}"/>
              </a:ext>
            </a:extLst>
          </p:cNvPr>
          <p:cNvSpPr>
            <a:spLocks xmlns:a="http://schemas.openxmlformats.org/drawingml/2006/main" noGrp="1"/>
          </p:cNvSpPr>
          <p:nvPr/>
        </p:nvSpPr>
        <p:spPr>
          <a:xfrm xmlns:a="http://schemas.openxmlformats.org/drawingml/2006/main">
            <a:off x="6172200" y="32766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22" name="">
            <a:extLst xmlns:a="http://schemas.openxmlformats.org/drawingml/2006/main">
              <a:ext uri="{FF2B5EF4-FFF2-40B4-BE49-F238E27FC236}">
                <a16:creationId xmlns:a16="http://schemas.microsoft.com/office/drawing/2014/main" id="{F99D4511-CB4B-410B-B3EF-0DBA8D6AF774}"/>
              </a:ext>
            </a:extLst>
          </p:cNvPr>
          <p:cNvSpPr>
            <a:spLocks xmlns:a="http://schemas.openxmlformats.org/drawingml/2006/main" noGrp="1"/>
          </p:cNvSpPr>
          <p:nvPr/>
        </p:nvSpPr>
        <p:spPr>
          <a:xfrm xmlns:a="http://schemas.openxmlformats.org/drawingml/2006/main">
            <a:off x="6172200" y="3276600"/>
            <a:ext cx="5143500" cy="66675"/>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58ED6C3-E7F5-40FD-AB64-18389AA1618B}"/>
              </a:ext>
            </a:extLst>
          </p:cNvPr>
          <p:cNvSpPr>
            <a:spLocks xmlns:a="http://schemas.openxmlformats.org/drawingml/2006/main" noGrp="1"/>
          </p:cNvSpPr>
          <p:nvPr/>
        </p:nvSpPr>
        <p:spPr>
          <a:xfrm xmlns:a="http://schemas.openxmlformats.org/drawingml/2006/main">
            <a:off x="6381750" y="35052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30 %</a:t>
            </a:r>
          </a:p>
        </p:txBody>
      </p:sp>
      <p:sp>
        <p:nvSpPr>
          <p:cNvPr id="24" name="">
            <a:extLst xmlns:a="http://schemas.openxmlformats.org/drawingml/2006/main">
              <a:ext uri="{FF2B5EF4-FFF2-40B4-BE49-F238E27FC236}">
                <a16:creationId xmlns:a16="http://schemas.microsoft.com/office/drawing/2014/main" id="{D2453FC5-38F4-42ED-80BF-04025126A36D}"/>
              </a:ext>
            </a:extLst>
          </p:cNvPr>
          <p:cNvSpPr>
            <a:spLocks xmlns:a="http://schemas.openxmlformats.org/drawingml/2006/main" noGrp="1"/>
          </p:cNvSpPr>
          <p:nvPr/>
        </p:nvSpPr>
        <p:spPr>
          <a:xfrm xmlns:a="http://schemas.openxmlformats.org/drawingml/2006/main">
            <a:off x="6400800" y="40005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Expérience</a:t>
            </a:r>
          </a:p>
        </p:txBody>
      </p:sp>
      <p:sp>
        <p:nvSpPr>
          <p:cNvPr id="25" name="">
            <a:extLst xmlns:a="http://schemas.openxmlformats.org/drawingml/2006/main">
              <a:ext uri="{FF2B5EF4-FFF2-40B4-BE49-F238E27FC236}">
                <a16:creationId xmlns:a16="http://schemas.microsoft.com/office/drawing/2014/main" id="{04B8AA10-A56F-4E33-B870-BD6A625F0BE5}"/>
              </a:ext>
            </a:extLst>
          </p:cNvPr>
          <p:cNvSpPr>
            <a:spLocks xmlns:a="http://schemas.openxmlformats.org/drawingml/2006/main" noGrp="1"/>
          </p:cNvSpPr>
          <p:nvPr/>
        </p:nvSpPr>
        <p:spPr>
          <a:xfrm xmlns:a="http://schemas.openxmlformats.org/drawingml/2006/main">
            <a:off x="6400800" y="43243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Missions, ancienneté et adéquation</a:t>
            </a:r>
          </a:p>
        </p:txBody>
      </p:sp>
      <p:sp>
        <p:nvSpPr>
          <p:cNvPr id="26" name="">
            <a:extLst xmlns:a="http://schemas.openxmlformats.org/drawingml/2006/main">
              <a:ext uri="{FF2B5EF4-FFF2-40B4-BE49-F238E27FC236}">
                <a16:creationId xmlns:a16="http://schemas.microsoft.com/office/drawing/2014/main" id="{DE6EFCC6-2A1F-454D-BC24-7D1B1EDA3E86}"/>
              </a:ext>
            </a:extLst>
          </p:cNvPr>
          <p:cNvSpPr>
            <a:spLocks xmlns:a="http://schemas.openxmlformats.org/drawingml/2006/main" noGrp="1"/>
          </p:cNvSpPr>
          <p:nvPr/>
        </p:nvSpPr>
        <p:spPr>
          <a:xfrm xmlns:a="http://schemas.openxmlformats.org/drawingml/2006/main">
            <a:off x="876300" y="48768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3B8460A1-CB77-4C96-8948-F20334D8D963}"/>
              </a:ext>
            </a:extLst>
          </p:cNvPr>
          <p:cNvSpPr>
            <a:spLocks xmlns:a="http://schemas.openxmlformats.org/drawingml/2006/main" noGrp="1"/>
          </p:cNvSpPr>
          <p:nvPr/>
        </p:nvSpPr>
        <p:spPr>
          <a:xfrm xmlns:a="http://schemas.openxmlformats.org/drawingml/2006/main">
            <a:off x="876300" y="4876800"/>
            <a:ext cx="5143500" cy="66675"/>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47D9234-4E1E-4BCB-8244-D30CC8F27F69}"/>
              </a:ext>
            </a:extLst>
          </p:cNvPr>
          <p:cNvSpPr>
            <a:spLocks xmlns:a="http://schemas.openxmlformats.org/drawingml/2006/main" noGrp="1"/>
          </p:cNvSpPr>
          <p:nvPr/>
        </p:nvSpPr>
        <p:spPr>
          <a:xfrm xmlns:a="http://schemas.openxmlformats.org/drawingml/2006/main">
            <a:off x="1085850" y="51054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20 %</a:t>
            </a:r>
          </a:p>
        </p:txBody>
      </p:sp>
      <p:sp>
        <p:nvSpPr>
          <p:cNvPr id="29" name="">
            <a:extLst xmlns:a="http://schemas.openxmlformats.org/drawingml/2006/main">
              <a:ext uri="{FF2B5EF4-FFF2-40B4-BE49-F238E27FC236}">
                <a16:creationId xmlns:a16="http://schemas.microsoft.com/office/drawing/2014/main" id="{D754C581-4A07-4B13-B1B1-618CE40B31F4}"/>
              </a:ext>
            </a:extLst>
          </p:cNvPr>
          <p:cNvSpPr>
            <a:spLocks xmlns:a="http://schemas.openxmlformats.org/drawingml/2006/main" noGrp="1"/>
          </p:cNvSpPr>
          <p:nvPr/>
        </p:nvSpPr>
        <p:spPr>
          <a:xfrm xmlns:a="http://schemas.openxmlformats.org/drawingml/2006/main">
            <a:off x="1104900" y="56007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Formation</a:t>
            </a:r>
          </a:p>
        </p:txBody>
      </p:sp>
      <p:sp>
        <p:nvSpPr>
          <p:cNvPr id="30" name="">
            <a:extLst xmlns:a="http://schemas.openxmlformats.org/drawingml/2006/main">
              <a:ext uri="{FF2B5EF4-FFF2-40B4-BE49-F238E27FC236}">
                <a16:creationId xmlns:a16="http://schemas.microsoft.com/office/drawing/2014/main" id="{9568B196-7266-44B7-8829-BA19483F430F}"/>
              </a:ext>
            </a:extLst>
          </p:cNvPr>
          <p:cNvSpPr>
            <a:spLocks xmlns:a="http://schemas.openxmlformats.org/drawingml/2006/main" noGrp="1"/>
          </p:cNvSpPr>
          <p:nvPr/>
        </p:nvSpPr>
        <p:spPr>
          <a:xfrm xmlns:a="http://schemas.openxmlformats.org/drawingml/2006/main">
            <a:off x="1104900" y="59245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Diplôme, cursus, certifications</a:t>
            </a:r>
          </a:p>
        </p:txBody>
      </p:sp>
      <p:sp>
        <p:nvSpPr>
          <p:cNvPr id="31" name="">
            <a:extLst xmlns:a="http://schemas.openxmlformats.org/drawingml/2006/main">
              <a:ext uri="{FF2B5EF4-FFF2-40B4-BE49-F238E27FC236}">
                <a16:creationId xmlns:a16="http://schemas.microsoft.com/office/drawing/2014/main" id="{1FA81EC0-35DD-4522-B4FA-18449F675EED}"/>
              </a:ext>
            </a:extLst>
          </p:cNvPr>
          <p:cNvSpPr>
            <a:spLocks xmlns:a="http://schemas.openxmlformats.org/drawingml/2006/main" noGrp="1"/>
          </p:cNvSpPr>
          <p:nvPr/>
        </p:nvSpPr>
        <p:spPr>
          <a:xfrm xmlns:a="http://schemas.openxmlformats.org/drawingml/2006/main">
            <a:off x="6172200" y="48768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32" name="">
            <a:extLst xmlns:a="http://schemas.openxmlformats.org/drawingml/2006/main">
              <a:ext uri="{FF2B5EF4-FFF2-40B4-BE49-F238E27FC236}">
                <a16:creationId xmlns:a16="http://schemas.microsoft.com/office/drawing/2014/main" id="{927A3F4E-3330-4D4F-B4BE-B70A2B0C05CC}"/>
              </a:ext>
            </a:extLst>
          </p:cNvPr>
          <p:cNvSpPr>
            <a:spLocks xmlns:a="http://schemas.openxmlformats.org/drawingml/2006/main" noGrp="1"/>
          </p:cNvSpPr>
          <p:nvPr/>
        </p:nvSpPr>
        <p:spPr>
          <a:xfrm xmlns:a="http://schemas.openxmlformats.org/drawingml/2006/main">
            <a:off x="6172200" y="4876800"/>
            <a:ext cx="5143500" cy="66675"/>
          </a:xfrm>
          <a:prstGeom xmlns:a="http://schemas.openxmlformats.org/drawingml/2006/main" prst="rect">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B4352A53-81AB-4155-841A-E032693C1D34}"/>
              </a:ext>
            </a:extLst>
          </p:cNvPr>
          <p:cNvSpPr>
            <a:spLocks xmlns:a="http://schemas.openxmlformats.org/drawingml/2006/main" noGrp="1"/>
          </p:cNvSpPr>
          <p:nvPr/>
        </p:nvSpPr>
        <p:spPr>
          <a:xfrm xmlns:a="http://schemas.openxmlformats.org/drawingml/2006/main">
            <a:off x="6381750" y="51054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10 %</a:t>
            </a:r>
          </a:p>
        </p:txBody>
      </p:sp>
      <p:sp>
        <p:nvSpPr>
          <p:cNvPr id="34" name="">
            <a:extLst xmlns:a="http://schemas.openxmlformats.org/drawingml/2006/main">
              <a:ext uri="{FF2B5EF4-FFF2-40B4-BE49-F238E27FC236}">
                <a16:creationId xmlns:a16="http://schemas.microsoft.com/office/drawing/2014/main" id="{83793E21-F1DA-4F86-8DC4-7331D60DD4A2}"/>
              </a:ext>
            </a:extLst>
          </p:cNvPr>
          <p:cNvSpPr>
            <a:spLocks xmlns:a="http://schemas.openxmlformats.org/drawingml/2006/main" noGrp="1"/>
          </p:cNvSpPr>
          <p:nvPr/>
        </p:nvSpPr>
        <p:spPr>
          <a:xfrm xmlns:a="http://schemas.openxmlformats.org/drawingml/2006/main">
            <a:off x="6400800" y="56007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Profil</a:t>
            </a:r>
          </a:p>
        </p:txBody>
      </p:sp>
      <p:sp>
        <p:nvSpPr>
          <p:cNvPr id="35" name="">
            <a:extLst xmlns:a="http://schemas.openxmlformats.org/drawingml/2006/main">
              <a:ext uri="{FF2B5EF4-FFF2-40B4-BE49-F238E27FC236}">
                <a16:creationId xmlns:a16="http://schemas.microsoft.com/office/drawing/2014/main" id="{7309F13E-B8A8-4A9B-A8A0-22CCA5F6AAC5}"/>
              </a:ext>
            </a:extLst>
          </p:cNvPr>
          <p:cNvSpPr>
            <a:spLocks xmlns:a="http://schemas.openxmlformats.org/drawingml/2006/main" noGrp="1"/>
          </p:cNvSpPr>
          <p:nvPr/>
        </p:nvSpPr>
        <p:spPr>
          <a:xfrm xmlns:a="http://schemas.openxmlformats.org/drawingml/2006/main">
            <a:off x="6400800" y="59245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Soft skills, langues, resume</a:t>
            </a:r>
          </a:p>
        </p:txBody>
      </p:sp>
    </p:spTree>
    <p:extLst>
      <p:ext uri="{BB962C8B-B14F-4D97-AF65-F5344CB8AC3E}">
        <p14:creationId xmlns:p14="http://schemas.microsoft.com/office/powerpoint/2010/main" val="1971762868"/>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ED5A889-A2D6-49C6-9E80-13CF65CFFE7A}"/>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9EA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C19D91E-7F99-44EF-A235-3CDF0F329B1C}"/>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1F9F1">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F5E66BE-35B7-42C1-B7FA-78C9D85DDB07}"/>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CDD">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901A533-0DE7-4BE0-81EA-196DF148DECC}"/>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742ECA1B-25D5-43A2-9518-5F3409945CCA}"/>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7ABE00B4-DBB7-4B2C-9634-2A85D4BDC145}"/>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D9ACEDDD-4D9D-4C0A-9B91-716194E2DE72}"/>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FEE28F9-351D-487D-B357-E51BA98F0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28F547D-DEC5-485F-8239-AD9095061A75}"/>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06. SORTIES</a:t>
            </a:r>
          </a:p>
        </p:txBody>
      </p:sp>
      <p:sp>
        <p:nvSpPr>
          <p:cNvPr id="11" name="">
            <a:extLst xmlns:a="http://schemas.openxmlformats.org/drawingml/2006/main">
              <a:ext uri="{FF2B5EF4-FFF2-40B4-BE49-F238E27FC236}">
                <a16:creationId xmlns:a16="http://schemas.microsoft.com/office/drawing/2014/main" id="{FE80780E-4A14-4A77-9209-496A8F51AFD5}"/>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07 / 08</a:t>
            </a:r>
          </a:p>
        </p:txBody>
      </p:sp>
      <p:sp>
        <p:nvSpPr>
          <p:cNvPr id="12" name="">
            <a:extLst xmlns:a="http://schemas.openxmlformats.org/drawingml/2006/main">
              <a:ext uri="{FF2B5EF4-FFF2-40B4-BE49-F238E27FC236}">
                <a16:creationId xmlns:a16="http://schemas.microsoft.com/office/drawing/2014/main" id="{39713E2D-002C-488F-8FC8-1E34445DE17E}"/>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3123D43-14BF-4C93-AD2E-F2805BD83266}"/>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1E7D4366-9CB4-4382-958B-7E5478C5476C}"/>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Ce que le système produit</a:t>
            </a:r>
          </a:p>
        </p:txBody>
      </p:sp>
      <p:sp>
        <p:nvSpPr>
          <p:cNvPr id="15" name="">
            <a:extLst xmlns:a="http://schemas.openxmlformats.org/drawingml/2006/main">
              <a:ext uri="{FF2B5EF4-FFF2-40B4-BE49-F238E27FC236}">
                <a16:creationId xmlns:a16="http://schemas.microsoft.com/office/drawing/2014/main" id="{04C5E29B-27C2-4560-90C6-C3F8ACAC8C07}"/>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résultat n'est pas juste un score : c'est un dossier d'aide à la décision complet.</a:t>
            </a:r>
          </a:p>
        </p:txBody>
      </p:sp>
      <p:sp>
        <p:nvSpPr>
          <p:cNvPr id="16" name="">
            <a:extLst xmlns:a="http://schemas.openxmlformats.org/drawingml/2006/main">
              <a:ext uri="{FF2B5EF4-FFF2-40B4-BE49-F238E27FC236}">
                <a16:creationId xmlns:a16="http://schemas.microsoft.com/office/drawing/2014/main" id="{FDE86B2B-258B-4126-89EF-05737CF0FF51}"/>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D40C3A6D-5EC5-4747-98AD-782CDCD6ECFE}"/>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47FA1AA-10D4-40DD-814C-449A2F45B75A}"/>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BC28B643-E6C4-41F4-BC47-476A1CFA37F6}"/>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52550E4-F74E-45C0-98D2-8E313678DBA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F26A79F-607F-47E2-AA32-35B7D45C23E8}"/>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F0BCBF9-6080-415E-BE4D-0D4A56B2EE83}"/>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Classement</a:t>
            </a:r>
          </a:p>
        </p:txBody>
      </p:sp>
      <p:sp>
        <p:nvSpPr>
          <p:cNvPr id="23" name="">
            <a:extLst xmlns:a="http://schemas.openxmlformats.org/drawingml/2006/main">
              <a:ext uri="{FF2B5EF4-FFF2-40B4-BE49-F238E27FC236}">
                <a16:creationId xmlns:a16="http://schemas.microsoft.com/office/drawing/2014/main" id="{66764F17-1FF2-4A5A-9567-85456D96FDFB}"/>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Une vue comparative des</a:t>
            </a:r>
          </a:p>
          <a:p xmlns:a="http://schemas.openxmlformats.org/drawingml/2006/main">
            <a:pPr algn="l">
              <a:defRPr sz="1275" b="0">
                <a:solidFill>
                  <a:srgbClr val="0B1320"/>
                </a:solidFill>
              </a:defRPr>
            </a:pPr>
            <a:r>
              <a:rPr sz="1275" b="0">
                <a:solidFill>
                  <a:srgbClr val="0B1320"/>
                </a:solidFill>
              </a:rPr>
              <a:t>candidats avec rang, score</a:t>
            </a:r>
          </a:p>
          <a:p xmlns:a="http://schemas.openxmlformats.org/drawingml/2006/main">
            <a:pPr algn="l">
              <a:defRPr sz="1275" b="0">
                <a:solidFill>
                  <a:srgbClr val="0B1320"/>
                </a:solidFill>
              </a:defRPr>
            </a:pPr>
            <a:r>
              <a:rPr sz="1275" b="0">
                <a:solidFill>
                  <a:srgbClr val="0B1320"/>
                </a:solidFill>
              </a:rPr>
              <a:t>RAG et statut par poste.</a:t>
            </a:r>
          </a:p>
        </p:txBody>
      </p:sp>
      <p:sp>
        <p:nvSpPr>
          <p:cNvPr id="24" name="">
            <a:extLst xmlns:a="http://schemas.openxmlformats.org/drawingml/2006/main">
              <a:ext uri="{FF2B5EF4-FFF2-40B4-BE49-F238E27FC236}">
                <a16:creationId xmlns:a16="http://schemas.microsoft.com/office/drawing/2014/main" id="{C123FA95-899D-4B6A-A604-37295364E60B}"/>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7EDA6C42-FAAD-4CA7-8500-A6C3C3E5263B}"/>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5A7223B-7678-4149-8834-B791CA29FE0A}"/>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75BA909E-B200-4503-941D-4792851AA658}"/>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9DBDFC3-A803-49A5-B8FF-39BA2CE12680}"/>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283DECBB-DF8C-450B-8BAC-D76F600F8758}"/>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73495FF-DD68-40BF-A38D-D444DB54FBB6}"/>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Rapport</a:t>
            </a:r>
          </a:p>
        </p:txBody>
      </p:sp>
      <p:sp>
        <p:nvSpPr>
          <p:cNvPr id="31" name="">
            <a:extLst xmlns:a="http://schemas.openxmlformats.org/drawingml/2006/main">
              <a:ext uri="{FF2B5EF4-FFF2-40B4-BE49-F238E27FC236}">
                <a16:creationId xmlns:a16="http://schemas.microsoft.com/office/drawing/2014/main" id="{D6C22C3F-6C47-46ED-BB07-5B4BB6499755}"/>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 document structuré avec</a:t>
            </a:r>
          </a:p>
          <a:p xmlns:a="http://schemas.openxmlformats.org/drawingml/2006/main">
            <a:pPr algn="l">
              <a:defRPr sz="1275" b="0">
                <a:solidFill>
                  <a:srgbClr val="0B1320"/>
                </a:solidFill>
              </a:defRPr>
            </a:pPr>
            <a:r>
              <a:rPr sz="1275" b="0">
                <a:solidFill>
                  <a:srgbClr val="0B1320"/>
                </a:solidFill>
              </a:rPr>
              <a:t>matching compétence par</a:t>
            </a:r>
          </a:p>
          <a:p xmlns:a="http://schemas.openxmlformats.org/drawingml/2006/main">
            <a:pPr algn="l">
              <a:defRPr sz="1275" b="0">
                <a:solidFill>
                  <a:srgbClr val="0B1320"/>
                </a:solidFill>
              </a:defRPr>
            </a:pPr>
            <a:r>
              <a:rPr sz="1275" b="0">
                <a:solidFill>
                  <a:srgbClr val="0B1320"/>
                </a:solidFill>
              </a:rPr>
              <a:t>compétence, adéquation au</a:t>
            </a:r>
          </a:p>
          <a:p xmlns:a="http://schemas.openxmlformats.org/drawingml/2006/main">
            <a:pPr algn="l">
              <a:defRPr sz="1275" b="0">
                <a:solidFill>
                  <a:srgbClr val="0B1320"/>
                </a:solidFill>
              </a:defRPr>
            </a:pPr>
            <a:r>
              <a:rPr sz="1275" b="0">
                <a:solidFill>
                  <a:srgbClr val="0B1320"/>
                </a:solidFill>
              </a:rPr>
              <a:t>poste et recommandation.</a:t>
            </a:r>
          </a:p>
        </p:txBody>
      </p:sp>
      <p:sp>
        <p:nvSpPr>
          <p:cNvPr id="32" name="">
            <a:extLst xmlns:a="http://schemas.openxmlformats.org/drawingml/2006/main">
              <a:ext uri="{FF2B5EF4-FFF2-40B4-BE49-F238E27FC236}">
                <a16:creationId xmlns:a16="http://schemas.microsoft.com/office/drawing/2014/main" id="{03F3AD05-26C8-4118-BC66-279E9E0DDCB1}"/>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23F0EFAC-4CB0-4250-940B-364D95383E66}"/>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FBCF5E9-1357-4CDC-97D5-23DD5BBAD4AC}"/>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2A3459DE-5A1E-4436-AC26-48354FA61157}"/>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F6609C4-C085-4D20-B8E3-65315ACFFEF3}"/>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E18A1E16-B5DA-475C-9BCE-685B124175C7}"/>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57899D03-3D2B-4650-9F8A-30B98534E2F0}"/>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Traçabilité</a:t>
            </a:r>
          </a:p>
        </p:txBody>
      </p:sp>
      <p:sp>
        <p:nvSpPr>
          <p:cNvPr id="39" name="">
            <a:extLst xmlns:a="http://schemas.openxmlformats.org/drawingml/2006/main">
              <a:ext uri="{FF2B5EF4-FFF2-40B4-BE49-F238E27FC236}">
                <a16:creationId xmlns:a16="http://schemas.microsoft.com/office/drawing/2014/main" id="{268090C9-D6E1-4A9D-BE2B-141E97332C60}"/>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recruteur peut relire la</a:t>
            </a:r>
          </a:p>
          <a:p xmlns:a="http://schemas.openxmlformats.org/drawingml/2006/main">
            <a:pPr algn="l">
              <a:defRPr sz="1275" b="0">
                <a:solidFill>
                  <a:srgbClr val="0B1320"/>
                </a:solidFill>
              </a:defRPr>
            </a:pPr>
            <a:r>
              <a:rPr sz="1275" b="0">
                <a:solidFill>
                  <a:srgbClr val="0B1320"/>
                </a:solidFill>
              </a:rPr>
              <a:t>logique, télécharger un PDF</a:t>
            </a:r>
          </a:p>
          <a:p xmlns:a="http://schemas.openxmlformats.org/drawingml/2006/main">
            <a:pPr algn="l">
              <a:defRPr sz="1275" b="0">
                <a:solidFill>
                  <a:srgbClr val="0B1320"/>
                </a:solidFill>
              </a:defRPr>
            </a:pPr>
            <a:r>
              <a:rPr sz="1275" b="0">
                <a:solidFill>
                  <a:srgbClr val="0B1320"/>
                </a:solidFill>
              </a:rPr>
              <a:t>et garder une trace</a:t>
            </a:r>
          </a:p>
          <a:p xmlns:a="http://schemas.openxmlformats.org/drawingml/2006/main">
            <a:pPr algn="l">
              <a:defRPr sz="1275" b="0">
                <a:solidFill>
                  <a:srgbClr val="0B1320"/>
                </a:solidFill>
              </a:defRPr>
            </a:pPr>
            <a:r>
              <a:rPr sz="1275" b="0">
                <a:solidFill>
                  <a:srgbClr val="0B1320"/>
                </a:solidFill>
              </a:rPr>
              <a:t>explicable.</a:t>
            </a:r>
          </a:p>
        </p:txBody>
      </p:sp>
    </p:spTree>
    <p:extLst>
      <p:ext uri="{BB962C8B-B14F-4D97-AF65-F5344CB8AC3E}">
        <p14:creationId xmlns:p14="http://schemas.microsoft.com/office/powerpoint/2010/main" val="748636601"/>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B8A6FBB-4EA7-4BA4-A7C9-E4163FB53D1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5C49B53-7E63-43C4-A6B7-1763112F8F9A}"/>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6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FD52583-CA28-484E-AA6C-BCF160199D23}"/>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8FCF5">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4B5A801-B1A2-4F82-A98C-09D705EA2DA1}"/>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F0D8">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0ABDC0D-4596-4741-82D4-37BAA3DE1DB6}"/>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3CA7F80C-A480-4471-B8A4-9131236F833A}"/>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BAF242A4-3C3B-46EA-B206-39AF4085679A}"/>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31135CBE-1FB6-40FB-8864-0DD1841A5079}"/>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8B60BB5-04E9-4E3D-BCAD-E0937BF861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FE93E44-32EE-48CF-BF6C-F7B40247CA97}"/>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07. CONCLUSION</a:t>
            </a:r>
          </a:p>
        </p:txBody>
      </p:sp>
      <p:sp>
        <p:nvSpPr>
          <p:cNvPr id="11" name="">
            <a:extLst xmlns:a="http://schemas.openxmlformats.org/drawingml/2006/main">
              <a:ext uri="{FF2B5EF4-FFF2-40B4-BE49-F238E27FC236}">
                <a16:creationId xmlns:a16="http://schemas.microsoft.com/office/drawing/2014/main" id="{27751CD0-0D44-4505-93C1-AEEDF2329E05}"/>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08 / 08</a:t>
            </a:r>
          </a:p>
        </p:txBody>
      </p:sp>
      <p:sp>
        <p:nvSpPr>
          <p:cNvPr id="12" name="">
            <a:extLst xmlns:a="http://schemas.openxmlformats.org/drawingml/2006/main">
              <a:ext uri="{FF2B5EF4-FFF2-40B4-BE49-F238E27FC236}">
                <a16:creationId xmlns:a16="http://schemas.microsoft.com/office/drawing/2014/main" id="{99F9E9A0-C8E3-48FF-9206-30F0193BC4C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1878E6D-901C-478E-ABFF-63707540538D}"/>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914E0AED-621F-49A0-A4A0-F86056E8587C}"/>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Valeur, limites et suite</a:t>
            </a:r>
          </a:p>
        </p:txBody>
      </p:sp>
      <p:sp>
        <p:nvSpPr>
          <p:cNvPr id="15" name="">
            <a:extLst xmlns:a="http://schemas.openxmlformats.org/drawingml/2006/main">
              <a:ext uri="{FF2B5EF4-FFF2-40B4-BE49-F238E27FC236}">
                <a16:creationId xmlns:a16="http://schemas.microsoft.com/office/drawing/2014/main" id="{1C9176F9-6873-4E23-A3A0-6FA7363416B1}"/>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est déjà utile, mais il reste volontairement conçu comme un outil d'assistance responsable.</a:t>
            </a:r>
          </a:p>
        </p:txBody>
      </p:sp>
      <p:sp>
        <p:nvSpPr>
          <p:cNvPr id="16" name="">
            <a:extLst xmlns:a="http://schemas.openxmlformats.org/drawingml/2006/main">
              <a:ext uri="{FF2B5EF4-FFF2-40B4-BE49-F238E27FC236}">
                <a16:creationId xmlns:a16="http://schemas.microsoft.com/office/drawing/2014/main" id="{AEAB31EF-AA05-4795-8727-C060AB7CBD01}"/>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A41545D3-269E-49A3-A54C-2B60514C2650}"/>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B15EF30-69AC-44D6-95A0-8509CB624E66}"/>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95FDF4A1-38E0-4941-B3B4-715426F8B8E4}"/>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A075644-1FDD-48A6-8FA0-691097DD526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21F9C65-DCB4-44F2-BB6E-2CDFBAD29BC7}"/>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B2ADA5B-5CD5-487E-AE9E-49582A131616}"/>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Valeur</a:t>
            </a:r>
          </a:p>
        </p:txBody>
      </p:sp>
      <p:sp>
        <p:nvSpPr>
          <p:cNvPr id="23" name="">
            <a:extLst xmlns:a="http://schemas.openxmlformats.org/drawingml/2006/main">
              <a:ext uri="{FF2B5EF4-FFF2-40B4-BE49-F238E27FC236}">
                <a16:creationId xmlns:a16="http://schemas.microsoft.com/office/drawing/2014/main" id="{2F8DE213-03F6-4446-A090-53582925F6D7}"/>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Gain de temps, tri plus</a:t>
            </a:r>
          </a:p>
          <a:p xmlns:a="http://schemas.openxmlformats.org/drawingml/2006/main">
            <a:pPr algn="l">
              <a:defRPr sz="1275" b="0">
                <a:solidFill>
                  <a:srgbClr val="0B1320"/>
                </a:solidFill>
              </a:defRPr>
            </a:pPr>
            <a:r>
              <a:rPr sz="1275" b="0">
                <a:solidFill>
                  <a:srgbClr val="0B1320"/>
                </a:solidFill>
              </a:rPr>
              <a:t>homogène, lecture plus</a:t>
            </a:r>
          </a:p>
          <a:p xmlns:a="http://schemas.openxmlformats.org/drawingml/2006/main">
            <a:pPr algn="l">
              <a:defRPr sz="1275" b="0">
                <a:solidFill>
                  <a:srgbClr val="0B1320"/>
                </a:solidFill>
              </a:defRPr>
            </a:pPr>
            <a:r>
              <a:rPr sz="1275" b="0">
                <a:solidFill>
                  <a:srgbClr val="0B1320"/>
                </a:solidFill>
              </a:rPr>
              <a:t>claire des candidatures et</a:t>
            </a:r>
          </a:p>
          <a:p xmlns:a="http://schemas.openxmlformats.org/drawingml/2006/main">
            <a:pPr algn="l">
              <a:defRPr sz="1275" b="0">
                <a:solidFill>
                  <a:srgbClr val="0B1320"/>
                </a:solidFill>
              </a:defRPr>
            </a:pPr>
            <a:r>
              <a:rPr sz="1275" b="0">
                <a:solidFill>
                  <a:srgbClr val="0B1320"/>
                </a:solidFill>
              </a:rPr>
              <a:t>meilleure montée en charge.</a:t>
            </a:r>
          </a:p>
        </p:txBody>
      </p:sp>
      <p:sp>
        <p:nvSpPr>
          <p:cNvPr id="24" name="">
            <a:extLst xmlns:a="http://schemas.openxmlformats.org/drawingml/2006/main">
              <a:ext uri="{FF2B5EF4-FFF2-40B4-BE49-F238E27FC236}">
                <a16:creationId xmlns:a16="http://schemas.microsoft.com/office/drawing/2014/main" id="{E62D9777-FD35-42D1-A345-B6FC2044A7B8}"/>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18F0F264-F742-4CE5-8F37-96B2E8179F93}"/>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25D9E7D-E182-4DFE-AE7C-D9460A4D3DBC}"/>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3BCB89F5-9DA7-4248-AEEA-68139FDCBDFC}"/>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5C95EA1-FFA2-4E95-86DA-B05E32A4D57C}"/>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D1D316A-D502-4098-A9E5-9D8ECB56FA63}"/>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3B15872E-ACC5-4986-B6E8-43BB4704F925}"/>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Limites</a:t>
            </a:r>
          </a:p>
        </p:txBody>
      </p:sp>
      <p:sp>
        <p:nvSpPr>
          <p:cNvPr id="31" name="">
            <a:extLst xmlns:a="http://schemas.openxmlformats.org/drawingml/2006/main">
              <a:ext uri="{FF2B5EF4-FFF2-40B4-BE49-F238E27FC236}">
                <a16:creationId xmlns:a16="http://schemas.microsoft.com/office/drawing/2014/main" id="{67970E38-1CB4-4CF0-AF2A-E165F4120EB7}"/>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La qualité dépend des CV</a:t>
            </a:r>
          </a:p>
          <a:p xmlns:a="http://schemas.openxmlformats.org/drawingml/2006/main">
            <a:pPr algn="l">
              <a:defRPr sz="1275" b="0">
                <a:solidFill>
                  <a:srgbClr val="0B1320"/>
                </a:solidFill>
              </a:defRPr>
            </a:pPr>
            <a:r>
              <a:rPr sz="1275" b="0">
                <a:solidFill>
                  <a:srgbClr val="0B1320"/>
                </a:solidFill>
              </a:rPr>
              <a:t>fournis, du modèle et des</a:t>
            </a:r>
          </a:p>
          <a:p xmlns:a="http://schemas.openxmlformats.org/drawingml/2006/main">
            <a:pPr algn="l">
              <a:defRPr sz="1275" b="0">
                <a:solidFill>
                  <a:srgbClr val="0B1320"/>
                </a:solidFill>
              </a:defRPr>
            </a:pPr>
            <a:r>
              <a:rPr sz="1275" b="0">
                <a:solidFill>
                  <a:srgbClr val="0B1320"/>
                </a:solidFill>
              </a:rPr>
              <a:t>prompts ; le contrôle humain</a:t>
            </a:r>
          </a:p>
          <a:p xmlns:a="http://schemas.openxmlformats.org/drawingml/2006/main">
            <a:pPr algn="l">
              <a:defRPr sz="1275" b="0">
                <a:solidFill>
                  <a:srgbClr val="0B1320"/>
                </a:solidFill>
              </a:defRPr>
            </a:pPr>
            <a:r>
              <a:rPr sz="1275" b="0">
                <a:solidFill>
                  <a:srgbClr val="0B1320"/>
                </a:solidFill>
              </a:rPr>
              <a:t>reste obligatoire.</a:t>
            </a:r>
          </a:p>
        </p:txBody>
      </p:sp>
      <p:sp>
        <p:nvSpPr>
          <p:cNvPr id="32" name="">
            <a:extLst xmlns:a="http://schemas.openxmlformats.org/drawingml/2006/main">
              <a:ext uri="{FF2B5EF4-FFF2-40B4-BE49-F238E27FC236}">
                <a16:creationId xmlns:a16="http://schemas.microsoft.com/office/drawing/2014/main" id="{111F622F-AEBA-46DE-AEDF-DA813DCDAAF6}"/>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130FEB47-63D9-4E24-B705-8E6AFC756AD0}"/>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61A758E-E610-44F6-A55A-D7E83267B814}"/>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6419B30F-E383-4317-A5E1-EFF113E9CE81}"/>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EBBB202A-F69C-4B57-BAF3-FB6AF9DA0437}"/>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E4F194F5-6586-406C-B161-6A3F52A64694}"/>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10D37EA2-5EAD-4D93-BAD0-33E6EC402AD2}"/>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Perspectives</a:t>
            </a:r>
          </a:p>
        </p:txBody>
      </p:sp>
      <p:sp>
        <p:nvSpPr>
          <p:cNvPr id="39" name="">
            <a:extLst xmlns:a="http://schemas.openxmlformats.org/drawingml/2006/main">
              <a:ext uri="{FF2B5EF4-FFF2-40B4-BE49-F238E27FC236}">
                <a16:creationId xmlns:a16="http://schemas.microsoft.com/office/drawing/2014/main" id="{A3BAD6E2-F377-4577-A68C-0B527E390E87}"/>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Intégration ATS, meilleure</a:t>
            </a:r>
          </a:p>
          <a:p xmlns:a="http://schemas.openxmlformats.org/drawingml/2006/main">
            <a:pPr algn="l">
              <a:defRPr sz="1275" b="0">
                <a:solidFill>
                  <a:srgbClr val="0B1320"/>
                </a:solidFill>
              </a:defRPr>
            </a:pPr>
            <a:r>
              <a:rPr sz="1275" b="0">
                <a:solidFill>
                  <a:srgbClr val="0B1320"/>
                </a:solidFill>
              </a:rPr>
              <a:t>structuration des CV,</a:t>
            </a:r>
          </a:p>
          <a:p xmlns:a="http://schemas.openxmlformats.org/drawingml/2006/main">
            <a:pPr algn="l">
              <a:defRPr sz="1275" b="0">
                <a:solidFill>
                  <a:srgbClr val="0B1320"/>
                </a:solidFill>
              </a:defRPr>
            </a:pPr>
            <a:r>
              <a:rPr sz="1275" b="0">
                <a:solidFill>
                  <a:srgbClr val="0B1320"/>
                </a:solidFill>
              </a:rPr>
              <a:t>dashboards RH plus riches et</a:t>
            </a:r>
          </a:p>
          <a:p xmlns:a="http://schemas.openxmlformats.org/drawingml/2006/main">
            <a:pPr algn="l">
              <a:defRPr sz="1275" b="0">
                <a:solidFill>
                  <a:srgbClr val="0B1320"/>
                </a:solidFill>
              </a:defRPr>
            </a:pPr>
            <a:r>
              <a:rPr sz="1275" b="0">
                <a:solidFill>
                  <a:srgbClr val="0B1320"/>
                </a:solidFill>
              </a:rPr>
              <a:t>tests qualité automatisés.</a:t>
            </a:r>
          </a:p>
        </p:txBody>
      </p:sp>
    </p:spTree>
    <p:extLst>
      <p:ext uri="{BB962C8B-B14F-4D97-AF65-F5344CB8AC3E}">
        <p14:creationId xmlns:p14="http://schemas.microsoft.com/office/powerpoint/2010/main" val="988559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2026-04-20T23:40:23.8760000Z</dcterms:created>
  <dcterms:modified xsi:type="dcterms:W3CDTF">2026-04-20T23:40:23.8760000Z</dcterms:modified>
</coreProperties>
</file>