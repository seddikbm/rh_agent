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68902d0dfa4a86" /><Relationship Type="http://schemas.openxmlformats.org/officeDocument/2006/relationships/extended-properties" Target="/docProps/app.xml" Id="R79c97652b5f14bb4" /><Relationship Type="http://schemas.openxmlformats.org/officeDocument/2006/relationships/officeDocument" Target="/ppt/presentation.xml" Id="Rb34cb46b165f4b23" /></Relationships>
</file>

<file path=ppt/presentation.xml><?xml version="1.0" encoding="utf-8"?>
<p:presentation xmlns:p="http://schemas.openxmlformats.org/presentationml/2006/main">
  <p:sldMasterIdLst>
    <p:sldMasterId xmlns:r="http://schemas.openxmlformats.org/officeDocument/2006/relationships" id="2147483648" r:id="R92167f2af32e4bb6"/>
  </p:sldMasterIdLst>
  <p:notesMasterIdLst>
    <p:notesMasterId xmlns:r="http://schemas.openxmlformats.org/officeDocument/2006/relationships" r:id="R6f76f7b9602a4f8d"/>
  </p:notesMasterIdLst>
  <p:sldIdLst>
    <p:sldId xmlns:r="http://schemas.openxmlformats.org/officeDocument/2006/relationships" id="256" r:id="R03f8486b3d944884"/>
    <p:sldId xmlns:r="http://schemas.openxmlformats.org/officeDocument/2006/relationships" id="257" r:id="Ra275ed955bf74537"/>
    <p:sldId xmlns:r="http://schemas.openxmlformats.org/officeDocument/2006/relationships" id="258" r:id="R9e5de5ebff9f4d53"/>
    <p:sldId xmlns:r="http://schemas.openxmlformats.org/officeDocument/2006/relationships" id="259" r:id="Ra6b2fbf14c054827"/>
    <p:sldId xmlns:r="http://schemas.openxmlformats.org/officeDocument/2006/relationships" id="260" r:id="R2d2a3157e65440f3"/>
    <p:sldId xmlns:r="http://schemas.openxmlformats.org/officeDocument/2006/relationships" id="261" r:id="R574515a30a904fcc"/>
    <p:sldId xmlns:r="http://schemas.openxmlformats.org/officeDocument/2006/relationships" id="262" r:id="R4cea5f34db0746e6"/>
    <p:sldId xmlns:r="http://schemas.openxmlformats.org/officeDocument/2006/relationships" id="263" r:id="Rbc752e0560e24a1d"/>
    <p:sldId xmlns:r="http://schemas.openxmlformats.org/officeDocument/2006/relationships" id="264" r:id="R3aae97e9ce4246f2"/>
    <p:sldId xmlns:r="http://schemas.openxmlformats.org/officeDocument/2006/relationships" id="265" r:id="R5a092a475b924a5a"/>
    <p:sldId xmlns:r="http://schemas.openxmlformats.org/officeDocument/2006/relationships" id="266" r:id="R07264ff2a48f45ea"/>
    <p:sldId xmlns:r="http://schemas.openxmlformats.org/officeDocument/2006/relationships" id="267" r:id="Rcd3c5aa32dba421a"/>
    <p:sldId xmlns:r="http://schemas.openxmlformats.org/officeDocument/2006/relationships" id="268" r:id="R59dff32f3a634c4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92167f2af32e4bb6" /><Relationship Type="http://schemas.openxmlformats.org/officeDocument/2006/relationships/theme" Target="/ppt/theme/theme1.xml" Id="R4efd7051d89b4e3c" /><Relationship Type="http://schemas.openxmlformats.org/officeDocument/2006/relationships/notesMaster" Target="/ppt/notesMasters/notesMaster1.xml" Id="R6f76f7b9602a4f8d" /><Relationship Type="http://schemas.openxmlformats.org/officeDocument/2006/relationships/presProps" Target="/ppt/presProps.xml" Id="Re5812214c213424c" /><Relationship Type="http://schemas.openxmlformats.org/officeDocument/2006/relationships/viewProps" Target="/ppt/viewProps.xml" Id="Rf1e0dc9b71344434" /><Relationship Type="http://schemas.openxmlformats.org/officeDocument/2006/relationships/tableStyles" Target="/ppt/tableStyles.xml" Id="R467a563eb10548d2" /><Relationship Type="http://schemas.openxmlformats.org/officeDocument/2006/relationships/slide" Target="/ppt/slides/slide1.xml" Id="R03f8486b3d944884" /><Relationship Type="http://schemas.openxmlformats.org/officeDocument/2006/relationships/slide" Target="/ppt/slides/slide2.xml" Id="Ra275ed955bf74537" /><Relationship Type="http://schemas.openxmlformats.org/officeDocument/2006/relationships/slide" Target="/ppt/slides/slide3.xml" Id="R9e5de5ebff9f4d53" /><Relationship Type="http://schemas.openxmlformats.org/officeDocument/2006/relationships/slide" Target="/ppt/slides/slide4.xml" Id="Ra6b2fbf14c054827" /><Relationship Type="http://schemas.openxmlformats.org/officeDocument/2006/relationships/slide" Target="/ppt/slides/slide5.xml" Id="R2d2a3157e65440f3" /><Relationship Type="http://schemas.openxmlformats.org/officeDocument/2006/relationships/slide" Target="/ppt/slides/slide6.xml" Id="R574515a30a904fcc" /><Relationship Type="http://schemas.openxmlformats.org/officeDocument/2006/relationships/slide" Target="/ppt/slides/slide7.xml" Id="R4cea5f34db0746e6" /><Relationship Type="http://schemas.openxmlformats.org/officeDocument/2006/relationships/slide" Target="/ppt/slides/slide8.xml" Id="Rbc752e0560e24a1d" /><Relationship Type="http://schemas.openxmlformats.org/officeDocument/2006/relationships/slide" Target="/ppt/slides/slide9.xml" Id="R3aae97e9ce4246f2" /><Relationship Type="http://schemas.openxmlformats.org/officeDocument/2006/relationships/slide" Target="/ppt/slides/slide10.xml" Id="R5a092a475b924a5a" /><Relationship Type="http://schemas.openxmlformats.org/officeDocument/2006/relationships/slide" Target="/ppt/slides/slide11.xml" Id="R07264ff2a48f45ea" /><Relationship Type="http://schemas.openxmlformats.org/officeDocument/2006/relationships/slide" Target="/ppt/slides/slide12.xml" Id="Rcd3c5aa32dba421a" /><Relationship Type="http://schemas.openxmlformats.org/officeDocument/2006/relationships/slide" Target="/ppt/slides/slide13.xml" Id="R59dff32f3a634c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d5b9d466250641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0cfb1818be4817" /><Relationship Type="http://schemas.openxmlformats.org/officeDocument/2006/relationships/notesMaster" Target="/ppt/notesMasters/notesMaster1.xml" Id="R99bd9300f42c49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9f190f03ab4f7a" /><Relationship Type="http://schemas.openxmlformats.org/officeDocument/2006/relationships/notesMaster" Target="/ppt/notesMasters/notesMaster1.xml" Id="Red69ac0b62fa42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33092dc7eb4502" /><Relationship Type="http://schemas.openxmlformats.org/officeDocument/2006/relationships/notesMaster" Target="/ppt/notesMasters/notesMaster1.xml" Id="Rc736a2b29da94c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ef755f87e542cc" /><Relationship Type="http://schemas.openxmlformats.org/officeDocument/2006/relationships/notesMaster" Target="/ppt/notesMasters/notesMaster1.xml" Id="Rb11e0f0bf37049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6c699dd2dd46d3" /><Relationship Type="http://schemas.openxmlformats.org/officeDocument/2006/relationships/notesMaster" Target="/ppt/notesMasters/notesMaster1.xml" Id="Rbcde8a5a0e1b4b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e2d0e3339d4268" /><Relationship Type="http://schemas.openxmlformats.org/officeDocument/2006/relationships/notesMaster" Target="/ppt/notesMasters/notesMaster1.xml" Id="R1d9738f40ad849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d131f8599846e9" /><Relationship Type="http://schemas.openxmlformats.org/officeDocument/2006/relationships/notesMaster" Target="/ppt/notesMasters/notesMaster1.xml" Id="Rde746d902a0b45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bd585367924b46" /><Relationship Type="http://schemas.openxmlformats.org/officeDocument/2006/relationships/notesMaster" Target="/ppt/notesMasters/notesMaster1.xml" Id="R4ff48c675bb447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e7d61f5fd364a92" /><Relationship Type="http://schemas.openxmlformats.org/officeDocument/2006/relationships/notesMaster" Target="/ppt/notesMasters/notesMaster1.xml" Id="Rc05a803e64d24a1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c324871f5a4243" /><Relationship Type="http://schemas.openxmlformats.org/officeDocument/2006/relationships/notesMaster" Target="/ppt/notesMasters/notesMaster1.xml" Id="R0efd8e7641454d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d49f9bd39642a2" /><Relationship Type="http://schemas.openxmlformats.org/officeDocument/2006/relationships/notesMaster" Target="/ppt/notesMasters/notesMaster1.xml" Id="R3025e6f82df742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19ccb8d0b45401b" /><Relationship Type="http://schemas.openxmlformats.org/officeDocument/2006/relationships/notesMaster" Target="/ppt/notesMasters/notesMaster1.xml" Id="Rc3bf1a9a182e43a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c53b12363f4092" /><Relationship Type="http://schemas.openxmlformats.org/officeDocument/2006/relationships/notesMaster" Target="/ppt/notesMasters/notesMaster1.xml" Id="R3424e31e599e47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Bonjour. Dans cette présentation, je vais expliquer le projet de manière plus détaillée. L'objectif est que la présentation soit facile à suivre, même en lisant directement les slides. Je vais d'abord rappeler le problème métier, puis montrer la solution, l'architecture, le fonctionnement interne et enfin la valeur du projet.</a:t>
            </a:r>
          </a:p>
          <a:p xmlns:a="http://schemas.openxmlformats.org/drawingml/2006/main">
            <a:r>
              <a:t/>
            </a:r>
          </a:p>
          <a:p xmlns:a="http://schemas.openxmlformats.org/drawingml/2006/main">
            <a:r>
              <a:t>[Sources]</a:t>
            </a:r>
          </a:p>
          <a:p xmlns:a="http://schemas.openxmlformats.org/drawingml/2006/main">
            <a:r>
              <a:t>- Projet local RH Agent: README.md et RAPPORT_PIPELINE_PROJET.md</a:t>
            </a:r>
          </a:p>
          <a:p xmlns:a="http://schemas.openxmlformats.org/drawingml/2006/main">
            <a:r>
              <a:t>- backend/api/routes/analysis.py</a:t>
            </a:r>
          </a:p>
          <a:p xmlns:a="http://schemas.openxmlformats.org/drawingml/2006/main">
            <a:r>
              <a:t>- backend/agents/graph.py et backend/agents/nodes/*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slide sert simplement à cadrer la présentation. Elle annonce le chemin que je vais suivre. Cela permet au jury ou au public de savoir à quoi s'attendre et de garder un fil logique du début à la fin.</a:t>
            </a:r>
          </a:p>
          <a:p xmlns:a="http://schemas.openxmlformats.org/drawingml/2006/main">
            <a:r>
              <a:t/>
            </a:r>
          </a:p>
          <a:p xmlns:a="http://schemas.openxmlformats.org/drawingml/2006/main">
            <a:r>
              <a:t>[Sources]</a:t>
            </a:r>
          </a:p>
          <a:p xmlns:a="http://schemas.openxmlformats.org/drawingml/2006/main">
            <a:r>
              <a:t>- Projet local RH Agent: README.md et RAPPORT_PIPELINE_PROJET.md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Ici, il faut insister sur le besoin métier réel. Le problème n'est pas seulement la quantité de CV. Le vrai sujet, c'est aussi la cohérence du tri, la capacité à monter en charge et la nécessité d'expliquer les décisions prises.</a:t>
            </a:r>
          </a:p>
          <a:p xmlns:a="http://schemas.openxmlformats.org/drawingml/2006/main">
            <a:r>
              <a:t/>
            </a:r>
          </a:p>
          <a:p xmlns:a="http://schemas.openxmlformats.org/drawingml/2006/main">
            <a:r>
              <a:t>[Sources]</a:t>
            </a:r>
          </a:p>
          <a:p xmlns:a="http://schemas.openxmlformats.org/drawingml/2006/main">
            <a:r>
              <a:t>- Projet local RH Agent: README.md et RAPPORT_PIPELINE_PROJET.md</a:t>
            </a:r>
          </a:p>
          <a:p xmlns:a="http://schemas.openxmlformats.org/drawingml/2006/main">
            <a:r>
              <a:t>- frontend/src/pages/Upload.jsx, Analyses.jsx, Report.jsx, Jobs.jsx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slide est importante, parce qu'elle positionne correctement le projet. On parle bien d'assistance intelligente. Le système aide, mais il ne décide pas seul. Cette posture est essentielle d'un point de vue métier et éthique.</a:t>
            </a:r>
          </a:p>
          <a:p xmlns:a="http://schemas.openxmlformats.org/drawingml/2006/main">
            <a:r>
              <a:t/>
            </a:r>
          </a:p>
          <a:p xmlns:a="http://schemas.openxmlformats.org/drawingml/2006/main">
            <a:r>
              <a:t>[Sources]</a:t>
            </a:r>
          </a:p>
          <a:p xmlns:a="http://schemas.openxmlformats.org/drawingml/2006/main">
            <a:r>
              <a:t>- Projet local RH Agent: README.md et RAPPORT_PIPELINE_PROJET.md</a:t>
            </a:r>
          </a:p>
          <a:p xmlns:a="http://schemas.openxmlformats.org/drawingml/2006/main">
            <a:r>
              <a:t>- backend/agents/graph.py et backend/agents/nodes/*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mot clé ici, c'est la logique en deux phases. Le système ne lance pas une analyse lourde sur tous les CV. Il commence par un tri large, puis il réserve l'analyse détaillée aux profils qui méritent davantage d'attention.</a:t>
            </a:r>
          </a:p>
          <a:p xmlns:a="http://schemas.openxmlformats.org/drawingml/2006/main">
            <a:r>
              <a:t/>
            </a:r>
          </a:p>
          <a:p xmlns:a="http://schemas.openxmlformats.org/drawingml/2006/main">
            <a:r>
              <a:t>[Sources]</a:t>
            </a:r>
          </a:p>
          <a:p xmlns:a="http://schemas.openxmlformats.org/drawingml/2006/main">
            <a:r>
              <a:t>- backend/api/routes/analysis.py</a:t>
            </a:r>
          </a:p>
          <a:p xmlns:a="http://schemas.openxmlformats.org/drawingml/2006/main">
            <a:r>
              <a:t>- backend/services/rag.py et backend/services/section_extractor.py</a:t>
            </a:r>
          </a:p>
          <a:p xmlns:a="http://schemas.openxmlformats.org/drawingml/2006/main">
            <a:r>
              <a:t>- backend/agents/graph.py et backend/agents/nodes/*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slide présente la stack de manière lisible. On peut préciser que Docker Compose permet de lancer l'ensemble rapidement. On peut aussi rappeler que le backend centralise toute la logique métier, tandis que le frontend sert surtout à piloter l'expérience utilisateur.</a:t>
            </a:r>
          </a:p>
          <a:p xmlns:a="http://schemas.openxmlformats.org/drawingml/2006/main">
            <a:r>
              <a:t/>
            </a:r>
          </a:p>
          <a:p xmlns:a="http://schemas.openxmlformats.org/drawingml/2006/main">
            <a:r>
              <a:t>[Sources]</a:t>
            </a:r>
          </a:p>
          <a:p xmlns:a="http://schemas.openxmlformats.org/drawingml/2006/main">
            <a:r>
              <a:t>- backend/main.py, backend/config.py, backend/models/database.py</a:t>
            </a:r>
          </a:p>
          <a:p xmlns:a="http://schemas.openxmlformats.org/drawingml/2006/main">
            <a:r>
              <a:t>- docker-compose.yml, backend/Dockerfile, frontend/Dockerfile</a:t>
            </a:r>
          </a:p>
          <a:p xmlns:a="http://schemas.openxmlformats.org/drawingml/2006/main">
            <a:r>
              <a:t>- frontend/src/pages/Upload.jsx, Analyses.jsx, Report.jsx, Jobs.jsx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faut montrer ici que l'architecture est modulaire. Chaque composant a une responsabilité précise. Cela rend le projet plus maintenable et plus facile à faire évoluer.</a:t>
            </a:r>
          </a:p>
          <a:p xmlns:a="http://schemas.openxmlformats.org/drawingml/2006/main">
            <a:r>
              <a:t/>
            </a:r>
          </a:p>
          <a:p xmlns:a="http://schemas.openxmlformats.org/drawingml/2006/main">
            <a:r>
              <a:t>[Sources]</a:t>
            </a:r>
          </a:p>
          <a:p xmlns:a="http://schemas.openxmlformats.org/drawingml/2006/main">
            <a:r>
              <a:t>- backend/main.py, backend/config.py, backend/models/database.py</a:t>
            </a:r>
          </a:p>
          <a:p xmlns:a="http://schemas.openxmlformats.org/drawingml/2006/main">
            <a:r>
              <a:t>- backend/api/routes/analysis.py</a:t>
            </a:r>
          </a:p>
          <a:p xmlns:a="http://schemas.openxmlformats.org/drawingml/2006/main">
            <a:r>
              <a:t>- backend/services/rag.py et backend/services/section_extractor.py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slide est utile pour montrer que le produit n'est pas seulement un moteur technique. C'est aussi une interface exploitable. Le parcours est guidé et suit une logique métier très claire.</a:t>
            </a:r>
          </a:p>
          <a:p xmlns:a="http://schemas.openxmlformats.org/drawingml/2006/main">
            <a:r>
              <a:t/>
            </a:r>
          </a:p>
          <a:p xmlns:a="http://schemas.openxmlformats.org/drawingml/2006/main">
            <a:r>
              <a:t>[Sources]</a:t>
            </a:r>
          </a:p>
          <a:p xmlns:a="http://schemas.openxmlformats.org/drawingml/2006/main">
            <a:r>
              <a:t>- frontend/src/pages/Upload.jsx, Analyses.jsx, Report.jsx, Jobs.jsx</a:t>
            </a:r>
          </a:p>
          <a:p xmlns:a="http://schemas.openxmlformats.org/drawingml/2006/main">
            <a:r>
              <a:t>- backend/api/routes/analysis.py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point important est que le projet ne fait pas un matching naïf mot à mot. Il reformule et structure d'abord les documents, puis calcule la proximité par section. Cela donne un tri plus pertinent qu'une simple recherche textuelle.</a:t>
            </a:r>
          </a:p>
          <a:p xmlns:a="http://schemas.openxmlformats.org/drawingml/2006/main">
            <a:r>
              <a:t/>
            </a:r>
          </a:p>
          <a:p xmlns:a="http://schemas.openxmlformats.org/drawingml/2006/main">
            <a:r>
              <a:t>[Sources]</a:t>
            </a:r>
          </a:p>
          <a:p xmlns:a="http://schemas.openxmlformats.org/drawingml/2006/main">
            <a:r>
              <a:t>- backend/services/rag.py et backend/services/section_extractor.py</a:t>
            </a:r>
          </a:p>
          <a:p xmlns:a="http://schemas.openxmlformats.org/drawingml/2006/main">
            <a:r>
              <a:t>- backend/api/routes/analysis.py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slide décrit le cœur intelligent du projet. LangGraph agit comme un orchestrateur. Il garantit l'ordre des étapes, le partage d'état et la possibilité de relancer certaines phases si la validation détecte un problème.</a:t>
            </a:r>
          </a:p>
          <a:p xmlns:a="http://schemas.openxmlformats.org/drawingml/2006/main">
            <a:r>
              <a:t/>
            </a:r>
          </a:p>
          <a:p xmlns:a="http://schemas.openxmlformats.org/drawingml/2006/main">
            <a:r>
              <a:t>[Sources]</a:t>
            </a:r>
          </a:p>
          <a:p xmlns:a="http://schemas.openxmlformats.org/drawingml/2006/main">
            <a:r>
              <a:t>- backend/agents/graph.py et backend/agents/nodes/*</a:t>
            </a:r>
          </a:p>
          <a:p xmlns:a="http://schemas.openxmlformats.org/drawingml/2006/main">
            <a:r>
              <a:t>- backend/api/routes/analysis.py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Ici, on peut expliquer que la pondération 40, 30, 20, 10 correspond à une logique métier explicite. On peut aussi rappeler que, dans le code, chaque note finale mélange 70 pour cent de score LLM et 30 pour cent de score RAG avant de calculer le score global.</a:t>
            </a:r>
          </a:p>
          <a:p xmlns:a="http://schemas.openxmlformats.org/drawingml/2006/main">
            <a:r>
              <a:t/>
            </a:r>
          </a:p>
          <a:p xmlns:a="http://schemas.openxmlformats.org/drawingml/2006/main">
            <a:r>
              <a:t>[Sources]</a:t>
            </a:r>
          </a:p>
          <a:p xmlns:a="http://schemas.openxmlformats.org/drawingml/2006/main">
            <a:r>
              <a:t>- backend/services/rag.py et backend/services/section_extractor.py</a:t>
            </a:r>
          </a:p>
          <a:p xmlns:a="http://schemas.openxmlformats.org/drawingml/2006/main">
            <a:r>
              <a:t>- backend/agents/graph.py et backend/agents/nodes/*</a:t>
            </a:r>
          </a:p>
          <a:p xmlns:a="http://schemas.openxmlformats.org/drawingml/2006/main">
            <a:r>
              <a:t>- backend/api/routes/analysis.py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slide permet de montrer la valeur perçue par l'utilisateur. Le système produit des sorties directement utiles dans un contexte RH réel, pas seulement des variables techniques.</a:t>
            </a:r>
          </a:p>
          <a:p xmlns:a="http://schemas.openxmlformats.org/drawingml/2006/main">
            <a:r>
              <a:t/>
            </a:r>
          </a:p>
          <a:p xmlns:a="http://schemas.openxmlformats.org/drawingml/2006/main">
            <a:r>
              <a:t>[Sources]</a:t>
            </a:r>
          </a:p>
          <a:p xmlns:a="http://schemas.openxmlformats.org/drawingml/2006/main">
            <a:r>
              <a:t>- backend/api/routes/analysis.py</a:t>
            </a:r>
          </a:p>
          <a:p xmlns:a="http://schemas.openxmlformats.org/drawingml/2006/main">
            <a:r>
              <a:t>- frontend/src/pages/Upload.jsx, Analyses.jsx, Report.jsx, Jobs.jsx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Pour terminer, il faut insister sur un message équilibré. Le projet est utile et crédible, mais il ne supprime pas la responsabilité humaine. Sa vraie force est d'agir comme un copilote RH explicable et industrialisable.</a:t>
            </a:r>
          </a:p>
          <a:p xmlns:a="http://schemas.openxmlformats.org/drawingml/2006/main">
            <a:r>
              <a:t/>
            </a:r>
          </a:p>
          <a:p xmlns:a="http://schemas.openxmlformats.org/drawingml/2006/main">
            <a:r>
              <a:t>[Sources]</a:t>
            </a:r>
          </a:p>
          <a:p xmlns:a="http://schemas.openxmlformats.org/drawingml/2006/main">
            <a:r>
              <a:t>- Projet local RH Agent: README.md et RAPPORT_PIPELINE_PROJET.md</a:t>
            </a:r>
          </a:p>
          <a:p xmlns:a="http://schemas.openxmlformats.org/drawingml/2006/main">
            <a:r>
              <a:t>- backend/agents/graph.py et backend/agents/nodes/*</a:t>
            </a:r>
          </a:p>
          <a:p xmlns:a="http://schemas.openxmlformats.org/drawingml/2006/main">
            <a:r>
              <a:t>- docker-compose.yml, backend/Dockerfile, frontend/Dockerfile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915114d935b455c"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BC94FBD0-D62D-4006-930D-AABE31EA22D6}"/>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AFA7BC5E-1F62-42E9-A0BA-6F8C31C6F7C1}"/>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BBFA0A2D-D55E-4320-9645-66318862F5EA}"/>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9EED20B4-19C4-47CB-BECF-2F8759EEA84D}"/>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CCBF359A-7211-4C5E-8008-91484FA439A7}"/>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c2252c25ac7d4634" /><Relationship Type="http://schemas.openxmlformats.org/officeDocument/2006/relationships/slideLayout" Target="/ppt/slideLayouts/slideLayout2.xml" Id="R09748f32f01645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AA644BC7-9ABA-40CB-8CC9-6954EFBA7B6C}"/>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748f32f01645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33a7187f780d46bc" /><Relationship Type="http://schemas.openxmlformats.org/officeDocument/2006/relationships/notesSlide" Target="/ppt/notesSlides/notesSlide1.xml" Id="R942ca7da3bd241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4483d7017ba4675" /><Relationship Type="http://schemas.openxmlformats.org/officeDocument/2006/relationships/notesSlide" Target="/ppt/notesSlides/notesSlide2.xml" Id="R71ea65c9e1f740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e80dbd6703b48a9" /><Relationship Type="http://schemas.openxmlformats.org/officeDocument/2006/relationships/notesSlide" Target="/ppt/notesSlides/notesSlide3.xml" Id="R732a1aecdb2848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58a830cb92a412e" /><Relationship Type="http://schemas.openxmlformats.org/officeDocument/2006/relationships/notesSlide" Target="/ppt/notesSlides/notesSlide4.xml" Id="Re2f3e130543e4a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0203c1777a74019" /><Relationship Type="http://schemas.openxmlformats.org/officeDocument/2006/relationships/notesSlide" Target="/ppt/notesSlides/notesSlide5.xml" Id="R9ad3a4b570af4d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ca98fb23bde49ff" /><Relationship Type="http://schemas.openxmlformats.org/officeDocument/2006/relationships/notesSlide" Target="/ppt/notesSlides/notesSlide6.xml" Id="R9017dcd6516d48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8c57d43f57f44e9" /><Relationship Type="http://schemas.openxmlformats.org/officeDocument/2006/relationships/notesSlide" Target="/ppt/notesSlides/notesSlide7.xml" Id="R5c5a822f215b47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adb8f81e4344cba" /><Relationship Type="http://schemas.openxmlformats.org/officeDocument/2006/relationships/notesSlide" Target="/ppt/notesSlides/notesSlide8.xml" Id="R3b7811bce98d4b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7ed07cb5abd40ce" /><Relationship Type="http://schemas.openxmlformats.org/officeDocument/2006/relationships/notesSlide" Target="/ppt/notesSlides/notesSlide9.xml" Id="Rfbf0291a16d940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49c08d282834a3a" /><Relationship Type="http://schemas.openxmlformats.org/officeDocument/2006/relationships/notesSlide" Target="/ppt/notesSlides/notesSlide10.xml" Id="R06c50a05497a49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6c1e35aeaaf14997" /><Relationship Type="http://schemas.openxmlformats.org/officeDocument/2006/relationships/notesSlide" Target="/ppt/notesSlides/notesSlide11.xml" Id="Ra582dba36696405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d46d8c2b251d4bcf" /><Relationship Type="http://schemas.openxmlformats.org/officeDocument/2006/relationships/notesSlide" Target="/ppt/notesSlides/notesSlide12.xml" Id="Rbcaa9e9aa70d4d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816202b8dae418f" /><Relationship Type="http://schemas.openxmlformats.org/officeDocument/2006/relationships/notesSlide" Target="/ppt/notesSlides/notesSlide13.xml" Id="Re302d6bd1096488c" /></Relationships>
</file>

<file path=ppt/slides/slide1.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CBF359A-7211-4C5E-8008-91484FA439A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70DB3ADC-91DB-4335-9D6D-AD9DB1FB82EB}"/>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CE9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09ABD22-9E73-4C60-BAD2-B3D26F60BC1A}"/>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6FBF3">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D2B8D63-DCD4-4721-B99A-6E90E261A500}"/>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FE8D7">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F49BFE5-7305-4CFB-8D2C-13C57497EBC9}"/>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5717E2E0-C11A-4225-8B33-9B55BED6459A}"/>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29888DE3-6728-43F6-AA23-2DC77520D82A}"/>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61F5E9DE-76AE-4A09-AC65-6E6F523967DD}"/>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44FA8C0-AF93-4771-883E-F8A5C87595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0000"/>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736D9FD3-2C06-4500-82FB-326FF253E851}"/>
              </a:ext>
            </a:extLst>
          </p:cNvPr>
          <p:cNvSpPr>
            <a:spLocks xmlns:a="http://schemas.openxmlformats.org/drawingml/2006/main" noGrp="1"/>
          </p:cNvSpPr>
          <p:nvPr/>
        </p:nvSpPr>
        <p:spPr>
          <a:xfrm xmlns:a="http://schemas.openxmlformats.org/drawingml/2006/main">
            <a:off x="685800" y="990600"/>
            <a:ext cx="66675" cy="40957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8D064F27-4432-4077-AEB4-FE24CCD6F930}"/>
              </a:ext>
            </a:extLst>
          </p:cNvPr>
          <p:cNvSpPr>
            <a:spLocks xmlns:a="http://schemas.openxmlformats.org/drawingml/2006/main" noGrp="1"/>
          </p:cNvSpPr>
          <p:nvPr/>
        </p:nvSpPr>
        <p:spPr>
          <a:xfrm xmlns:a="http://schemas.openxmlformats.org/drawingml/2006/main">
            <a:off x="914400" y="97155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PROJET RH AGENT</a:t>
            </a:r>
          </a:p>
        </p:txBody>
      </p:sp>
      <p:sp>
        <p:nvSpPr>
          <p:cNvPr id="12" name="">
            <a:extLst xmlns:a="http://schemas.openxmlformats.org/drawingml/2006/main">
              <a:ext uri="{FF2B5EF4-FFF2-40B4-BE49-F238E27FC236}">
                <a16:creationId xmlns:a16="http://schemas.microsoft.com/office/drawing/2014/main" id="{FCC63213-D684-4E6F-9BC0-A9CFA3FC5F18}"/>
              </a:ext>
            </a:extLst>
          </p:cNvPr>
          <p:cNvSpPr>
            <a:spLocks xmlns:a="http://schemas.openxmlformats.org/drawingml/2006/main" noGrp="1"/>
          </p:cNvSpPr>
          <p:nvPr/>
        </p:nvSpPr>
        <p:spPr>
          <a:xfrm xmlns:a="http://schemas.openxmlformats.org/drawingml/2006/main">
            <a:off x="876300" y="1371600"/>
            <a:ext cx="7429500" cy="1733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1">
                <a:solidFill>
                  <a:srgbClr val="0B1320"/>
                </a:solidFill>
              </a:defRPr>
            </a:pPr>
            <a:r>
              <a:rPr sz="3750" b="1">
                <a:solidFill>
                  <a:srgbClr val="0B1320"/>
                </a:solidFill>
              </a:rPr>
              <a:t>Agent RH IA</a:t>
            </a:r>
          </a:p>
          <a:p xmlns:a="http://schemas.openxmlformats.org/drawingml/2006/main">
            <a:pPr algn="l">
              <a:defRPr sz="3750" b="1">
                <a:solidFill>
                  <a:srgbClr val="0B1320"/>
                </a:solidFill>
              </a:defRPr>
            </a:pPr>
            <a:r>
              <a:rPr sz="3750" b="1">
                <a:solidFill>
                  <a:srgbClr val="0B1320"/>
                </a:solidFill>
              </a:rPr>
              <a:t>Présentation détaillée du projet</a:t>
            </a:r>
          </a:p>
        </p:txBody>
      </p:sp>
      <p:sp>
        <p:nvSpPr>
          <p:cNvPr id="13" name="">
            <a:extLst xmlns:a="http://schemas.openxmlformats.org/drawingml/2006/main">
              <a:ext uri="{FF2B5EF4-FFF2-40B4-BE49-F238E27FC236}">
                <a16:creationId xmlns:a16="http://schemas.microsoft.com/office/drawing/2014/main" id="{6F69366C-3EA0-4B16-BC82-28DC0A74B16E}"/>
              </a:ext>
            </a:extLst>
          </p:cNvPr>
          <p:cNvSpPr>
            <a:spLocks xmlns:a="http://schemas.openxmlformats.org/drawingml/2006/main" noGrp="1"/>
          </p:cNvSpPr>
          <p:nvPr/>
        </p:nvSpPr>
        <p:spPr>
          <a:xfrm xmlns:a="http://schemas.openxmlformats.org/drawingml/2006/main">
            <a:off x="914400" y="3162300"/>
            <a:ext cx="666750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334155"/>
                </a:solidFill>
              </a:defRPr>
            </a:pPr>
            <a:r>
              <a:rPr sz="1575" b="0">
                <a:solidFill>
                  <a:srgbClr val="334155"/>
                </a:solidFill>
              </a:rPr>
              <a:t>Une plateforme qui aide le recruteur à trier des CV, sélectionner les meilleurs profils et générer des rapports explicatifs à partir d'une fiche de poste.</a:t>
            </a:r>
          </a:p>
        </p:txBody>
      </p:sp>
      <p:sp>
        <p:nvSpPr>
          <p:cNvPr id="14" name="">
            <a:extLst xmlns:a="http://schemas.openxmlformats.org/drawingml/2006/main">
              <a:ext uri="{FF2B5EF4-FFF2-40B4-BE49-F238E27FC236}">
                <a16:creationId xmlns:a16="http://schemas.microsoft.com/office/drawing/2014/main" id="{5EE22A51-8639-41CC-B743-05CAA23FD026}"/>
              </a:ext>
            </a:extLst>
          </p:cNvPr>
          <p:cNvSpPr>
            <a:spLocks xmlns:a="http://schemas.openxmlformats.org/drawingml/2006/main" noGrp="1"/>
          </p:cNvSpPr>
          <p:nvPr/>
        </p:nvSpPr>
        <p:spPr>
          <a:xfrm xmlns:a="http://schemas.openxmlformats.org/drawingml/2006/main">
            <a:off x="914400" y="4476750"/>
            <a:ext cx="4000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1430">
            <a:solidFill>
              <a:srgbClr val="D7E3F3"/>
            </a:solidFill>
            <a:prstDash val="solid"/>
          </a:ln>
        </p:spPr>
      </p:sp>
      <p:sp>
        <p:nvSpPr>
          <p:cNvPr id="15" name="">
            <a:extLst xmlns:a="http://schemas.openxmlformats.org/drawingml/2006/main">
              <a:ext uri="{FF2B5EF4-FFF2-40B4-BE49-F238E27FC236}">
                <a16:creationId xmlns:a16="http://schemas.microsoft.com/office/drawing/2014/main" id="{C321146B-7F39-4B9E-9586-D0B9E7A3F4CF}"/>
              </a:ext>
            </a:extLst>
          </p:cNvPr>
          <p:cNvSpPr>
            <a:spLocks xmlns:a="http://schemas.openxmlformats.org/drawingml/2006/main" noGrp="1"/>
          </p:cNvSpPr>
          <p:nvPr/>
        </p:nvSpPr>
        <p:spPr>
          <a:xfrm xmlns:a="http://schemas.openxmlformats.org/drawingml/2006/main">
            <a:off x="1162050" y="4695825"/>
            <a:ext cx="35433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B1320"/>
                </a:solidFill>
              </a:defRPr>
            </a:pPr>
            <a:r>
              <a:rPr sz="1800" b="1">
                <a:solidFill>
                  <a:srgbClr val="0B1320"/>
                </a:solidFill>
              </a:rPr>
              <a:t>Version 10 min +</a:t>
            </a:r>
          </a:p>
        </p:txBody>
      </p:sp>
      <p:sp>
        <p:nvSpPr>
          <p:cNvPr id="16" name="">
            <a:extLst xmlns:a="http://schemas.openxmlformats.org/drawingml/2006/main">
              <a:ext uri="{FF2B5EF4-FFF2-40B4-BE49-F238E27FC236}">
                <a16:creationId xmlns:a16="http://schemas.microsoft.com/office/drawing/2014/main" id="{FDCC88C6-C929-4700-A642-52FF8669D9CB}"/>
              </a:ext>
            </a:extLst>
          </p:cNvPr>
          <p:cNvSpPr>
            <a:spLocks xmlns:a="http://schemas.openxmlformats.org/drawingml/2006/main" noGrp="1"/>
          </p:cNvSpPr>
          <p:nvPr/>
        </p:nvSpPr>
        <p:spPr>
          <a:xfrm xmlns:a="http://schemas.openxmlformats.org/drawingml/2006/main">
            <a:off x="8763000" y="1162050"/>
            <a:ext cx="2095500" cy="2095500"/>
          </a:xfrm>
          <a:prstGeom xmlns:a="http://schemas.openxmlformats.org/drawingml/2006/main" prst="roundRect">
            <a:avLst>
              <a:gd name="adj" fmla="val 3636"/>
            </a:avLst>
          </a:prstGeom>
          <a:solidFill xmlns:a="http://schemas.openxmlformats.org/drawingml/2006/main">
            <a:srgbClr val="FFFFFF">
              <a:alpha val="65882"/>
            </a:srgbClr>
          </a:solidFill>
          <a:ln xmlns:a="http://schemas.openxmlformats.org/drawingml/2006/main" w="11430">
            <a:solidFill>
              <a:srgbClr val="DCE6F6"/>
            </a:solidFill>
            <a:prstDash val="solid"/>
          </a:ln>
        </p:spPr>
      </p:sp>
      <p:sp>
        <p:nvSpPr>
          <p:cNvPr id="17" name="">
            <a:extLst xmlns:a="http://schemas.openxmlformats.org/drawingml/2006/main">
              <a:ext uri="{FF2B5EF4-FFF2-40B4-BE49-F238E27FC236}">
                <a16:creationId xmlns:a16="http://schemas.microsoft.com/office/drawing/2014/main" id="{D7B80BDF-20D1-4C3F-8F25-B663E8BB20AE}"/>
              </a:ext>
            </a:extLst>
          </p:cNvPr>
          <p:cNvSpPr>
            <a:spLocks xmlns:a="http://schemas.openxmlformats.org/drawingml/2006/main" noGrp="1"/>
          </p:cNvSpPr>
          <p:nvPr/>
        </p:nvSpPr>
        <p:spPr>
          <a:xfrm xmlns:a="http://schemas.openxmlformats.org/drawingml/2006/main">
            <a:off x="9258300" y="1466850"/>
            <a:ext cx="1143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1747A6"/>
                </a:solidFill>
              </a:defRPr>
            </a:pPr>
            <a:r>
              <a:rPr sz="1950" b="1">
                <a:solidFill>
                  <a:srgbClr val="1747A6"/>
                </a:solidFill>
              </a:rPr>
              <a:t>2 phases</a:t>
            </a:r>
          </a:p>
        </p:txBody>
      </p:sp>
      <p:sp>
        <p:nvSpPr>
          <p:cNvPr id="18" name="">
            <a:extLst xmlns:a="http://schemas.openxmlformats.org/drawingml/2006/main">
              <a:ext uri="{FF2B5EF4-FFF2-40B4-BE49-F238E27FC236}">
                <a16:creationId xmlns:a16="http://schemas.microsoft.com/office/drawing/2014/main" id="{8B9531FA-772F-470B-91EC-29B4DADAA44A}"/>
              </a:ext>
            </a:extLst>
          </p:cNvPr>
          <p:cNvSpPr>
            <a:spLocks xmlns:a="http://schemas.openxmlformats.org/drawingml/2006/main" noGrp="1"/>
          </p:cNvSpPr>
          <p:nvPr/>
        </p:nvSpPr>
        <p:spPr>
          <a:xfrm xmlns:a="http://schemas.openxmlformats.org/drawingml/2006/main">
            <a:off x="9144000" y="2019300"/>
            <a:ext cx="13906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334155"/>
                </a:solidFill>
              </a:defRPr>
            </a:pPr>
            <a:r>
              <a:rPr sz="1200" b="0">
                <a:solidFill>
                  <a:srgbClr val="334155"/>
                </a:solidFill>
              </a:rPr>
              <a:t>RAG pour classer</a:t>
            </a:r>
          </a:p>
          <a:p xmlns:a="http://schemas.openxmlformats.org/drawingml/2006/main">
            <a:pPr algn="ctr">
              <a:defRPr sz="1200" b="0">
                <a:solidFill>
                  <a:srgbClr val="334155"/>
                </a:solidFill>
              </a:defRPr>
            </a:pPr>
            <a:r>
              <a:rPr sz="1200" b="0">
                <a:solidFill>
                  <a:srgbClr val="334155"/>
                </a:solidFill>
              </a:rPr>
              <a:t>LangGraph pour expliquer</a:t>
            </a:r>
          </a:p>
        </p:txBody>
      </p:sp>
    </p:spTree>
    <p:extLst>
      <p:ext uri="{BB962C8B-B14F-4D97-AF65-F5344CB8AC3E}">
        <p14:creationId xmlns:p14="http://schemas.microsoft.com/office/powerpoint/2010/main" val="802977143"/>
      </p:ext>
    </p:extLst>
  </p:cSld>
</p:sld>
</file>

<file path=ppt/slides/slide2.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CBF359A-7211-4C5E-8008-91484FA439A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582942D7-B8E9-40DC-A875-59769CB2B65C}"/>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7E7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7064102-DBC8-4EDD-BDC0-58028F8BE0ED}"/>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AFBF0">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3D59898-B726-48BA-97E1-62F0691DA332}"/>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DE4D9">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AE38EDA8-F286-45A2-A6B1-24D24416691A}"/>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1FEEBBF9-5234-405B-BDAF-03F8FE7D9FE8}"/>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A05C2609-5013-4D94-A637-CEAFD71278AC}"/>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C3156A03-3AEA-4DEB-8EA0-8E1B8B56D208}"/>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BC406D8B-F886-49FA-8972-0AA1B19D201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5882"/>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12120A4C-3C91-4902-9528-0B173CE5D13D}"/>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01. PLAN</a:t>
            </a:r>
          </a:p>
        </p:txBody>
      </p:sp>
      <p:sp>
        <p:nvSpPr>
          <p:cNvPr id="11" name="">
            <a:extLst xmlns:a="http://schemas.openxmlformats.org/drawingml/2006/main">
              <a:ext uri="{FF2B5EF4-FFF2-40B4-BE49-F238E27FC236}">
                <a16:creationId xmlns:a16="http://schemas.microsoft.com/office/drawing/2014/main" id="{55EA5129-988F-485B-A9E7-40541BEEFB10}"/>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02 / 13</a:t>
            </a:r>
          </a:p>
        </p:txBody>
      </p:sp>
      <p:sp>
        <p:nvSpPr>
          <p:cNvPr id="12" name="">
            <a:extLst xmlns:a="http://schemas.openxmlformats.org/drawingml/2006/main">
              <a:ext uri="{FF2B5EF4-FFF2-40B4-BE49-F238E27FC236}">
                <a16:creationId xmlns:a16="http://schemas.microsoft.com/office/drawing/2014/main" id="{6C8A9A41-A6C0-40A0-9ADB-892EFF07969E}"/>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59DEA497-FAA0-4B2B-9622-5BFF30D73B9B}"/>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0A2F8F6B-8DC6-4478-9F39-DCB9EAF60210}"/>
              </a:ext>
            </a:extLst>
          </p:cNvPr>
          <p:cNvSpPr>
            <a:spLocks xmlns:a="http://schemas.openxmlformats.org/drawingml/2006/main" noGrp="1"/>
          </p:cNvSpPr>
          <p:nvPr/>
        </p:nvSpPr>
        <p:spPr>
          <a:xfrm xmlns:a="http://schemas.openxmlformats.org/drawingml/2006/main">
            <a:off x="685800" y="876300"/>
            <a:ext cx="73342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Plan de la présentation</a:t>
            </a:r>
          </a:p>
        </p:txBody>
      </p:sp>
      <p:sp>
        <p:nvSpPr>
          <p:cNvPr id="15" name="">
            <a:extLst xmlns:a="http://schemas.openxmlformats.org/drawingml/2006/main">
              <a:ext uri="{FF2B5EF4-FFF2-40B4-BE49-F238E27FC236}">
                <a16:creationId xmlns:a16="http://schemas.microsoft.com/office/drawing/2014/main" id="{D0B8F9A5-1BA3-43FB-9611-1BEF49CAEEA4}"/>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Je vais présenter le projet en cinq parties : le besoin, la solution, l'architecture, le fonctionnement et la valeur produite.</a:t>
            </a:r>
          </a:p>
        </p:txBody>
      </p:sp>
      <p:sp>
        <p:nvSpPr>
          <p:cNvPr id="16" name="">
            <a:extLst xmlns:a="http://schemas.openxmlformats.org/drawingml/2006/main">
              <a:ext uri="{FF2B5EF4-FFF2-40B4-BE49-F238E27FC236}">
                <a16:creationId xmlns:a16="http://schemas.microsoft.com/office/drawing/2014/main" id="{9DB8884D-C358-44B0-9204-A70D0E5EDCB0}"/>
              </a:ext>
            </a:extLst>
          </p:cNvPr>
          <p:cNvSpPr>
            <a:spLocks xmlns:a="http://schemas.openxmlformats.org/drawingml/2006/main" noGrp="1"/>
          </p:cNvSpPr>
          <p:nvPr/>
        </p:nvSpPr>
        <p:spPr>
          <a:xfrm xmlns:a="http://schemas.openxmlformats.org/drawingml/2006/main">
            <a:off x="8001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6FFD6963-FEB7-4AA4-A76B-30DDBC9CCF98}"/>
              </a:ext>
            </a:extLst>
          </p:cNvPr>
          <p:cNvSpPr>
            <a:spLocks xmlns:a="http://schemas.openxmlformats.org/drawingml/2006/main" noGrp="1"/>
          </p:cNvSpPr>
          <p:nvPr/>
        </p:nvSpPr>
        <p:spPr>
          <a:xfrm xmlns:a="http://schemas.openxmlformats.org/drawingml/2006/main">
            <a:off x="800100" y="3676650"/>
            <a:ext cx="76200" cy="20383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CBBE5A43-8953-452D-A0CB-D6044D7E74D4}"/>
              </a:ext>
            </a:extLst>
          </p:cNvPr>
          <p:cNvSpPr>
            <a:spLocks xmlns:a="http://schemas.openxmlformats.org/drawingml/2006/main" noGrp="1"/>
          </p:cNvSpPr>
          <p:nvPr/>
        </p:nvSpPr>
        <p:spPr>
          <a:xfrm xmlns:a="http://schemas.openxmlformats.org/drawingml/2006/main">
            <a:off x="10096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19" name="">
            <a:extLst xmlns:a="http://schemas.openxmlformats.org/drawingml/2006/main">
              <a:ext uri="{FF2B5EF4-FFF2-40B4-BE49-F238E27FC236}">
                <a16:creationId xmlns:a16="http://schemas.microsoft.com/office/drawing/2014/main" id="{7C55B8F5-DEB6-4E22-A921-6BD603DB790E}"/>
              </a:ext>
            </a:extLst>
          </p:cNvPr>
          <p:cNvSpPr>
            <a:spLocks xmlns:a="http://schemas.openxmlformats.org/drawingml/2006/main" noGrp="1"/>
          </p:cNvSpPr>
          <p:nvPr/>
        </p:nvSpPr>
        <p:spPr>
          <a:xfrm xmlns:a="http://schemas.openxmlformats.org/drawingml/2006/main">
            <a:off x="1162050" y="4181475"/>
            <a:ext cx="57150" cy="1143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8DB2CDE-8CA3-4423-B52E-0E96CB830942}"/>
              </a:ext>
            </a:extLst>
          </p:cNvPr>
          <p:cNvSpPr>
            <a:spLocks xmlns:a="http://schemas.openxmlformats.org/drawingml/2006/main" noGrp="1"/>
          </p:cNvSpPr>
          <p:nvPr/>
        </p:nvSpPr>
        <p:spPr>
          <a:xfrm xmlns:a="http://schemas.openxmlformats.org/drawingml/2006/main">
            <a:off x="1247775" y="4105275"/>
            <a:ext cx="57150" cy="1905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8E06B1EB-6DC5-4939-B31E-A0A73CC69CF4}"/>
              </a:ext>
            </a:extLst>
          </p:cNvPr>
          <p:cNvSpPr>
            <a:spLocks xmlns:a="http://schemas.openxmlformats.org/drawingml/2006/main" noGrp="1"/>
          </p:cNvSpPr>
          <p:nvPr/>
        </p:nvSpPr>
        <p:spPr>
          <a:xfrm xmlns:a="http://schemas.openxmlformats.org/drawingml/2006/main">
            <a:off x="1333500" y="4038600"/>
            <a:ext cx="57150" cy="2571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CD3747DA-DAFE-4A4F-942F-D175C9395351}"/>
              </a:ext>
            </a:extLst>
          </p:cNvPr>
          <p:cNvSpPr>
            <a:spLocks xmlns:a="http://schemas.openxmlformats.org/drawingml/2006/main" noGrp="1"/>
          </p:cNvSpPr>
          <p:nvPr/>
        </p:nvSpPr>
        <p:spPr>
          <a:xfrm xmlns:a="http://schemas.openxmlformats.org/drawingml/2006/main">
            <a:off x="16383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Partie 1</a:t>
            </a:r>
          </a:p>
        </p:txBody>
      </p:sp>
      <p:sp>
        <p:nvSpPr>
          <p:cNvPr id="23" name="">
            <a:extLst xmlns:a="http://schemas.openxmlformats.org/drawingml/2006/main">
              <a:ext uri="{FF2B5EF4-FFF2-40B4-BE49-F238E27FC236}">
                <a16:creationId xmlns:a16="http://schemas.microsoft.com/office/drawing/2014/main" id="{AF67F449-3B95-4847-810E-AF04B929FE9B}"/>
              </a:ext>
            </a:extLst>
          </p:cNvPr>
          <p:cNvSpPr>
            <a:spLocks xmlns:a="http://schemas.openxmlformats.org/drawingml/2006/main" noGrp="1"/>
          </p:cNvSpPr>
          <p:nvPr/>
        </p:nvSpPr>
        <p:spPr>
          <a:xfrm xmlns:a="http://schemas.openxmlformats.org/drawingml/2006/main">
            <a:off x="10287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Pourquoi ce projet existe,</a:t>
            </a:r>
          </a:p>
          <a:p xmlns:a="http://schemas.openxmlformats.org/drawingml/2006/main">
            <a:pPr algn="l">
              <a:defRPr sz="1275" b="0">
                <a:solidFill>
                  <a:srgbClr val="0B1320"/>
                </a:solidFill>
              </a:defRPr>
            </a:pPr>
            <a:r>
              <a:rPr sz="1275" b="0">
                <a:solidFill>
                  <a:srgbClr val="0B1320"/>
                </a:solidFill>
              </a:rPr>
              <a:t>quel problème RH il cherche</a:t>
            </a:r>
          </a:p>
          <a:p xmlns:a="http://schemas.openxmlformats.org/drawingml/2006/main">
            <a:pPr algn="l">
              <a:defRPr sz="1275" b="0">
                <a:solidFill>
                  <a:srgbClr val="0B1320"/>
                </a:solidFill>
              </a:defRPr>
            </a:pPr>
            <a:r>
              <a:rPr sz="1275" b="0">
                <a:solidFill>
                  <a:srgbClr val="0B1320"/>
                </a:solidFill>
              </a:rPr>
              <a:t>à résoudre et quel objectif</a:t>
            </a:r>
          </a:p>
          <a:p xmlns:a="http://schemas.openxmlformats.org/drawingml/2006/main">
            <a:pPr algn="l">
              <a:defRPr sz="1275" b="0">
                <a:solidFill>
                  <a:srgbClr val="0B1320"/>
                </a:solidFill>
              </a:defRPr>
            </a:pPr>
            <a:r>
              <a:rPr sz="1275" b="0">
                <a:solidFill>
                  <a:srgbClr val="0B1320"/>
                </a:solidFill>
              </a:rPr>
              <a:t>il poursuit.</a:t>
            </a:r>
          </a:p>
        </p:txBody>
      </p:sp>
      <p:sp>
        <p:nvSpPr>
          <p:cNvPr id="24" name="">
            <a:extLst xmlns:a="http://schemas.openxmlformats.org/drawingml/2006/main">
              <a:ext uri="{FF2B5EF4-FFF2-40B4-BE49-F238E27FC236}">
                <a16:creationId xmlns:a16="http://schemas.microsoft.com/office/drawing/2014/main" id="{7700DBFC-3E0E-4481-926B-DF68E9FA7C66}"/>
              </a:ext>
            </a:extLst>
          </p:cNvPr>
          <p:cNvSpPr>
            <a:spLocks xmlns:a="http://schemas.openxmlformats.org/drawingml/2006/main" noGrp="1"/>
          </p:cNvSpPr>
          <p:nvPr/>
        </p:nvSpPr>
        <p:spPr>
          <a:xfrm xmlns:a="http://schemas.openxmlformats.org/drawingml/2006/main">
            <a:off x="44069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25" name="">
            <a:extLst xmlns:a="http://schemas.openxmlformats.org/drawingml/2006/main">
              <a:ext uri="{FF2B5EF4-FFF2-40B4-BE49-F238E27FC236}">
                <a16:creationId xmlns:a16="http://schemas.microsoft.com/office/drawing/2014/main" id="{89DECF6D-B520-4D71-917B-F5923444F0E5}"/>
              </a:ext>
            </a:extLst>
          </p:cNvPr>
          <p:cNvSpPr>
            <a:spLocks xmlns:a="http://schemas.openxmlformats.org/drawingml/2006/main" noGrp="1"/>
          </p:cNvSpPr>
          <p:nvPr/>
        </p:nvSpPr>
        <p:spPr>
          <a:xfrm xmlns:a="http://schemas.openxmlformats.org/drawingml/2006/main">
            <a:off x="4406900" y="3676650"/>
            <a:ext cx="76200" cy="2038350"/>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74FCF9BC-2AF9-4D16-A3D6-C3FB05E941A8}"/>
              </a:ext>
            </a:extLst>
          </p:cNvPr>
          <p:cNvSpPr>
            <a:spLocks xmlns:a="http://schemas.openxmlformats.org/drawingml/2006/main" noGrp="1"/>
          </p:cNvSpPr>
          <p:nvPr/>
        </p:nvSpPr>
        <p:spPr>
          <a:xfrm xmlns:a="http://schemas.openxmlformats.org/drawingml/2006/main">
            <a:off x="46164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A5AF3487-F5BB-431E-9C2F-6B691B0817B3}"/>
              </a:ext>
            </a:extLst>
          </p:cNvPr>
          <p:cNvSpPr>
            <a:spLocks xmlns:a="http://schemas.openxmlformats.org/drawingml/2006/main" noGrp="1"/>
          </p:cNvSpPr>
          <p:nvPr/>
        </p:nvSpPr>
        <p:spPr>
          <a:xfrm xmlns:a="http://schemas.openxmlformats.org/drawingml/2006/main">
            <a:off x="4740275" y="4076700"/>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EE3D3DBD-A05C-40C5-8814-781E8F725073}"/>
              </a:ext>
            </a:extLst>
          </p:cNvPr>
          <p:cNvSpPr>
            <a:spLocks xmlns:a="http://schemas.openxmlformats.org/drawingml/2006/main" noGrp="1"/>
          </p:cNvSpPr>
          <p:nvPr/>
        </p:nvSpPr>
        <p:spPr>
          <a:xfrm xmlns:a="http://schemas.openxmlformats.org/drawingml/2006/main">
            <a:off x="4911725" y="4162425"/>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5CD222EB-D967-4262-A752-D73C1FAF45BF}"/>
              </a:ext>
            </a:extLst>
          </p:cNvPr>
          <p:cNvSpPr>
            <a:spLocks xmlns:a="http://schemas.openxmlformats.org/drawingml/2006/main" noGrp="1"/>
          </p:cNvSpPr>
          <p:nvPr/>
        </p:nvSpPr>
        <p:spPr>
          <a:xfrm xmlns:a="http://schemas.openxmlformats.org/drawingml/2006/main">
            <a:off x="4826000" y="4143375"/>
            <a:ext cx="180975" cy="28575"/>
          </a:xfrm>
          <a:prstGeom xmlns:a="http://schemas.openxmlformats.org/drawingml/2006/main" prst="rect">
            <a:avLst/>
          </a:prstGeom>
          <a:solidFill xmlns:a="http://schemas.openxmlformats.org/drawingml/2006/main">
            <a:srgbClr val="0B13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F929E577-6176-4953-9647-CE3FE577776F}"/>
              </a:ext>
            </a:extLst>
          </p:cNvPr>
          <p:cNvSpPr>
            <a:spLocks xmlns:a="http://schemas.openxmlformats.org/drawingml/2006/main" noGrp="1"/>
          </p:cNvSpPr>
          <p:nvPr/>
        </p:nvSpPr>
        <p:spPr>
          <a:xfrm xmlns:a="http://schemas.openxmlformats.org/drawingml/2006/main">
            <a:off x="52451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Partie 2</a:t>
            </a:r>
          </a:p>
        </p:txBody>
      </p:sp>
      <p:sp>
        <p:nvSpPr>
          <p:cNvPr id="31" name="">
            <a:extLst xmlns:a="http://schemas.openxmlformats.org/drawingml/2006/main">
              <a:ext uri="{FF2B5EF4-FFF2-40B4-BE49-F238E27FC236}">
                <a16:creationId xmlns:a16="http://schemas.microsoft.com/office/drawing/2014/main" id="{08EFD45B-4062-4832-8005-32CC8FBA4A24}"/>
              </a:ext>
            </a:extLst>
          </p:cNvPr>
          <p:cNvSpPr>
            <a:spLocks xmlns:a="http://schemas.openxmlformats.org/drawingml/2006/main" noGrp="1"/>
          </p:cNvSpPr>
          <p:nvPr/>
        </p:nvSpPr>
        <p:spPr>
          <a:xfrm xmlns:a="http://schemas.openxmlformats.org/drawingml/2006/main">
            <a:off x="46355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Comment la solution</a:t>
            </a:r>
          </a:p>
          <a:p xmlns:a="http://schemas.openxmlformats.org/drawingml/2006/main">
            <a:pPr algn="l">
              <a:defRPr sz="1275" b="0">
                <a:solidFill>
                  <a:srgbClr val="0B1320"/>
                </a:solidFill>
              </a:defRPr>
            </a:pPr>
            <a:r>
              <a:rPr sz="1275" b="0">
                <a:solidFill>
                  <a:srgbClr val="0B1320"/>
                </a:solidFill>
              </a:rPr>
              <a:t>fonctionne du point de vue</a:t>
            </a:r>
          </a:p>
          <a:p xmlns:a="http://schemas.openxmlformats.org/drawingml/2006/main">
            <a:pPr algn="l">
              <a:defRPr sz="1275" b="0">
                <a:solidFill>
                  <a:srgbClr val="0B1320"/>
                </a:solidFill>
              </a:defRPr>
            </a:pPr>
            <a:r>
              <a:rPr sz="1275" b="0">
                <a:solidFill>
                  <a:srgbClr val="0B1320"/>
                </a:solidFill>
              </a:rPr>
              <a:t>utilisateur et quelles</a:t>
            </a:r>
          </a:p>
          <a:p xmlns:a="http://schemas.openxmlformats.org/drawingml/2006/main">
            <a:pPr algn="l">
              <a:defRPr sz="1275" b="0">
                <a:solidFill>
                  <a:srgbClr val="0B1320"/>
                </a:solidFill>
              </a:defRPr>
            </a:pPr>
            <a:r>
              <a:rPr sz="1275" b="0">
                <a:solidFill>
                  <a:srgbClr val="0B1320"/>
                </a:solidFill>
              </a:rPr>
              <a:t>technologies sont utilisées.</a:t>
            </a:r>
          </a:p>
        </p:txBody>
      </p:sp>
      <p:sp>
        <p:nvSpPr>
          <p:cNvPr id="32" name="">
            <a:extLst xmlns:a="http://schemas.openxmlformats.org/drawingml/2006/main">
              <a:ext uri="{FF2B5EF4-FFF2-40B4-BE49-F238E27FC236}">
                <a16:creationId xmlns:a16="http://schemas.microsoft.com/office/drawing/2014/main" id="{F02B5256-9A70-4737-8649-0C24515DFD94}"/>
              </a:ext>
            </a:extLst>
          </p:cNvPr>
          <p:cNvSpPr>
            <a:spLocks xmlns:a="http://schemas.openxmlformats.org/drawingml/2006/main" noGrp="1"/>
          </p:cNvSpPr>
          <p:nvPr/>
        </p:nvSpPr>
        <p:spPr>
          <a:xfrm xmlns:a="http://schemas.openxmlformats.org/drawingml/2006/main">
            <a:off x="80137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33" name="">
            <a:extLst xmlns:a="http://schemas.openxmlformats.org/drawingml/2006/main">
              <a:ext uri="{FF2B5EF4-FFF2-40B4-BE49-F238E27FC236}">
                <a16:creationId xmlns:a16="http://schemas.microsoft.com/office/drawing/2014/main" id="{B280C246-5813-45A6-A837-4ECE4D8904FE}"/>
              </a:ext>
            </a:extLst>
          </p:cNvPr>
          <p:cNvSpPr>
            <a:spLocks xmlns:a="http://schemas.openxmlformats.org/drawingml/2006/main" noGrp="1"/>
          </p:cNvSpPr>
          <p:nvPr/>
        </p:nvSpPr>
        <p:spPr>
          <a:xfrm xmlns:a="http://schemas.openxmlformats.org/drawingml/2006/main">
            <a:off x="8013700" y="3676650"/>
            <a:ext cx="76200" cy="2038350"/>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97411852-46CC-4E8F-8DE4-1E02B83E4BEB}"/>
              </a:ext>
            </a:extLst>
          </p:cNvPr>
          <p:cNvSpPr>
            <a:spLocks xmlns:a="http://schemas.openxmlformats.org/drawingml/2006/main" noGrp="1"/>
          </p:cNvSpPr>
          <p:nvPr/>
        </p:nvSpPr>
        <p:spPr>
          <a:xfrm xmlns:a="http://schemas.openxmlformats.org/drawingml/2006/main">
            <a:off x="82232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35" name="">
            <a:extLst xmlns:a="http://schemas.openxmlformats.org/drawingml/2006/main">
              <a:ext uri="{FF2B5EF4-FFF2-40B4-BE49-F238E27FC236}">
                <a16:creationId xmlns:a16="http://schemas.microsoft.com/office/drawing/2014/main" id="{9296213A-6366-4256-8F5F-CC6842CE56AE}"/>
              </a:ext>
            </a:extLst>
          </p:cNvPr>
          <p:cNvSpPr>
            <a:spLocks xmlns:a="http://schemas.openxmlformats.org/drawingml/2006/main" noGrp="1"/>
          </p:cNvSpPr>
          <p:nvPr/>
        </p:nvSpPr>
        <p:spPr>
          <a:xfrm xmlns:a="http://schemas.openxmlformats.org/drawingml/2006/main">
            <a:off x="8347075" y="4048125"/>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2E99D6A1-02BB-4E4B-ADBF-3B535E64B4B4}"/>
              </a:ext>
            </a:extLst>
          </p:cNvPr>
          <p:cNvSpPr>
            <a:spLocks xmlns:a="http://schemas.openxmlformats.org/drawingml/2006/main" noGrp="1"/>
          </p:cNvSpPr>
          <p:nvPr/>
        </p:nvSpPr>
        <p:spPr>
          <a:xfrm xmlns:a="http://schemas.openxmlformats.org/drawingml/2006/main">
            <a:off x="8394700" y="4133850"/>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42F1D50A-8432-4EBD-B2B1-54F35DB54859}"/>
              </a:ext>
            </a:extLst>
          </p:cNvPr>
          <p:cNvSpPr>
            <a:spLocks xmlns:a="http://schemas.openxmlformats.org/drawingml/2006/main" noGrp="1"/>
          </p:cNvSpPr>
          <p:nvPr/>
        </p:nvSpPr>
        <p:spPr>
          <a:xfrm xmlns:a="http://schemas.openxmlformats.org/drawingml/2006/main">
            <a:off x="8442325" y="4219575"/>
            <a:ext cx="190500" cy="95250"/>
          </a:xfrm>
          <a:prstGeom xmlns:a="http://schemas.openxmlformats.org/drawingml/2006/main" prst="roundRect">
            <a:avLst>
              <a:gd name="adj" fmla="val 50000"/>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A287EC47-5B16-4B8D-86C1-7470C9B5EBF1}"/>
              </a:ext>
            </a:extLst>
          </p:cNvPr>
          <p:cNvSpPr>
            <a:spLocks xmlns:a="http://schemas.openxmlformats.org/drawingml/2006/main" noGrp="1"/>
          </p:cNvSpPr>
          <p:nvPr/>
        </p:nvSpPr>
        <p:spPr>
          <a:xfrm xmlns:a="http://schemas.openxmlformats.org/drawingml/2006/main">
            <a:off x="88519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Partie 3</a:t>
            </a:r>
          </a:p>
        </p:txBody>
      </p:sp>
      <p:sp>
        <p:nvSpPr>
          <p:cNvPr id="39" name="">
            <a:extLst xmlns:a="http://schemas.openxmlformats.org/drawingml/2006/main">
              <a:ext uri="{FF2B5EF4-FFF2-40B4-BE49-F238E27FC236}">
                <a16:creationId xmlns:a16="http://schemas.microsoft.com/office/drawing/2014/main" id="{E35A7264-81CF-4E14-9D1A-8599CB3F50EF}"/>
              </a:ext>
            </a:extLst>
          </p:cNvPr>
          <p:cNvSpPr>
            <a:spLocks xmlns:a="http://schemas.openxmlformats.org/drawingml/2006/main" noGrp="1"/>
          </p:cNvSpPr>
          <p:nvPr/>
        </p:nvSpPr>
        <p:spPr>
          <a:xfrm xmlns:a="http://schemas.openxmlformats.org/drawingml/2006/main">
            <a:off x="82423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Comment le système classe</a:t>
            </a:r>
          </a:p>
          <a:p xmlns:a="http://schemas.openxmlformats.org/drawingml/2006/main">
            <a:pPr algn="l">
              <a:defRPr sz="1275" b="0">
                <a:solidFill>
                  <a:srgbClr val="0B1320"/>
                </a:solidFill>
              </a:defRPr>
            </a:pPr>
            <a:r>
              <a:rPr sz="1275" b="0">
                <a:solidFill>
                  <a:srgbClr val="0B1320"/>
                </a:solidFill>
              </a:rPr>
              <a:t>les CV, calcule les scores</a:t>
            </a:r>
          </a:p>
          <a:p xmlns:a="http://schemas.openxmlformats.org/drawingml/2006/main">
            <a:pPr algn="l">
              <a:defRPr sz="1275" b="0">
                <a:solidFill>
                  <a:srgbClr val="0B1320"/>
                </a:solidFill>
              </a:defRPr>
            </a:pPr>
            <a:r>
              <a:rPr sz="1275" b="0">
                <a:solidFill>
                  <a:srgbClr val="0B1320"/>
                </a:solidFill>
              </a:rPr>
              <a:t>et génère un rapport final</a:t>
            </a:r>
          </a:p>
          <a:p xmlns:a="http://schemas.openxmlformats.org/drawingml/2006/main">
            <a:pPr algn="l">
              <a:defRPr sz="1275" b="0">
                <a:solidFill>
                  <a:srgbClr val="0B1320"/>
                </a:solidFill>
              </a:defRPr>
            </a:pPr>
            <a:r>
              <a:rPr sz="1275" b="0">
                <a:solidFill>
                  <a:srgbClr val="0B1320"/>
                </a:solidFill>
              </a:rPr>
              <a:t>explicable.</a:t>
            </a:r>
          </a:p>
        </p:txBody>
      </p:sp>
    </p:spTree>
    <p:extLst>
      <p:ext uri="{BB962C8B-B14F-4D97-AF65-F5344CB8AC3E}">
        <p14:creationId xmlns:p14="http://schemas.microsoft.com/office/powerpoint/2010/main" val="1334619938"/>
      </p:ext>
    </p:extLst>
  </p:cSld>
</p:sld>
</file>

<file path=ppt/slides/slide3.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CBF359A-7211-4C5E-8008-91484FA439A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E5141CB8-2D6C-404D-9FB8-979716EFEFEC}"/>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9EA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E52243B-513D-4EB5-BE94-F5C95B265BFE}"/>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1F9F1">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FC8607F-EC7C-4049-A3F9-34ABCD2EEAF1}"/>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FECDD">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A3A97B1F-8595-47B7-AA4E-2CBF5DDA328B}"/>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45CB2253-E772-4129-A5D8-D856DE1C7928}"/>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F005213F-9575-437F-8850-F7F41431D975}"/>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463CA62E-F309-41CB-B69E-0C7EBFD4FD0F}"/>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CC223F46-98B8-4AD4-B469-45D8230620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5882"/>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1F2B7210-2D8A-471C-BD23-160FE37D02B7}"/>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02. PROBLÈME</a:t>
            </a:r>
          </a:p>
        </p:txBody>
      </p:sp>
      <p:sp>
        <p:nvSpPr>
          <p:cNvPr id="11" name="">
            <a:extLst xmlns:a="http://schemas.openxmlformats.org/drawingml/2006/main">
              <a:ext uri="{FF2B5EF4-FFF2-40B4-BE49-F238E27FC236}">
                <a16:creationId xmlns:a16="http://schemas.microsoft.com/office/drawing/2014/main" id="{5ED51096-C69C-4FF2-A2EC-30D9C52CC527}"/>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03 / 13</a:t>
            </a:r>
          </a:p>
        </p:txBody>
      </p:sp>
      <p:sp>
        <p:nvSpPr>
          <p:cNvPr id="12" name="">
            <a:extLst xmlns:a="http://schemas.openxmlformats.org/drawingml/2006/main">
              <a:ext uri="{FF2B5EF4-FFF2-40B4-BE49-F238E27FC236}">
                <a16:creationId xmlns:a16="http://schemas.microsoft.com/office/drawing/2014/main" id="{B8DB2BA2-CF1F-480E-8AFE-6713BA548C06}"/>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614073F7-6964-49F9-8F2F-60CFDE0F0548}"/>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0334A7FC-9528-4B25-B04F-8F4B83E3A913}"/>
              </a:ext>
            </a:extLst>
          </p:cNvPr>
          <p:cNvSpPr>
            <a:spLocks xmlns:a="http://schemas.openxmlformats.org/drawingml/2006/main" noGrp="1"/>
          </p:cNvSpPr>
          <p:nvPr/>
        </p:nvSpPr>
        <p:spPr>
          <a:xfrm xmlns:a="http://schemas.openxmlformats.org/drawingml/2006/main">
            <a:off x="685800" y="876300"/>
            <a:ext cx="73342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Le problème métier</a:t>
            </a:r>
          </a:p>
        </p:txBody>
      </p:sp>
      <p:sp>
        <p:nvSpPr>
          <p:cNvPr id="15" name="">
            <a:extLst xmlns:a="http://schemas.openxmlformats.org/drawingml/2006/main">
              <a:ext uri="{FF2B5EF4-FFF2-40B4-BE49-F238E27FC236}">
                <a16:creationId xmlns:a16="http://schemas.microsoft.com/office/drawing/2014/main" id="{D390F12F-8952-4767-AED0-5160C4B7D0E5}"/>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Dans un recrutement, le volume de CV est élevé, le temps est limité et la justification des choix devient difficile.</a:t>
            </a:r>
          </a:p>
        </p:txBody>
      </p:sp>
      <p:sp>
        <p:nvSpPr>
          <p:cNvPr id="16" name="">
            <a:extLst xmlns:a="http://schemas.openxmlformats.org/drawingml/2006/main">
              <a:ext uri="{FF2B5EF4-FFF2-40B4-BE49-F238E27FC236}">
                <a16:creationId xmlns:a16="http://schemas.microsoft.com/office/drawing/2014/main" id="{94C19F7B-C32D-4A6A-B79D-C99860A3B944}"/>
              </a:ext>
            </a:extLst>
          </p:cNvPr>
          <p:cNvSpPr>
            <a:spLocks xmlns:a="http://schemas.openxmlformats.org/drawingml/2006/main" noGrp="1"/>
          </p:cNvSpPr>
          <p:nvPr/>
        </p:nvSpPr>
        <p:spPr>
          <a:xfrm xmlns:a="http://schemas.openxmlformats.org/drawingml/2006/main">
            <a:off x="8001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6AE2B5AE-2013-41B4-AE1C-6E5000AE6D39}"/>
              </a:ext>
            </a:extLst>
          </p:cNvPr>
          <p:cNvSpPr>
            <a:spLocks xmlns:a="http://schemas.openxmlformats.org/drawingml/2006/main" noGrp="1"/>
          </p:cNvSpPr>
          <p:nvPr/>
        </p:nvSpPr>
        <p:spPr>
          <a:xfrm xmlns:a="http://schemas.openxmlformats.org/drawingml/2006/main">
            <a:off x="800100" y="3676650"/>
            <a:ext cx="76200" cy="20383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D3B1F112-5B39-4D5C-BED6-68708D76EFEA}"/>
              </a:ext>
            </a:extLst>
          </p:cNvPr>
          <p:cNvSpPr>
            <a:spLocks xmlns:a="http://schemas.openxmlformats.org/drawingml/2006/main" noGrp="1"/>
          </p:cNvSpPr>
          <p:nvPr/>
        </p:nvSpPr>
        <p:spPr>
          <a:xfrm xmlns:a="http://schemas.openxmlformats.org/drawingml/2006/main">
            <a:off x="10096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19" name="">
            <a:extLst xmlns:a="http://schemas.openxmlformats.org/drawingml/2006/main">
              <a:ext uri="{FF2B5EF4-FFF2-40B4-BE49-F238E27FC236}">
                <a16:creationId xmlns:a16="http://schemas.microsoft.com/office/drawing/2014/main" id="{5A225B24-2CBC-4CF7-B6D7-B1C27A01BC92}"/>
              </a:ext>
            </a:extLst>
          </p:cNvPr>
          <p:cNvSpPr>
            <a:spLocks xmlns:a="http://schemas.openxmlformats.org/drawingml/2006/main" noGrp="1"/>
          </p:cNvSpPr>
          <p:nvPr/>
        </p:nvSpPr>
        <p:spPr>
          <a:xfrm xmlns:a="http://schemas.openxmlformats.org/drawingml/2006/main">
            <a:off x="1162050" y="4181475"/>
            <a:ext cx="57150" cy="1143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1DD4EA07-C268-4071-9C53-F05A2C8EE1EC}"/>
              </a:ext>
            </a:extLst>
          </p:cNvPr>
          <p:cNvSpPr>
            <a:spLocks xmlns:a="http://schemas.openxmlformats.org/drawingml/2006/main" noGrp="1"/>
          </p:cNvSpPr>
          <p:nvPr/>
        </p:nvSpPr>
        <p:spPr>
          <a:xfrm xmlns:a="http://schemas.openxmlformats.org/drawingml/2006/main">
            <a:off x="1247775" y="4105275"/>
            <a:ext cx="57150" cy="1905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3BBE696A-1E83-4B0D-8492-9F606F52A070}"/>
              </a:ext>
            </a:extLst>
          </p:cNvPr>
          <p:cNvSpPr>
            <a:spLocks xmlns:a="http://schemas.openxmlformats.org/drawingml/2006/main" noGrp="1"/>
          </p:cNvSpPr>
          <p:nvPr/>
        </p:nvSpPr>
        <p:spPr>
          <a:xfrm xmlns:a="http://schemas.openxmlformats.org/drawingml/2006/main">
            <a:off x="1333500" y="4038600"/>
            <a:ext cx="57150" cy="2571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4C065889-592C-4BA0-8AD6-DA67388EEFE7}"/>
              </a:ext>
            </a:extLst>
          </p:cNvPr>
          <p:cNvSpPr>
            <a:spLocks xmlns:a="http://schemas.openxmlformats.org/drawingml/2006/main" noGrp="1"/>
          </p:cNvSpPr>
          <p:nvPr/>
        </p:nvSpPr>
        <p:spPr>
          <a:xfrm xmlns:a="http://schemas.openxmlformats.org/drawingml/2006/main">
            <a:off x="16383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Volume de CV</a:t>
            </a:r>
          </a:p>
        </p:txBody>
      </p:sp>
      <p:sp>
        <p:nvSpPr>
          <p:cNvPr id="23" name="">
            <a:extLst xmlns:a="http://schemas.openxmlformats.org/drawingml/2006/main">
              <a:ext uri="{FF2B5EF4-FFF2-40B4-BE49-F238E27FC236}">
                <a16:creationId xmlns:a16="http://schemas.microsoft.com/office/drawing/2014/main" id="{B018494C-2126-4542-8A19-4B85D50D8189}"/>
              </a:ext>
            </a:extLst>
          </p:cNvPr>
          <p:cNvSpPr>
            <a:spLocks xmlns:a="http://schemas.openxmlformats.org/drawingml/2006/main" noGrp="1"/>
          </p:cNvSpPr>
          <p:nvPr/>
        </p:nvSpPr>
        <p:spPr>
          <a:xfrm xmlns:a="http://schemas.openxmlformats.org/drawingml/2006/main">
            <a:off x="10287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Pour un poste attractif, un</a:t>
            </a:r>
          </a:p>
          <a:p xmlns:a="http://schemas.openxmlformats.org/drawingml/2006/main">
            <a:pPr algn="l">
              <a:defRPr sz="1275" b="0">
                <a:solidFill>
                  <a:srgbClr val="0B1320"/>
                </a:solidFill>
              </a:defRPr>
            </a:pPr>
            <a:r>
              <a:rPr sz="1275" b="0">
                <a:solidFill>
                  <a:srgbClr val="0B1320"/>
                </a:solidFill>
              </a:rPr>
              <a:t>recruteur peut recevoir</a:t>
            </a:r>
          </a:p>
          <a:p xmlns:a="http://schemas.openxmlformats.org/drawingml/2006/main">
            <a:pPr algn="l">
              <a:defRPr sz="1275" b="0">
                <a:solidFill>
                  <a:srgbClr val="0B1320"/>
                </a:solidFill>
              </a:defRPr>
            </a:pPr>
            <a:r>
              <a:rPr sz="1275" b="0">
                <a:solidFill>
                  <a:srgbClr val="0B1320"/>
                </a:solidFill>
              </a:rPr>
              <a:t>beaucoup de candidatures</a:t>
            </a:r>
          </a:p>
          <a:p xmlns:a="http://schemas.openxmlformats.org/drawingml/2006/main">
            <a:pPr algn="l">
              <a:defRPr sz="1275" b="0">
                <a:solidFill>
                  <a:srgbClr val="0B1320"/>
                </a:solidFill>
              </a:defRPr>
            </a:pPr>
            <a:r>
              <a:rPr sz="1275" b="0">
                <a:solidFill>
                  <a:srgbClr val="0B1320"/>
                </a:solidFill>
              </a:rPr>
              <a:t>très différentes en format</a:t>
            </a:r>
          </a:p>
          <a:p xmlns:a="http://schemas.openxmlformats.org/drawingml/2006/main">
            <a:pPr algn="l">
              <a:defRPr sz="1275" b="0">
                <a:solidFill>
                  <a:srgbClr val="0B1320"/>
                </a:solidFill>
              </a:defRPr>
            </a:pPr>
            <a:r>
              <a:rPr sz="1275" b="0">
                <a:solidFill>
                  <a:srgbClr val="0B1320"/>
                </a:solidFill>
              </a:rPr>
              <a:t>et en qualité.</a:t>
            </a:r>
          </a:p>
        </p:txBody>
      </p:sp>
      <p:sp>
        <p:nvSpPr>
          <p:cNvPr id="24" name="">
            <a:extLst xmlns:a="http://schemas.openxmlformats.org/drawingml/2006/main">
              <a:ext uri="{FF2B5EF4-FFF2-40B4-BE49-F238E27FC236}">
                <a16:creationId xmlns:a16="http://schemas.microsoft.com/office/drawing/2014/main" id="{B027263A-2682-48AB-9F6E-9DCF350F2591}"/>
              </a:ext>
            </a:extLst>
          </p:cNvPr>
          <p:cNvSpPr>
            <a:spLocks xmlns:a="http://schemas.openxmlformats.org/drawingml/2006/main" noGrp="1"/>
          </p:cNvSpPr>
          <p:nvPr/>
        </p:nvSpPr>
        <p:spPr>
          <a:xfrm xmlns:a="http://schemas.openxmlformats.org/drawingml/2006/main">
            <a:off x="44069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25" name="">
            <a:extLst xmlns:a="http://schemas.openxmlformats.org/drawingml/2006/main">
              <a:ext uri="{FF2B5EF4-FFF2-40B4-BE49-F238E27FC236}">
                <a16:creationId xmlns:a16="http://schemas.microsoft.com/office/drawing/2014/main" id="{E47F024D-D9C8-480C-BB01-71B77199CF1E}"/>
              </a:ext>
            </a:extLst>
          </p:cNvPr>
          <p:cNvSpPr>
            <a:spLocks xmlns:a="http://schemas.openxmlformats.org/drawingml/2006/main" noGrp="1"/>
          </p:cNvSpPr>
          <p:nvPr/>
        </p:nvSpPr>
        <p:spPr>
          <a:xfrm xmlns:a="http://schemas.openxmlformats.org/drawingml/2006/main">
            <a:off x="4406900" y="3676650"/>
            <a:ext cx="76200" cy="2038350"/>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274FAE48-C84B-40BD-8CAC-FF24787D67D2}"/>
              </a:ext>
            </a:extLst>
          </p:cNvPr>
          <p:cNvSpPr>
            <a:spLocks xmlns:a="http://schemas.openxmlformats.org/drawingml/2006/main" noGrp="1"/>
          </p:cNvSpPr>
          <p:nvPr/>
        </p:nvSpPr>
        <p:spPr>
          <a:xfrm xmlns:a="http://schemas.openxmlformats.org/drawingml/2006/main">
            <a:off x="46164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50A0587E-7DB7-4BEA-BC16-87881B845ACE}"/>
              </a:ext>
            </a:extLst>
          </p:cNvPr>
          <p:cNvSpPr>
            <a:spLocks xmlns:a="http://schemas.openxmlformats.org/drawingml/2006/main" noGrp="1"/>
          </p:cNvSpPr>
          <p:nvPr/>
        </p:nvSpPr>
        <p:spPr>
          <a:xfrm xmlns:a="http://schemas.openxmlformats.org/drawingml/2006/main">
            <a:off x="4740275" y="4076700"/>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385C7A90-8140-4140-95A5-4E97897D1D91}"/>
              </a:ext>
            </a:extLst>
          </p:cNvPr>
          <p:cNvSpPr>
            <a:spLocks xmlns:a="http://schemas.openxmlformats.org/drawingml/2006/main" noGrp="1"/>
          </p:cNvSpPr>
          <p:nvPr/>
        </p:nvSpPr>
        <p:spPr>
          <a:xfrm xmlns:a="http://schemas.openxmlformats.org/drawingml/2006/main">
            <a:off x="4911725" y="4162425"/>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EE8C5B6D-290E-45DA-98E5-938BCD39985A}"/>
              </a:ext>
            </a:extLst>
          </p:cNvPr>
          <p:cNvSpPr>
            <a:spLocks xmlns:a="http://schemas.openxmlformats.org/drawingml/2006/main" noGrp="1"/>
          </p:cNvSpPr>
          <p:nvPr/>
        </p:nvSpPr>
        <p:spPr>
          <a:xfrm xmlns:a="http://schemas.openxmlformats.org/drawingml/2006/main">
            <a:off x="4826000" y="4143375"/>
            <a:ext cx="180975" cy="28575"/>
          </a:xfrm>
          <a:prstGeom xmlns:a="http://schemas.openxmlformats.org/drawingml/2006/main" prst="rect">
            <a:avLst/>
          </a:prstGeom>
          <a:solidFill xmlns:a="http://schemas.openxmlformats.org/drawingml/2006/main">
            <a:srgbClr val="0B13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53DA456D-3D6E-46B4-97EA-6A2D25F1DED6}"/>
              </a:ext>
            </a:extLst>
          </p:cNvPr>
          <p:cNvSpPr>
            <a:spLocks xmlns:a="http://schemas.openxmlformats.org/drawingml/2006/main" noGrp="1"/>
          </p:cNvSpPr>
          <p:nvPr/>
        </p:nvSpPr>
        <p:spPr>
          <a:xfrm xmlns:a="http://schemas.openxmlformats.org/drawingml/2006/main">
            <a:off x="52451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Temps d'analyse</a:t>
            </a:r>
          </a:p>
        </p:txBody>
      </p:sp>
      <p:sp>
        <p:nvSpPr>
          <p:cNvPr id="31" name="">
            <a:extLst xmlns:a="http://schemas.openxmlformats.org/drawingml/2006/main">
              <a:ext uri="{FF2B5EF4-FFF2-40B4-BE49-F238E27FC236}">
                <a16:creationId xmlns:a16="http://schemas.microsoft.com/office/drawing/2014/main" id="{726D2663-B310-426C-8A71-72F13CCCB839}"/>
              </a:ext>
            </a:extLst>
          </p:cNvPr>
          <p:cNvSpPr>
            <a:spLocks xmlns:a="http://schemas.openxmlformats.org/drawingml/2006/main" noGrp="1"/>
          </p:cNvSpPr>
          <p:nvPr/>
        </p:nvSpPr>
        <p:spPr>
          <a:xfrm xmlns:a="http://schemas.openxmlformats.org/drawingml/2006/main">
            <a:off x="46355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Comparer chaque CV à une</a:t>
            </a:r>
          </a:p>
          <a:p xmlns:a="http://schemas.openxmlformats.org/drawingml/2006/main">
            <a:pPr algn="l">
              <a:defRPr sz="1275" b="0">
                <a:solidFill>
                  <a:srgbClr val="0B1320"/>
                </a:solidFill>
              </a:defRPr>
            </a:pPr>
            <a:r>
              <a:rPr sz="1275" b="0">
                <a:solidFill>
                  <a:srgbClr val="0B1320"/>
                </a:solidFill>
              </a:rPr>
              <a:t>fiche de poste demande du</a:t>
            </a:r>
          </a:p>
          <a:p xmlns:a="http://schemas.openxmlformats.org/drawingml/2006/main">
            <a:pPr algn="l">
              <a:defRPr sz="1275" b="0">
                <a:solidFill>
                  <a:srgbClr val="0B1320"/>
                </a:solidFill>
              </a:defRPr>
            </a:pPr>
            <a:r>
              <a:rPr sz="1275" b="0">
                <a:solidFill>
                  <a:srgbClr val="0B1320"/>
                </a:solidFill>
              </a:rPr>
              <a:t>temps, surtout quand il faut</a:t>
            </a:r>
          </a:p>
          <a:p xmlns:a="http://schemas.openxmlformats.org/drawingml/2006/main">
            <a:pPr algn="l">
              <a:defRPr sz="1275" b="0">
                <a:solidFill>
                  <a:srgbClr val="0B1320"/>
                </a:solidFill>
              </a:defRPr>
            </a:pPr>
            <a:r>
              <a:rPr sz="1275" b="0">
                <a:solidFill>
                  <a:srgbClr val="0B1320"/>
                </a:solidFill>
              </a:rPr>
              <a:t>lire compétences, expérience</a:t>
            </a:r>
          </a:p>
          <a:p xmlns:a="http://schemas.openxmlformats.org/drawingml/2006/main">
            <a:pPr algn="l">
              <a:defRPr sz="1275" b="0">
                <a:solidFill>
                  <a:srgbClr val="0B1320"/>
                </a:solidFill>
              </a:defRPr>
            </a:pPr>
            <a:r>
              <a:rPr sz="1275" b="0">
                <a:solidFill>
                  <a:srgbClr val="0B1320"/>
                </a:solidFill>
              </a:rPr>
              <a:t>et formation.</a:t>
            </a:r>
          </a:p>
        </p:txBody>
      </p:sp>
      <p:sp>
        <p:nvSpPr>
          <p:cNvPr id="32" name="">
            <a:extLst xmlns:a="http://schemas.openxmlformats.org/drawingml/2006/main">
              <a:ext uri="{FF2B5EF4-FFF2-40B4-BE49-F238E27FC236}">
                <a16:creationId xmlns:a16="http://schemas.microsoft.com/office/drawing/2014/main" id="{9C7871E1-A2FE-40D3-9DFC-1FD0C4C533FD}"/>
              </a:ext>
            </a:extLst>
          </p:cNvPr>
          <p:cNvSpPr>
            <a:spLocks xmlns:a="http://schemas.openxmlformats.org/drawingml/2006/main" noGrp="1"/>
          </p:cNvSpPr>
          <p:nvPr/>
        </p:nvSpPr>
        <p:spPr>
          <a:xfrm xmlns:a="http://schemas.openxmlformats.org/drawingml/2006/main">
            <a:off x="80137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33" name="">
            <a:extLst xmlns:a="http://schemas.openxmlformats.org/drawingml/2006/main">
              <a:ext uri="{FF2B5EF4-FFF2-40B4-BE49-F238E27FC236}">
                <a16:creationId xmlns:a16="http://schemas.microsoft.com/office/drawing/2014/main" id="{32BCAF59-4CD3-4586-9EDD-BF4C53B4866D}"/>
              </a:ext>
            </a:extLst>
          </p:cNvPr>
          <p:cNvSpPr>
            <a:spLocks xmlns:a="http://schemas.openxmlformats.org/drawingml/2006/main" noGrp="1"/>
          </p:cNvSpPr>
          <p:nvPr/>
        </p:nvSpPr>
        <p:spPr>
          <a:xfrm xmlns:a="http://schemas.openxmlformats.org/drawingml/2006/main">
            <a:off x="8013700" y="3676650"/>
            <a:ext cx="76200" cy="2038350"/>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37A29F0D-5E0C-46E0-B94D-BCFF25DA4DF5}"/>
              </a:ext>
            </a:extLst>
          </p:cNvPr>
          <p:cNvSpPr>
            <a:spLocks xmlns:a="http://schemas.openxmlformats.org/drawingml/2006/main" noGrp="1"/>
          </p:cNvSpPr>
          <p:nvPr/>
        </p:nvSpPr>
        <p:spPr>
          <a:xfrm xmlns:a="http://schemas.openxmlformats.org/drawingml/2006/main">
            <a:off x="82232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35" name="">
            <a:extLst xmlns:a="http://schemas.openxmlformats.org/drawingml/2006/main">
              <a:ext uri="{FF2B5EF4-FFF2-40B4-BE49-F238E27FC236}">
                <a16:creationId xmlns:a16="http://schemas.microsoft.com/office/drawing/2014/main" id="{6266BBAE-F17D-402E-A672-86FC905E5C5E}"/>
              </a:ext>
            </a:extLst>
          </p:cNvPr>
          <p:cNvSpPr>
            <a:spLocks xmlns:a="http://schemas.openxmlformats.org/drawingml/2006/main" noGrp="1"/>
          </p:cNvSpPr>
          <p:nvPr/>
        </p:nvSpPr>
        <p:spPr>
          <a:xfrm xmlns:a="http://schemas.openxmlformats.org/drawingml/2006/main">
            <a:off x="8347075" y="4048125"/>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F671B039-4DCE-4949-AC23-395A5786020F}"/>
              </a:ext>
            </a:extLst>
          </p:cNvPr>
          <p:cNvSpPr>
            <a:spLocks xmlns:a="http://schemas.openxmlformats.org/drawingml/2006/main" noGrp="1"/>
          </p:cNvSpPr>
          <p:nvPr/>
        </p:nvSpPr>
        <p:spPr>
          <a:xfrm xmlns:a="http://schemas.openxmlformats.org/drawingml/2006/main">
            <a:off x="8394700" y="4133850"/>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7CCBD9D6-C7CE-4C9A-B115-690CBF02661D}"/>
              </a:ext>
            </a:extLst>
          </p:cNvPr>
          <p:cNvSpPr>
            <a:spLocks xmlns:a="http://schemas.openxmlformats.org/drawingml/2006/main" noGrp="1"/>
          </p:cNvSpPr>
          <p:nvPr/>
        </p:nvSpPr>
        <p:spPr>
          <a:xfrm xmlns:a="http://schemas.openxmlformats.org/drawingml/2006/main">
            <a:off x="8442325" y="4219575"/>
            <a:ext cx="190500" cy="95250"/>
          </a:xfrm>
          <a:prstGeom xmlns:a="http://schemas.openxmlformats.org/drawingml/2006/main" prst="roundRect">
            <a:avLst>
              <a:gd name="adj" fmla="val 50000"/>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77966157-8395-42B1-8706-0C823944B11F}"/>
              </a:ext>
            </a:extLst>
          </p:cNvPr>
          <p:cNvSpPr>
            <a:spLocks xmlns:a="http://schemas.openxmlformats.org/drawingml/2006/main" noGrp="1"/>
          </p:cNvSpPr>
          <p:nvPr/>
        </p:nvSpPr>
        <p:spPr>
          <a:xfrm xmlns:a="http://schemas.openxmlformats.org/drawingml/2006/main">
            <a:off x="88519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Besoin d'explication</a:t>
            </a:r>
          </a:p>
        </p:txBody>
      </p:sp>
      <p:sp>
        <p:nvSpPr>
          <p:cNvPr id="39" name="">
            <a:extLst xmlns:a="http://schemas.openxmlformats.org/drawingml/2006/main">
              <a:ext uri="{FF2B5EF4-FFF2-40B4-BE49-F238E27FC236}">
                <a16:creationId xmlns:a16="http://schemas.microsoft.com/office/drawing/2014/main" id="{3422067E-4E68-436B-BB60-9689BC084836}"/>
              </a:ext>
            </a:extLst>
          </p:cNvPr>
          <p:cNvSpPr>
            <a:spLocks xmlns:a="http://schemas.openxmlformats.org/drawingml/2006/main" noGrp="1"/>
          </p:cNvSpPr>
          <p:nvPr/>
        </p:nvSpPr>
        <p:spPr>
          <a:xfrm xmlns:a="http://schemas.openxmlformats.org/drawingml/2006/main">
            <a:off x="82423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Le recruteur ne veut pas</a:t>
            </a:r>
          </a:p>
          <a:p xmlns:a="http://schemas.openxmlformats.org/drawingml/2006/main">
            <a:pPr algn="l">
              <a:defRPr sz="1275" b="0">
                <a:solidFill>
                  <a:srgbClr val="0B1320"/>
                </a:solidFill>
              </a:defRPr>
            </a:pPr>
            <a:r>
              <a:rPr sz="1275" b="0">
                <a:solidFill>
                  <a:srgbClr val="0B1320"/>
                </a:solidFill>
              </a:rPr>
              <a:t>seulement trier vite. Il</a:t>
            </a:r>
          </a:p>
          <a:p xmlns:a="http://schemas.openxmlformats.org/drawingml/2006/main">
            <a:pPr algn="l">
              <a:defRPr sz="1275" b="0">
                <a:solidFill>
                  <a:srgbClr val="0B1320"/>
                </a:solidFill>
              </a:defRPr>
            </a:pPr>
            <a:r>
              <a:rPr sz="1275" b="0">
                <a:solidFill>
                  <a:srgbClr val="0B1320"/>
                </a:solidFill>
              </a:rPr>
              <a:t>veut aussi pouvoir justifier</a:t>
            </a:r>
          </a:p>
          <a:p xmlns:a="http://schemas.openxmlformats.org/drawingml/2006/main">
            <a:pPr algn="l">
              <a:defRPr sz="1275" b="0">
                <a:solidFill>
                  <a:srgbClr val="0B1320"/>
                </a:solidFill>
              </a:defRPr>
            </a:pPr>
            <a:r>
              <a:rPr sz="1275" b="0">
                <a:solidFill>
                  <a:srgbClr val="0B1320"/>
                </a:solidFill>
              </a:rPr>
              <a:t>pourquoi un profil est</a:t>
            </a:r>
          </a:p>
          <a:p xmlns:a="http://schemas.openxmlformats.org/drawingml/2006/main">
            <a:pPr algn="l">
              <a:defRPr sz="1275" b="0">
                <a:solidFill>
                  <a:srgbClr val="0B1320"/>
                </a:solidFill>
              </a:defRPr>
            </a:pPr>
            <a:r>
              <a:rPr sz="1275" b="0">
                <a:solidFill>
                  <a:srgbClr val="0B1320"/>
                </a:solidFill>
              </a:rPr>
              <a:t>retenu ou écarté.</a:t>
            </a:r>
          </a:p>
        </p:txBody>
      </p:sp>
    </p:spTree>
    <p:extLst>
      <p:ext uri="{BB962C8B-B14F-4D97-AF65-F5344CB8AC3E}">
        <p14:creationId xmlns:p14="http://schemas.microsoft.com/office/powerpoint/2010/main" val="1189595724"/>
      </p:ext>
    </p:extLst>
  </p:cSld>
</p:sld>
</file>

<file path=ppt/slides/slide4.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CBF359A-7211-4C5E-8008-91484FA439A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EB6C82C-DE3F-40DD-AEA2-E7059A64C80A}"/>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CE6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4E27CA7-AF30-4512-AB6C-BC5B85276E96}"/>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8FCF5">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54F12E7-8B49-4DD4-91B2-1F1DF5F2AC79}"/>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FF0D8">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CBD42A2-8274-4DE0-AD60-B66886738615}"/>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F1CC4177-724A-43EF-AD11-031F2268D7C5}"/>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0C84DAC6-FFCE-4403-AA6E-1E4C84C83D57}"/>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09B091F9-E118-4A88-B800-45C01B429B04}"/>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0CC969CB-BA51-41E6-86B7-E27F8E8170C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5882"/>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6CAA842-3BCD-4B28-A236-0A2957EAB048}"/>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03. OBJECTIF</a:t>
            </a:r>
          </a:p>
        </p:txBody>
      </p:sp>
      <p:sp>
        <p:nvSpPr>
          <p:cNvPr id="11" name="">
            <a:extLst xmlns:a="http://schemas.openxmlformats.org/drawingml/2006/main">
              <a:ext uri="{FF2B5EF4-FFF2-40B4-BE49-F238E27FC236}">
                <a16:creationId xmlns:a16="http://schemas.microsoft.com/office/drawing/2014/main" id="{CB90B6C6-AD3B-48B8-AE0D-7DD3F4E1AF96}"/>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04 / 13</a:t>
            </a:r>
          </a:p>
        </p:txBody>
      </p:sp>
      <p:sp>
        <p:nvSpPr>
          <p:cNvPr id="12" name="">
            <a:extLst xmlns:a="http://schemas.openxmlformats.org/drawingml/2006/main">
              <a:ext uri="{FF2B5EF4-FFF2-40B4-BE49-F238E27FC236}">
                <a16:creationId xmlns:a16="http://schemas.microsoft.com/office/drawing/2014/main" id="{9F964038-2929-41DD-A0F1-D5ADBEC4EFFE}"/>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CAF25D59-EF1D-4C40-90D6-44ECC64A7F2A}"/>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5B239EC1-0BEE-48D4-BEB1-EE874F7E6E86}"/>
              </a:ext>
            </a:extLst>
          </p:cNvPr>
          <p:cNvSpPr>
            <a:spLocks xmlns:a="http://schemas.openxmlformats.org/drawingml/2006/main" noGrp="1"/>
          </p:cNvSpPr>
          <p:nvPr/>
        </p:nvSpPr>
        <p:spPr>
          <a:xfrm xmlns:a="http://schemas.openxmlformats.org/drawingml/2006/main">
            <a:off x="685800" y="876300"/>
            <a:ext cx="73342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L'objectif du projet</a:t>
            </a:r>
          </a:p>
        </p:txBody>
      </p:sp>
      <p:sp>
        <p:nvSpPr>
          <p:cNvPr id="15" name="">
            <a:extLst xmlns:a="http://schemas.openxmlformats.org/drawingml/2006/main">
              <a:ext uri="{FF2B5EF4-FFF2-40B4-BE49-F238E27FC236}">
                <a16:creationId xmlns:a16="http://schemas.microsoft.com/office/drawing/2014/main" id="{91A49D8B-6E22-4157-9458-FF7B053A6C5B}"/>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Le projet n'a pas pour but de remplacer le recruteur, mais de lui fournir un outil d'aide à la décision plus rapide et plus structuré.</a:t>
            </a:r>
          </a:p>
        </p:txBody>
      </p:sp>
      <p:sp>
        <p:nvSpPr>
          <p:cNvPr id="16" name="">
            <a:extLst xmlns:a="http://schemas.openxmlformats.org/drawingml/2006/main">
              <a:ext uri="{FF2B5EF4-FFF2-40B4-BE49-F238E27FC236}">
                <a16:creationId xmlns:a16="http://schemas.microsoft.com/office/drawing/2014/main" id="{435DF530-3702-4B01-BF0D-3A281452386C}"/>
              </a:ext>
            </a:extLst>
          </p:cNvPr>
          <p:cNvSpPr>
            <a:spLocks xmlns:a="http://schemas.openxmlformats.org/drawingml/2006/main" noGrp="1"/>
          </p:cNvSpPr>
          <p:nvPr/>
        </p:nvSpPr>
        <p:spPr>
          <a:xfrm xmlns:a="http://schemas.openxmlformats.org/drawingml/2006/main">
            <a:off x="8001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5D5D311A-D965-4ED4-BA28-446C400C1BCD}"/>
              </a:ext>
            </a:extLst>
          </p:cNvPr>
          <p:cNvSpPr>
            <a:spLocks xmlns:a="http://schemas.openxmlformats.org/drawingml/2006/main" noGrp="1"/>
          </p:cNvSpPr>
          <p:nvPr/>
        </p:nvSpPr>
        <p:spPr>
          <a:xfrm xmlns:a="http://schemas.openxmlformats.org/drawingml/2006/main">
            <a:off x="800100" y="3676650"/>
            <a:ext cx="76200" cy="20383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9972CECA-3513-43F8-B82B-1ECC42F6EF8C}"/>
              </a:ext>
            </a:extLst>
          </p:cNvPr>
          <p:cNvSpPr>
            <a:spLocks xmlns:a="http://schemas.openxmlformats.org/drawingml/2006/main" noGrp="1"/>
          </p:cNvSpPr>
          <p:nvPr/>
        </p:nvSpPr>
        <p:spPr>
          <a:xfrm xmlns:a="http://schemas.openxmlformats.org/drawingml/2006/main">
            <a:off x="10096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19" name="">
            <a:extLst xmlns:a="http://schemas.openxmlformats.org/drawingml/2006/main">
              <a:ext uri="{FF2B5EF4-FFF2-40B4-BE49-F238E27FC236}">
                <a16:creationId xmlns:a16="http://schemas.microsoft.com/office/drawing/2014/main" id="{13CC9B3E-00D3-49DD-A6B2-3730B98A3C4A}"/>
              </a:ext>
            </a:extLst>
          </p:cNvPr>
          <p:cNvSpPr>
            <a:spLocks xmlns:a="http://schemas.openxmlformats.org/drawingml/2006/main" noGrp="1"/>
          </p:cNvSpPr>
          <p:nvPr/>
        </p:nvSpPr>
        <p:spPr>
          <a:xfrm xmlns:a="http://schemas.openxmlformats.org/drawingml/2006/main">
            <a:off x="1162050" y="4181475"/>
            <a:ext cx="57150" cy="1143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BA19CE2C-8B0D-4027-A741-5177F9C87450}"/>
              </a:ext>
            </a:extLst>
          </p:cNvPr>
          <p:cNvSpPr>
            <a:spLocks xmlns:a="http://schemas.openxmlformats.org/drawingml/2006/main" noGrp="1"/>
          </p:cNvSpPr>
          <p:nvPr/>
        </p:nvSpPr>
        <p:spPr>
          <a:xfrm xmlns:a="http://schemas.openxmlformats.org/drawingml/2006/main">
            <a:off x="1247775" y="4105275"/>
            <a:ext cx="57150" cy="1905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6BB8E96C-D071-4C06-BC23-E0F8E08EEFA0}"/>
              </a:ext>
            </a:extLst>
          </p:cNvPr>
          <p:cNvSpPr>
            <a:spLocks xmlns:a="http://schemas.openxmlformats.org/drawingml/2006/main" noGrp="1"/>
          </p:cNvSpPr>
          <p:nvPr/>
        </p:nvSpPr>
        <p:spPr>
          <a:xfrm xmlns:a="http://schemas.openxmlformats.org/drawingml/2006/main">
            <a:off x="1333500" y="4038600"/>
            <a:ext cx="57150" cy="2571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480D69EC-84A8-47C0-B771-F99D30953CB6}"/>
              </a:ext>
            </a:extLst>
          </p:cNvPr>
          <p:cNvSpPr>
            <a:spLocks xmlns:a="http://schemas.openxmlformats.org/drawingml/2006/main" noGrp="1"/>
          </p:cNvSpPr>
          <p:nvPr/>
        </p:nvSpPr>
        <p:spPr>
          <a:xfrm xmlns:a="http://schemas.openxmlformats.org/drawingml/2006/main">
            <a:off x="16383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Accélérer</a:t>
            </a:r>
          </a:p>
        </p:txBody>
      </p:sp>
      <p:sp>
        <p:nvSpPr>
          <p:cNvPr id="23" name="">
            <a:extLst xmlns:a="http://schemas.openxmlformats.org/drawingml/2006/main">
              <a:ext uri="{FF2B5EF4-FFF2-40B4-BE49-F238E27FC236}">
                <a16:creationId xmlns:a16="http://schemas.microsoft.com/office/drawing/2014/main" id="{5BDA4D65-C045-4B07-95E1-8E2E7AC5EB23}"/>
              </a:ext>
            </a:extLst>
          </p:cNvPr>
          <p:cNvSpPr>
            <a:spLocks xmlns:a="http://schemas.openxmlformats.org/drawingml/2006/main" noGrp="1"/>
          </p:cNvSpPr>
          <p:nvPr/>
        </p:nvSpPr>
        <p:spPr>
          <a:xfrm xmlns:a="http://schemas.openxmlformats.org/drawingml/2006/main">
            <a:off x="10287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Réduire le temps passé sur</a:t>
            </a:r>
          </a:p>
          <a:p xmlns:a="http://schemas.openxmlformats.org/drawingml/2006/main">
            <a:pPr algn="l">
              <a:defRPr sz="1275" b="0">
                <a:solidFill>
                  <a:srgbClr val="0B1320"/>
                </a:solidFill>
              </a:defRPr>
            </a:pPr>
            <a:r>
              <a:rPr sz="1275" b="0">
                <a:solidFill>
                  <a:srgbClr val="0B1320"/>
                </a:solidFill>
              </a:rPr>
              <a:t>le premier tri des</a:t>
            </a:r>
          </a:p>
          <a:p xmlns:a="http://schemas.openxmlformats.org/drawingml/2006/main">
            <a:pPr algn="l">
              <a:defRPr sz="1275" b="0">
                <a:solidFill>
                  <a:srgbClr val="0B1320"/>
                </a:solidFill>
              </a:defRPr>
            </a:pPr>
            <a:r>
              <a:rPr sz="1275" b="0">
                <a:solidFill>
                  <a:srgbClr val="0B1320"/>
                </a:solidFill>
              </a:rPr>
              <a:t>candidatures en automatisant</a:t>
            </a:r>
          </a:p>
          <a:p xmlns:a="http://schemas.openxmlformats.org/drawingml/2006/main">
            <a:pPr algn="l">
              <a:defRPr sz="1275" b="0">
                <a:solidFill>
                  <a:srgbClr val="0B1320"/>
                </a:solidFill>
              </a:defRPr>
            </a:pPr>
            <a:r>
              <a:rPr sz="1275" b="0">
                <a:solidFill>
                  <a:srgbClr val="0B1320"/>
                </a:solidFill>
              </a:rPr>
              <a:t>les tâches répétitives.</a:t>
            </a:r>
          </a:p>
        </p:txBody>
      </p:sp>
      <p:sp>
        <p:nvSpPr>
          <p:cNvPr id="24" name="">
            <a:extLst xmlns:a="http://schemas.openxmlformats.org/drawingml/2006/main">
              <a:ext uri="{FF2B5EF4-FFF2-40B4-BE49-F238E27FC236}">
                <a16:creationId xmlns:a16="http://schemas.microsoft.com/office/drawing/2014/main" id="{1A4B18AD-72BE-49FE-ABFA-12B2222893C1}"/>
              </a:ext>
            </a:extLst>
          </p:cNvPr>
          <p:cNvSpPr>
            <a:spLocks xmlns:a="http://schemas.openxmlformats.org/drawingml/2006/main" noGrp="1"/>
          </p:cNvSpPr>
          <p:nvPr/>
        </p:nvSpPr>
        <p:spPr>
          <a:xfrm xmlns:a="http://schemas.openxmlformats.org/drawingml/2006/main">
            <a:off x="44069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25" name="">
            <a:extLst xmlns:a="http://schemas.openxmlformats.org/drawingml/2006/main">
              <a:ext uri="{FF2B5EF4-FFF2-40B4-BE49-F238E27FC236}">
                <a16:creationId xmlns:a16="http://schemas.microsoft.com/office/drawing/2014/main" id="{0FFB0F55-B61F-43F2-86AC-2ED32F0E13EA}"/>
              </a:ext>
            </a:extLst>
          </p:cNvPr>
          <p:cNvSpPr>
            <a:spLocks xmlns:a="http://schemas.openxmlformats.org/drawingml/2006/main" noGrp="1"/>
          </p:cNvSpPr>
          <p:nvPr/>
        </p:nvSpPr>
        <p:spPr>
          <a:xfrm xmlns:a="http://schemas.openxmlformats.org/drawingml/2006/main">
            <a:off x="4406900" y="3676650"/>
            <a:ext cx="76200" cy="2038350"/>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61CCAE84-871A-4FDB-A975-2F025F8C4F0B}"/>
              </a:ext>
            </a:extLst>
          </p:cNvPr>
          <p:cNvSpPr>
            <a:spLocks xmlns:a="http://schemas.openxmlformats.org/drawingml/2006/main" noGrp="1"/>
          </p:cNvSpPr>
          <p:nvPr/>
        </p:nvSpPr>
        <p:spPr>
          <a:xfrm xmlns:a="http://schemas.openxmlformats.org/drawingml/2006/main">
            <a:off x="46164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79304339-4083-461D-8DEB-37CFDCE7B747}"/>
              </a:ext>
            </a:extLst>
          </p:cNvPr>
          <p:cNvSpPr>
            <a:spLocks xmlns:a="http://schemas.openxmlformats.org/drawingml/2006/main" noGrp="1"/>
          </p:cNvSpPr>
          <p:nvPr/>
        </p:nvSpPr>
        <p:spPr>
          <a:xfrm xmlns:a="http://schemas.openxmlformats.org/drawingml/2006/main">
            <a:off x="4740275" y="4076700"/>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B28A5A5E-FFFD-4D4E-9ED2-CEB8C1CFC656}"/>
              </a:ext>
            </a:extLst>
          </p:cNvPr>
          <p:cNvSpPr>
            <a:spLocks xmlns:a="http://schemas.openxmlformats.org/drawingml/2006/main" noGrp="1"/>
          </p:cNvSpPr>
          <p:nvPr/>
        </p:nvSpPr>
        <p:spPr>
          <a:xfrm xmlns:a="http://schemas.openxmlformats.org/drawingml/2006/main">
            <a:off x="4911725" y="4162425"/>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543C7A10-6229-4B9F-BFEE-069CCE142777}"/>
              </a:ext>
            </a:extLst>
          </p:cNvPr>
          <p:cNvSpPr>
            <a:spLocks xmlns:a="http://schemas.openxmlformats.org/drawingml/2006/main" noGrp="1"/>
          </p:cNvSpPr>
          <p:nvPr/>
        </p:nvSpPr>
        <p:spPr>
          <a:xfrm xmlns:a="http://schemas.openxmlformats.org/drawingml/2006/main">
            <a:off x="4826000" y="4143375"/>
            <a:ext cx="180975" cy="28575"/>
          </a:xfrm>
          <a:prstGeom xmlns:a="http://schemas.openxmlformats.org/drawingml/2006/main" prst="rect">
            <a:avLst/>
          </a:prstGeom>
          <a:solidFill xmlns:a="http://schemas.openxmlformats.org/drawingml/2006/main">
            <a:srgbClr val="0B13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EAB452DB-AD34-49AD-B177-FC6854E74C30}"/>
              </a:ext>
            </a:extLst>
          </p:cNvPr>
          <p:cNvSpPr>
            <a:spLocks xmlns:a="http://schemas.openxmlformats.org/drawingml/2006/main" noGrp="1"/>
          </p:cNvSpPr>
          <p:nvPr/>
        </p:nvSpPr>
        <p:spPr>
          <a:xfrm xmlns:a="http://schemas.openxmlformats.org/drawingml/2006/main">
            <a:off x="52451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Structurer</a:t>
            </a:r>
          </a:p>
        </p:txBody>
      </p:sp>
      <p:sp>
        <p:nvSpPr>
          <p:cNvPr id="31" name="">
            <a:extLst xmlns:a="http://schemas.openxmlformats.org/drawingml/2006/main">
              <a:ext uri="{FF2B5EF4-FFF2-40B4-BE49-F238E27FC236}">
                <a16:creationId xmlns:a16="http://schemas.microsoft.com/office/drawing/2014/main" id="{84F67018-F4C5-4323-8E56-A8489BFA726B}"/>
              </a:ext>
            </a:extLst>
          </p:cNvPr>
          <p:cNvSpPr>
            <a:spLocks xmlns:a="http://schemas.openxmlformats.org/drawingml/2006/main" noGrp="1"/>
          </p:cNvSpPr>
          <p:nvPr/>
        </p:nvSpPr>
        <p:spPr>
          <a:xfrm xmlns:a="http://schemas.openxmlformats.org/drawingml/2006/main">
            <a:off x="46355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Transformer des CV et des</a:t>
            </a:r>
          </a:p>
          <a:p xmlns:a="http://schemas.openxmlformats.org/drawingml/2006/main">
            <a:pPr algn="l">
              <a:defRPr sz="1275" b="0">
                <a:solidFill>
                  <a:srgbClr val="0B1320"/>
                </a:solidFill>
              </a:defRPr>
            </a:pPr>
            <a:r>
              <a:rPr sz="1275" b="0">
                <a:solidFill>
                  <a:srgbClr val="0B1320"/>
                </a:solidFill>
              </a:rPr>
              <a:t>fiches de poste en données</a:t>
            </a:r>
          </a:p>
          <a:p xmlns:a="http://schemas.openxmlformats.org/drawingml/2006/main">
            <a:pPr algn="l">
              <a:defRPr sz="1275" b="0">
                <a:solidFill>
                  <a:srgbClr val="0B1320"/>
                </a:solidFill>
              </a:defRPr>
            </a:pPr>
            <a:r>
              <a:rPr sz="1275" b="0">
                <a:solidFill>
                  <a:srgbClr val="0B1320"/>
                </a:solidFill>
              </a:rPr>
              <a:t>comparables pour obtenir une</a:t>
            </a:r>
          </a:p>
          <a:p xmlns:a="http://schemas.openxmlformats.org/drawingml/2006/main">
            <a:pPr algn="l">
              <a:defRPr sz="1275" b="0">
                <a:solidFill>
                  <a:srgbClr val="0B1320"/>
                </a:solidFill>
              </a:defRPr>
            </a:pPr>
            <a:r>
              <a:rPr sz="1275" b="0">
                <a:solidFill>
                  <a:srgbClr val="0B1320"/>
                </a:solidFill>
              </a:rPr>
              <a:t>analyse plus homogène.</a:t>
            </a:r>
          </a:p>
        </p:txBody>
      </p:sp>
      <p:sp>
        <p:nvSpPr>
          <p:cNvPr id="32" name="">
            <a:extLst xmlns:a="http://schemas.openxmlformats.org/drawingml/2006/main">
              <a:ext uri="{FF2B5EF4-FFF2-40B4-BE49-F238E27FC236}">
                <a16:creationId xmlns:a16="http://schemas.microsoft.com/office/drawing/2014/main" id="{A34F94E2-3472-403C-A17D-E1D5128A560D}"/>
              </a:ext>
            </a:extLst>
          </p:cNvPr>
          <p:cNvSpPr>
            <a:spLocks xmlns:a="http://schemas.openxmlformats.org/drawingml/2006/main" noGrp="1"/>
          </p:cNvSpPr>
          <p:nvPr/>
        </p:nvSpPr>
        <p:spPr>
          <a:xfrm xmlns:a="http://schemas.openxmlformats.org/drawingml/2006/main">
            <a:off x="80137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33" name="">
            <a:extLst xmlns:a="http://schemas.openxmlformats.org/drawingml/2006/main">
              <a:ext uri="{FF2B5EF4-FFF2-40B4-BE49-F238E27FC236}">
                <a16:creationId xmlns:a16="http://schemas.microsoft.com/office/drawing/2014/main" id="{990EDEE8-C002-4298-9403-972BEDDB04D3}"/>
              </a:ext>
            </a:extLst>
          </p:cNvPr>
          <p:cNvSpPr>
            <a:spLocks xmlns:a="http://schemas.openxmlformats.org/drawingml/2006/main" noGrp="1"/>
          </p:cNvSpPr>
          <p:nvPr/>
        </p:nvSpPr>
        <p:spPr>
          <a:xfrm xmlns:a="http://schemas.openxmlformats.org/drawingml/2006/main">
            <a:off x="8013700" y="3676650"/>
            <a:ext cx="76200" cy="2038350"/>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D26B12D8-276A-495D-BFEF-9EB2B83F2383}"/>
              </a:ext>
            </a:extLst>
          </p:cNvPr>
          <p:cNvSpPr>
            <a:spLocks xmlns:a="http://schemas.openxmlformats.org/drawingml/2006/main" noGrp="1"/>
          </p:cNvSpPr>
          <p:nvPr/>
        </p:nvSpPr>
        <p:spPr>
          <a:xfrm xmlns:a="http://schemas.openxmlformats.org/drawingml/2006/main">
            <a:off x="82232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35" name="">
            <a:extLst xmlns:a="http://schemas.openxmlformats.org/drawingml/2006/main">
              <a:ext uri="{FF2B5EF4-FFF2-40B4-BE49-F238E27FC236}">
                <a16:creationId xmlns:a16="http://schemas.microsoft.com/office/drawing/2014/main" id="{0E87B6E5-0F41-4F87-BB33-F4A014D0561F}"/>
              </a:ext>
            </a:extLst>
          </p:cNvPr>
          <p:cNvSpPr>
            <a:spLocks xmlns:a="http://schemas.openxmlformats.org/drawingml/2006/main" noGrp="1"/>
          </p:cNvSpPr>
          <p:nvPr/>
        </p:nvSpPr>
        <p:spPr>
          <a:xfrm xmlns:a="http://schemas.openxmlformats.org/drawingml/2006/main">
            <a:off x="8347075" y="4048125"/>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98C35F78-E37F-4D70-BA0B-FD5C7E820119}"/>
              </a:ext>
            </a:extLst>
          </p:cNvPr>
          <p:cNvSpPr>
            <a:spLocks xmlns:a="http://schemas.openxmlformats.org/drawingml/2006/main" noGrp="1"/>
          </p:cNvSpPr>
          <p:nvPr/>
        </p:nvSpPr>
        <p:spPr>
          <a:xfrm xmlns:a="http://schemas.openxmlformats.org/drawingml/2006/main">
            <a:off x="8394700" y="4133850"/>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6ABA552C-4EAA-49EC-9C07-9E0695E00CF7}"/>
              </a:ext>
            </a:extLst>
          </p:cNvPr>
          <p:cNvSpPr>
            <a:spLocks xmlns:a="http://schemas.openxmlformats.org/drawingml/2006/main" noGrp="1"/>
          </p:cNvSpPr>
          <p:nvPr/>
        </p:nvSpPr>
        <p:spPr>
          <a:xfrm xmlns:a="http://schemas.openxmlformats.org/drawingml/2006/main">
            <a:off x="8442325" y="4219575"/>
            <a:ext cx="190500" cy="95250"/>
          </a:xfrm>
          <a:prstGeom xmlns:a="http://schemas.openxmlformats.org/drawingml/2006/main" prst="roundRect">
            <a:avLst>
              <a:gd name="adj" fmla="val 50000"/>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17B10264-8496-4928-BE6F-66C40EBAC381}"/>
              </a:ext>
            </a:extLst>
          </p:cNvPr>
          <p:cNvSpPr>
            <a:spLocks xmlns:a="http://schemas.openxmlformats.org/drawingml/2006/main" noGrp="1"/>
          </p:cNvSpPr>
          <p:nvPr/>
        </p:nvSpPr>
        <p:spPr>
          <a:xfrm xmlns:a="http://schemas.openxmlformats.org/drawingml/2006/main">
            <a:off x="88519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Assister</a:t>
            </a:r>
          </a:p>
        </p:txBody>
      </p:sp>
      <p:sp>
        <p:nvSpPr>
          <p:cNvPr id="39" name="">
            <a:extLst xmlns:a="http://schemas.openxmlformats.org/drawingml/2006/main">
              <a:ext uri="{FF2B5EF4-FFF2-40B4-BE49-F238E27FC236}">
                <a16:creationId xmlns:a16="http://schemas.microsoft.com/office/drawing/2014/main" id="{FAF2C7D4-C494-4931-87A5-D532F5B7860A}"/>
              </a:ext>
            </a:extLst>
          </p:cNvPr>
          <p:cNvSpPr>
            <a:spLocks xmlns:a="http://schemas.openxmlformats.org/drawingml/2006/main" noGrp="1"/>
          </p:cNvSpPr>
          <p:nvPr/>
        </p:nvSpPr>
        <p:spPr>
          <a:xfrm xmlns:a="http://schemas.openxmlformats.org/drawingml/2006/main">
            <a:off x="82423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Laisser la décision finale</a:t>
            </a:r>
          </a:p>
          <a:p xmlns:a="http://schemas.openxmlformats.org/drawingml/2006/main">
            <a:pPr algn="l">
              <a:defRPr sz="1275" b="0">
                <a:solidFill>
                  <a:srgbClr val="0B1320"/>
                </a:solidFill>
              </a:defRPr>
            </a:pPr>
            <a:r>
              <a:rPr sz="1275" b="0">
                <a:solidFill>
                  <a:srgbClr val="0B1320"/>
                </a:solidFill>
              </a:rPr>
              <a:t>au recruteur humain tout en</a:t>
            </a:r>
          </a:p>
          <a:p xmlns:a="http://schemas.openxmlformats.org/drawingml/2006/main">
            <a:pPr algn="l">
              <a:defRPr sz="1275" b="0">
                <a:solidFill>
                  <a:srgbClr val="0B1320"/>
                </a:solidFill>
              </a:defRPr>
            </a:pPr>
            <a:r>
              <a:rPr sz="1275" b="0">
                <a:solidFill>
                  <a:srgbClr val="0B1320"/>
                </a:solidFill>
              </a:rPr>
              <a:t>apportant un classement, un</a:t>
            </a:r>
          </a:p>
          <a:p xmlns:a="http://schemas.openxmlformats.org/drawingml/2006/main">
            <a:pPr algn="l">
              <a:defRPr sz="1275" b="0">
                <a:solidFill>
                  <a:srgbClr val="0B1320"/>
                </a:solidFill>
              </a:defRPr>
            </a:pPr>
            <a:r>
              <a:rPr sz="1275" b="0">
                <a:solidFill>
                  <a:srgbClr val="0B1320"/>
                </a:solidFill>
              </a:rPr>
              <a:t>score et une explication</a:t>
            </a:r>
          </a:p>
          <a:p xmlns:a="http://schemas.openxmlformats.org/drawingml/2006/main">
            <a:pPr algn="l">
              <a:defRPr sz="1275" b="0">
                <a:solidFill>
                  <a:srgbClr val="0B1320"/>
                </a:solidFill>
              </a:defRPr>
            </a:pPr>
            <a:r>
              <a:rPr sz="1275" b="0">
                <a:solidFill>
                  <a:srgbClr val="0B1320"/>
                </a:solidFill>
              </a:rPr>
              <a:t>lisible.</a:t>
            </a:r>
          </a:p>
        </p:txBody>
      </p:sp>
    </p:spTree>
    <p:extLst>
      <p:ext uri="{BB962C8B-B14F-4D97-AF65-F5344CB8AC3E}">
        <p14:creationId xmlns:p14="http://schemas.microsoft.com/office/powerpoint/2010/main" val="42723351"/>
      </p:ext>
    </p:extLst>
  </p:cSld>
</p:sld>
</file>

<file path=ppt/slides/slide5.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CBF359A-7211-4C5E-8008-91484FA439A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A46B69C-B56D-4600-8C64-93CE4755F340}"/>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CE9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C4F020C-2E0D-464A-8695-5FB712734488}"/>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6FBF3">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2A3334E-AC18-41E8-A077-4A6ABE7BD75B}"/>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FE8D7">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6235949-69F4-42DE-9292-0FC65BB073DC}"/>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FA7E07B9-9D7E-4FED-9F4F-C85209704DA4}"/>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93B98064-B0E5-4363-A610-9D49ECCFF3A7}"/>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A8E1374B-D91E-48EC-AF5E-A0DCEDD1C2A0}"/>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A137C6D-21D9-4263-B2BD-C999475C05F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5882"/>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71657660-0ED7-4039-8922-55EA6C811A6D}"/>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04. SOLUTION</a:t>
            </a:r>
          </a:p>
        </p:txBody>
      </p:sp>
      <p:sp>
        <p:nvSpPr>
          <p:cNvPr id="11" name="">
            <a:extLst xmlns:a="http://schemas.openxmlformats.org/drawingml/2006/main">
              <a:ext uri="{FF2B5EF4-FFF2-40B4-BE49-F238E27FC236}">
                <a16:creationId xmlns:a16="http://schemas.microsoft.com/office/drawing/2014/main" id="{EE5CB8D7-00DF-4895-A10A-6302017C16D3}"/>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05 / 13</a:t>
            </a:r>
          </a:p>
        </p:txBody>
      </p:sp>
      <p:sp>
        <p:nvSpPr>
          <p:cNvPr id="12" name="">
            <a:extLst xmlns:a="http://schemas.openxmlformats.org/drawingml/2006/main">
              <a:ext uri="{FF2B5EF4-FFF2-40B4-BE49-F238E27FC236}">
                <a16:creationId xmlns:a16="http://schemas.microsoft.com/office/drawing/2014/main" id="{F982ABAB-8E23-4664-A1ED-82C796283EFD}"/>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B5F61181-1818-442F-B955-B7DC52B4CEBE}"/>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1464D138-5286-4CAE-805C-84C4C87FA19F}"/>
              </a:ext>
            </a:extLst>
          </p:cNvPr>
          <p:cNvSpPr>
            <a:spLocks xmlns:a="http://schemas.openxmlformats.org/drawingml/2006/main" noGrp="1"/>
          </p:cNvSpPr>
          <p:nvPr/>
        </p:nvSpPr>
        <p:spPr>
          <a:xfrm xmlns:a="http://schemas.openxmlformats.org/drawingml/2006/main">
            <a:off x="685800" y="876300"/>
            <a:ext cx="73342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La solution proposée</a:t>
            </a:r>
          </a:p>
        </p:txBody>
      </p:sp>
      <p:sp>
        <p:nvSpPr>
          <p:cNvPr id="15" name="">
            <a:extLst xmlns:a="http://schemas.openxmlformats.org/drawingml/2006/main">
              <a:ext uri="{FF2B5EF4-FFF2-40B4-BE49-F238E27FC236}">
                <a16:creationId xmlns:a16="http://schemas.microsoft.com/office/drawing/2014/main" id="{78BB2FBC-79E8-482D-8200-4D6292CF5021}"/>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Le projet combine un tri rapide de masse et une analyse approfondie sur les profils les plus prometteurs.</a:t>
            </a:r>
          </a:p>
        </p:txBody>
      </p:sp>
      <p:sp>
        <p:nvSpPr>
          <p:cNvPr id="16" name="">
            <a:extLst xmlns:a="http://schemas.openxmlformats.org/drawingml/2006/main">
              <a:ext uri="{FF2B5EF4-FFF2-40B4-BE49-F238E27FC236}">
                <a16:creationId xmlns:a16="http://schemas.microsoft.com/office/drawing/2014/main" id="{7019C038-CAF2-4D5B-848D-41375CB61447}"/>
              </a:ext>
            </a:extLst>
          </p:cNvPr>
          <p:cNvSpPr>
            <a:spLocks xmlns:a="http://schemas.openxmlformats.org/drawingml/2006/main" noGrp="1"/>
          </p:cNvSpPr>
          <p:nvPr/>
        </p:nvSpPr>
        <p:spPr>
          <a:xfrm xmlns:a="http://schemas.openxmlformats.org/drawingml/2006/main">
            <a:off x="8001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21AD4965-439B-47A3-9877-3C7ADBD563CD}"/>
              </a:ext>
            </a:extLst>
          </p:cNvPr>
          <p:cNvSpPr>
            <a:spLocks xmlns:a="http://schemas.openxmlformats.org/drawingml/2006/main" noGrp="1"/>
          </p:cNvSpPr>
          <p:nvPr/>
        </p:nvSpPr>
        <p:spPr>
          <a:xfrm xmlns:a="http://schemas.openxmlformats.org/drawingml/2006/main">
            <a:off x="800100" y="3676650"/>
            <a:ext cx="76200" cy="20383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40202E04-EF2F-4E0A-A58F-C594EE07CEC1}"/>
              </a:ext>
            </a:extLst>
          </p:cNvPr>
          <p:cNvSpPr>
            <a:spLocks xmlns:a="http://schemas.openxmlformats.org/drawingml/2006/main" noGrp="1"/>
          </p:cNvSpPr>
          <p:nvPr/>
        </p:nvSpPr>
        <p:spPr>
          <a:xfrm xmlns:a="http://schemas.openxmlformats.org/drawingml/2006/main">
            <a:off x="10096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19" name="">
            <a:extLst xmlns:a="http://schemas.openxmlformats.org/drawingml/2006/main">
              <a:ext uri="{FF2B5EF4-FFF2-40B4-BE49-F238E27FC236}">
                <a16:creationId xmlns:a16="http://schemas.microsoft.com/office/drawing/2014/main" id="{94CDE0F8-A748-4121-A101-E1B2C5DBABBD}"/>
              </a:ext>
            </a:extLst>
          </p:cNvPr>
          <p:cNvSpPr>
            <a:spLocks xmlns:a="http://schemas.openxmlformats.org/drawingml/2006/main" noGrp="1"/>
          </p:cNvSpPr>
          <p:nvPr/>
        </p:nvSpPr>
        <p:spPr>
          <a:xfrm xmlns:a="http://schemas.openxmlformats.org/drawingml/2006/main">
            <a:off x="1162050" y="4181475"/>
            <a:ext cx="57150" cy="1143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F3A8632E-9C81-4D49-82D9-F3AE206A4E75}"/>
              </a:ext>
            </a:extLst>
          </p:cNvPr>
          <p:cNvSpPr>
            <a:spLocks xmlns:a="http://schemas.openxmlformats.org/drawingml/2006/main" noGrp="1"/>
          </p:cNvSpPr>
          <p:nvPr/>
        </p:nvSpPr>
        <p:spPr>
          <a:xfrm xmlns:a="http://schemas.openxmlformats.org/drawingml/2006/main">
            <a:off x="1247775" y="4105275"/>
            <a:ext cx="57150" cy="1905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6363C479-3009-49DD-96A0-583A609A26E8}"/>
              </a:ext>
            </a:extLst>
          </p:cNvPr>
          <p:cNvSpPr>
            <a:spLocks xmlns:a="http://schemas.openxmlformats.org/drawingml/2006/main" noGrp="1"/>
          </p:cNvSpPr>
          <p:nvPr/>
        </p:nvSpPr>
        <p:spPr>
          <a:xfrm xmlns:a="http://schemas.openxmlformats.org/drawingml/2006/main">
            <a:off x="1333500" y="4038600"/>
            <a:ext cx="57150" cy="2571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1D6E41C0-760B-4961-8D7F-998B01616E2F}"/>
              </a:ext>
            </a:extLst>
          </p:cNvPr>
          <p:cNvSpPr>
            <a:spLocks xmlns:a="http://schemas.openxmlformats.org/drawingml/2006/main" noGrp="1"/>
          </p:cNvSpPr>
          <p:nvPr/>
        </p:nvSpPr>
        <p:spPr>
          <a:xfrm xmlns:a="http://schemas.openxmlformats.org/drawingml/2006/main">
            <a:off x="16383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Étape 1</a:t>
            </a:r>
          </a:p>
        </p:txBody>
      </p:sp>
      <p:sp>
        <p:nvSpPr>
          <p:cNvPr id="23" name="">
            <a:extLst xmlns:a="http://schemas.openxmlformats.org/drawingml/2006/main">
              <a:ext uri="{FF2B5EF4-FFF2-40B4-BE49-F238E27FC236}">
                <a16:creationId xmlns:a16="http://schemas.microsoft.com/office/drawing/2014/main" id="{5B930242-59A0-45E7-BB86-745F6CC497D2}"/>
              </a:ext>
            </a:extLst>
          </p:cNvPr>
          <p:cNvSpPr>
            <a:spLocks xmlns:a="http://schemas.openxmlformats.org/drawingml/2006/main" noGrp="1"/>
          </p:cNvSpPr>
          <p:nvPr/>
        </p:nvSpPr>
        <p:spPr>
          <a:xfrm xmlns:a="http://schemas.openxmlformats.org/drawingml/2006/main">
            <a:off x="10287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Le système réalise un</a:t>
            </a:r>
          </a:p>
          <a:p xmlns:a="http://schemas.openxmlformats.org/drawingml/2006/main">
            <a:pPr algn="l">
              <a:defRPr sz="1275" b="0">
                <a:solidFill>
                  <a:srgbClr val="0B1320"/>
                </a:solidFill>
              </a:defRPr>
            </a:pPr>
            <a:r>
              <a:rPr sz="1275" b="0">
                <a:solidFill>
                  <a:srgbClr val="0B1320"/>
                </a:solidFill>
              </a:rPr>
              <a:t>classement rapide des CV</a:t>
            </a:r>
          </a:p>
          <a:p xmlns:a="http://schemas.openxmlformats.org/drawingml/2006/main">
            <a:pPr algn="l">
              <a:defRPr sz="1275" b="0">
                <a:solidFill>
                  <a:srgbClr val="0B1320"/>
                </a:solidFill>
              </a:defRPr>
            </a:pPr>
            <a:r>
              <a:rPr sz="1275" b="0">
                <a:solidFill>
                  <a:srgbClr val="0B1320"/>
                </a:solidFill>
              </a:rPr>
              <a:t>face à un poste grâce à un</a:t>
            </a:r>
          </a:p>
          <a:p xmlns:a="http://schemas.openxmlformats.org/drawingml/2006/main">
            <a:pPr algn="l">
              <a:defRPr sz="1275" b="0">
                <a:solidFill>
                  <a:srgbClr val="0B1320"/>
                </a:solidFill>
              </a:defRPr>
            </a:pPr>
            <a:r>
              <a:rPr sz="1275" b="0">
                <a:solidFill>
                  <a:srgbClr val="0B1320"/>
                </a:solidFill>
              </a:rPr>
              <a:t>moteur RAG basé sur la</a:t>
            </a:r>
          </a:p>
          <a:p xmlns:a="http://schemas.openxmlformats.org/drawingml/2006/main">
            <a:pPr algn="l">
              <a:defRPr sz="1275" b="0">
                <a:solidFill>
                  <a:srgbClr val="0B1320"/>
                </a:solidFill>
              </a:defRPr>
            </a:pPr>
            <a:r>
              <a:rPr sz="1275" b="0">
                <a:solidFill>
                  <a:srgbClr val="0B1320"/>
                </a:solidFill>
              </a:rPr>
              <a:t>similarité sémantique.</a:t>
            </a:r>
          </a:p>
        </p:txBody>
      </p:sp>
      <p:sp>
        <p:nvSpPr>
          <p:cNvPr id="24" name="">
            <a:extLst xmlns:a="http://schemas.openxmlformats.org/drawingml/2006/main">
              <a:ext uri="{FF2B5EF4-FFF2-40B4-BE49-F238E27FC236}">
                <a16:creationId xmlns:a16="http://schemas.microsoft.com/office/drawing/2014/main" id="{0C0AB1AC-4183-46A2-994C-49C03C60B0C3}"/>
              </a:ext>
            </a:extLst>
          </p:cNvPr>
          <p:cNvSpPr>
            <a:spLocks xmlns:a="http://schemas.openxmlformats.org/drawingml/2006/main" noGrp="1"/>
          </p:cNvSpPr>
          <p:nvPr/>
        </p:nvSpPr>
        <p:spPr>
          <a:xfrm xmlns:a="http://schemas.openxmlformats.org/drawingml/2006/main">
            <a:off x="44069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25" name="">
            <a:extLst xmlns:a="http://schemas.openxmlformats.org/drawingml/2006/main">
              <a:ext uri="{FF2B5EF4-FFF2-40B4-BE49-F238E27FC236}">
                <a16:creationId xmlns:a16="http://schemas.microsoft.com/office/drawing/2014/main" id="{A3A4B747-B7CE-4EF6-8162-7A640711C746}"/>
              </a:ext>
            </a:extLst>
          </p:cNvPr>
          <p:cNvSpPr>
            <a:spLocks xmlns:a="http://schemas.openxmlformats.org/drawingml/2006/main" noGrp="1"/>
          </p:cNvSpPr>
          <p:nvPr/>
        </p:nvSpPr>
        <p:spPr>
          <a:xfrm xmlns:a="http://schemas.openxmlformats.org/drawingml/2006/main">
            <a:off x="4406900" y="3676650"/>
            <a:ext cx="76200" cy="2038350"/>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2385917B-523C-4557-A5F1-801F4C812B47}"/>
              </a:ext>
            </a:extLst>
          </p:cNvPr>
          <p:cNvSpPr>
            <a:spLocks xmlns:a="http://schemas.openxmlformats.org/drawingml/2006/main" noGrp="1"/>
          </p:cNvSpPr>
          <p:nvPr/>
        </p:nvSpPr>
        <p:spPr>
          <a:xfrm xmlns:a="http://schemas.openxmlformats.org/drawingml/2006/main">
            <a:off x="46164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A5013867-E7CF-478F-B64D-4FE5ECD8065F}"/>
              </a:ext>
            </a:extLst>
          </p:cNvPr>
          <p:cNvSpPr>
            <a:spLocks xmlns:a="http://schemas.openxmlformats.org/drawingml/2006/main" noGrp="1"/>
          </p:cNvSpPr>
          <p:nvPr/>
        </p:nvSpPr>
        <p:spPr>
          <a:xfrm xmlns:a="http://schemas.openxmlformats.org/drawingml/2006/main">
            <a:off x="4740275" y="4076700"/>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E7AF97F1-5552-4CFE-93D7-B55BAB3F9150}"/>
              </a:ext>
            </a:extLst>
          </p:cNvPr>
          <p:cNvSpPr>
            <a:spLocks xmlns:a="http://schemas.openxmlformats.org/drawingml/2006/main" noGrp="1"/>
          </p:cNvSpPr>
          <p:nvPr/>
        </p:nvSpPr>
        <p:spPr>
          <a:xfrm xmlns:a="http://schemas.openxmlformats.org/drawingml/2006/main">
            <a:off x="4911725" y="4162425"/>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66866914-7F08-4D18-8B89-7A8AF3AB1DFC}"/>
              </a:ext>
            </a:extLst>
          </p:cNvPr>
          <p:cNvSpPr>
            <a:spLocks xmlns:a="http://schemas.openxmlformats.org/drawingml/2006/main" noGrp="1"/>
          </p:cNvSpPr>
          <p:nvPr/>
        </p:nvSpPr>
        <p:spPr>
          <a:xfrm xmlns:a="http://schemas.openxmlformats.org/drawingml/2006/main">
            <a:off x="4826000" y="4143375"/>
            <a:ext cx="180975" cy="28575"/>
          </a:xfrm>
          <a:prstGeom xmlns:a="http://schemas.openxmlformats.org/drawingml/2006/main" prst="rect">
            <a:avLst/>
          </a:prstGeom>
          <a:solidFill xmlns:a="http://schemas.openxmlformats.org/drawingml/2006/main">
            <a:srgbClr val="0B13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99537738-53E1-47D5-A3C8-DF8D89CDC769}"/>
              </a:ext>
            </a:extLst>
          </p:cNvPr>
          <p:cNvSpPr>
            <a:spLocks xmlns:a="http://schemas.openxmlformats.org/drawingml/2006/main" noGrp="1"/>
          </p:cNvSpPr>
          <p:nvPr/>
        </p:nvSpPr>
        <p:spPr>
          <a:xfrm xmlns:a="http://schemas.openxmlformats.org/drawingml/2006/main">
            <a:off x="52451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Étape 2</a:t>
            </a:r>
          </a:p>
        </p:txBody>
      </p:sp>
      <p:sp>
        <p:nvSpPr>
          <p:cNvPr id="31" name="">
            <a:extLst xmlns:a="http://schemas.openxmlformats.org/drawingml/2006/main">
              <a:ext uri="{FF2B5EF4-FFF2-40B4-BE49-F238E27FC236}">
                <a16:creationId xmlns:a16="http://schemas.microsoft.com/office/drawing/2014/main" id="{8E876E53-EED8-434B-9A6D-39C8733E12E4}"/>
              </a:ext>
            </a:extLst>
          </p:cNvPr>
          <p:cNvSpPr>
            <a:spLocks xmlns:a="http://schemas.openxmlformats.org/drawingml/2006/main" noGrp="1"/>
          </p:cNvSpPr>
          <p:nvPr/>
        </p:nvSpPr>
        <p:spPr>
          <a:xfrm xmlns:a="http://schemas.openxmlformats.org/drawingml/2006/main">
            <a:off x="46355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Après ce classement, le</a:t>
            </a:r>
          </a:p>
          <a:p xmlns:a="http://schemas.openxmlformats.org/drawingml/2006/main">
            <a:pPr algn="l">
              <a:defRPr sz="1275" b="0">
                <a:solidFill>
                  <a:srgbClr val="0B1320"/>
                </a:solidFill>
              </a:defRPr>
            </a:pPr>
            <a:r>
              <a:rPr sz="1275" b="0">
                <a:solidFill>
                  <a:srgbClr val="0B1320"/>
                </a:solidFill>
              </a:rPr>
              <a:t>recruteur choisit les</a:t>
            </a:r>
          </a:p>
          <a:p xmlns:a="http://schemas.openxmlformats.org/drawingml/2006/main">
            <a:pPr algn="l">
              <a:defRPr sz="1275" b="0">
                <a:solidFill>
                  <a:srgbClr val="0B1320"/>
                </a:solidFill>
              </a:defRPr>
            </a:pPr>
            <a:r>
              <a:rPr sz="1275" b="0">
                <a:solidFill>
                  <a:srgbClr val="0B1320"/>
                </a:solidFill>
              </a:rPr>
              <a:t>profils à analyser en</a:t>
            </a:r>
          </a:p>
          <a:p xmlns:a="http://schemas.openxmlformats.org/drawingml/2006/main">
            <a:pPr algn="l">
              <a:defRPr sz="1275" b="0">
                <a:solidFill>
                  <a:srgbClr val="0B1320"/>
                </a:solidFill>
              </a:defRPr>
            </a:pPr>
            <a:r>
              <a:rPr sz="1275" b="0">
                <a:solidFill>
                  <a:srgbClr val="0B1320"/>
                </a:solidFill>
              </a:rPr>
              <a:t>profondeur avec un pipeline</a:t>
            </a:r>
          </a:p>
          <a:p xmlns:a="http://schemas.openxmlformats.org/drawingml/2006/main">
            <a:pPr algn="l">
              <a:defRPr sz="1275" b="0">
                <a:solidFill>
                  <a:srgbClr val="0B1320"/>
                </a:solidFill>
              </a:defRPr>
            </a:pPr>
            <a:r>
              <a:rPr sz="1275" b="0">
                <a:solidFill>
                  <a:srgbClr val="0B1320"/>
                </a:solidFill>
              </a:rPr>
              <a:t>LangGraph.</a:t>
            </a:r>
          </a:p>
        </p:txBody>
      </p:sp>
      <p:sp>
        <p:nvSpPr>
          <p:cNvPr id="32" name="">
            <a:extLst xmlns:a="http://schemas.openxmlformats.org/drawingml/2006/main">
              <a:ext uri="{FF2B5EF4-FFF2-40B4-BE49-F238E27FC236}">
                <a16:creationId xmlns:a16="http://schemas.microsoft.com/office/drawing/2014/main" id="{EE36B4C8-9E52-4022-B699-B49DDA7896C3}"/>
              </a:ext>
            </a:extLst>
          </p:cNvPr>
          <p:cNvSpPr>
            <a:spLocks xmlns:a="http://schemas.openxmlformats.org/drawingml/2006/main" noGrp="1"/>
          </p:cNvSpPr>
          <p:nvPr/>
        </p:nvSpPr>
        <p:spPr>
          <a:xfrm xmlns:a="http://schemas.openxmlformats.org/drawingml/2006/main">
            <a:off x="80137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33" name="">
            <a:extLst xmlns:a="http://schemas.openxmlformats.org/drawingml/2006/main">
              <a:ext uri="{FF2B5EF4-FFF2-40B4-BE49-F238E27FC236}">
                <a16:creationId xmlns:a16="http://schemas.microsoft.com/office/drawing/2014/main" id="{A8220F3A-D4EC-4C8D-B6FF-0179EC170F4E}"/>
              </a:ext>
            </a:extLst>
          </p:cNvPr>
          <p:cNvSpPr>
            <a:spLocks xmlns:a="http://schemas.openxmlformats.org/drawingml/2006/main" noGrp="1"/>
          </p:cNvSpPr>
          <p:nvPr/>
        </p:nvSpPr>
        <p:spPr>
          <a:xfrm xmlns:a="http://schemas.openxmlformats.org/drawingml/2006/main">
            <a:off x="8013700" y="3676650"/>
            <a:ext cx="76200" cy="2038350"/>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053A3C43-3E5E-425C-A40C-E309F16CC007}"/>
              </a:ext>
            </a:extLst>
          </p:cNvPr>
          <p:cNvSpPr>
            <a:spLocks xmlns:a="http://schemas.openxmlformats.org/drawingml/2006/main" noGrp="1"/>
          </p:cNvSpPr>
          <p:nvPr/>
        </p:nvSpPr>
        <p:spPr>
          <a:xfrm xmlns:a="http://schemas.openxmlformats.org/drawingml/2006/main">
            <a:off x="82232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35" name="">
            <a:extLst xmlns:a="http://schemas.openxmlformats.org/drawingml/2006/main">
              <a:ext uri="{FF2B5EF4-FFF2-40B4-BE49-F238E27FC236}">
                <a16:creationId xmlns:a16="http://schemas.microsoft.com/office/drawing/2014/main" id="{2F57D11B-F9A6-4D2A-9A6D-F43FA561EFE9}"/>
              </a:ext>
            </a:extLst>
          </p:cNvPr>
          <p:cNvSpPr>
            <a:spLocks xmlns:a="http://schemas.openxmlformats.org/drawingml/2006/main" noGrp="1"/>
          </p:cNvSpPr>
          <p:nvPr/>
        </p:nvSpPr>
        <p:spPr>
          <a:xfrm xmlns:a="http://schemas.openxmlformats.org/drawingml/2006/main">
            <a:off x="8347075" y="4048125"/>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E07E0790-2F64-472A-A31B-FA1E13A3E830}"/>
              </a:ext>
            </a:extLst>
          </p:cNvPr>
          <p:cNvSpPr>
            <a:spLocks xmlns:a="http://schemas.openxmlformats.org/drawingml/2006/main" noGrp="1"/>
          </p:cNvSpPr>
          <p:nvPr/>
        </p:nvSpPr>
        <p:spPr>
          <a:xfrm xmlns:a="http://schemas.openxmlformats.org/drawingml/2006/main">
            <a:off x="8394700" y="4133850"/>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C7E90180-5107-4BA6-812B-B7D6FDA41D11}"/>
              </a:ext>
            </a:extLst>
          </p:cNvPr>
          <p:cNvSpPr>
            <a:spLocks xmlns:a="http://schemas.openxmlformats.org/drawingml/2006/main" noGrp="1"/>
          </p:cNvSpPr>
          <p:nvPr/>
        </p:nvSpPr>
        <p:spPr>
          <a:xfrm xmlns:a="http://schemas.openxmlformats.org/drawingml/2006/main">
            <a:off x="8442325" y="4219575"/>
            <a:ext cx="190500" cy="95250"/>
          </a:xfrm>
          <a:prstGeom xmlns:a="http://schemas.openxmlformats.org/drawingml/2006/main" prst="roundRect">
            <a:avLst>
              <a:gd name="adj" fmla="val 50000"/>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3EC413FF-AA11-4738-A282-9D4BA494E6F8}"/>
              </a:ext>
            </a:extLst>
          </p:cNvPr>
          <p:cNvSpPr>
            <a:spLocks xmlns:a="http://schemas.openxmlformats.org/drawingml/2006/main" noGrp="1"/>
          </p:cNvSpPr>
          <p:nvPr/>
        </p:nvSpPr>
        <p:spPr>
          <a:xfrm xmlns:a="http://schemas.openxmlformats.org/drawingml/2006/main">
            <a:off x="88519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Résultat</a:t>
            </a:r>
          </a:p>
        </p:txBody>
      </p:sp>
      <p:sp>
        <p:nvSpPr>
          <p:cNvPr id="39" name="">
            <a:extLst xmlns:a="http://schemas.openxmlformats.org/drawingml/2006/main">
              <a:ext uri="{FF2B5EF4-FFF2-40B4-BE49-F238E27FC236}">
                <a16:creationId xmlns:a16="http://schemas.microsoft.com/office/drawing/2014/main" id="{AD9045C1-AC2B-48F4-9C22-66722CD523F4}"/>
              </a:ext>
            </a:extLst>
          </p:cNvPr>
          <p:cNvSpPr>
            <a:spLocks xmlns:a="http://schemas.openxmlformats.org/drawingml/2006/main" noGrp="1"/>
          </p:cNvSpPr>
          <p:nvPr/>
        </p:nvSpPr>
        <p:spPr>
          <a:xfrm xmlns:a="http://schemas.openxmlformats.org/drawingml/2006/main">
            <a:off x="82423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Le système produit ensuite</a:t>
            </a:r>
          </a:p>
          <a:p xmlns:a="http://schemas.openxmlformats.org/drawingml/2006/main">
            <a:pPr algn="l">
              <a:defRPr sz="1275" b="0">
                <a:solidFill>
                  <a:srgbClr val="0B1320"/>
                </a:solidFill>
              </a:defRPr>
            </a:pPr>
            <a:r>
              <a:rPr sz="1275" b="0">
                <a:solidFill>
                  <a:srgbClr val="0B1320"/>
                </a:solidFill>
              </a:rPr>
              <a:t>un rapport complet avec</a:t>
            </a:r>
          </a:p>
          <a:p xmlns:a="http://schemas.openxmlformats.org/drawingml/2006/main">
            <a:pPr algn="l">
              <a:defRPr sz="1275" b="0">
                <a:solidFill>
                  <a:srgbClr val="0B1320"/>
                </a:solidFill>
              </a:defRPr>
            </a:pPr>
            <a:r>
              <a:rPr sz="1275" b="0">
                <a:solidFill>
                  <a:srgbClr val="0B1320"/>
                </a:solidFill>
              </a:rPr>
              <a:t>score, recommandations,</a:t>
            </a:r>
          </a:p>
          <a:p xmlns:a="http://schemas.openxmlformats.org/drawingml/2006/main">
            <a:pPr algn="l">
              <a:defRPr sz="1275" b="0">
                <a:solidFill>
                  <a:srgbClr val="0B1320"/>
                </a:solidFill>
              </a:defRPr>
            </a:pPr>
            <a:r>
              <a:rPr sz="1275" b="0">
                <a:solidFill>
                  <a:srgbClr val="0B1320"/>
                </a:solidFill>
              </a:rPr>
              <a:t>points forts, lacunes et</a:t>
            </a:r>
          </a:p>
          <a:p xmlns:a="http://schemas.openxmlformats.org/drawingml/2006/main">
            <a:pPr algn="l">
              <a:defRPr sz="1275" b="0">
                <a:solidFill>
                  <a:srgbClr val="0B1320"/>
                </a:solidFill>
              </a:defRPr>
            </a:pPr>
            <a:r>
              <a:rPr sz="1275" b="0">
                <a:solidFill>
                  <a:srgbClr val="0B1320"/>
                </a:solidFill>
              </a:rPr>
              <a:t>export PDF.</a:t>
            </a:r>
          </a:p>
        </p:txBody>
      </p:sp>
    </p:spTree>
    <p:extLst>
      <p:ext uri="{BB962C8B-B14F-4D97-AF65-F5344CB8AC3E}">
        <p14:creationId xmlns:p14="http://schemas.microsoft.com/office/powerpoint/2010/main" val="223006610"/>
      </p:ext>
    </p:extLst>
  </p:cSld>
</p:sld>
</file>

<file path=ppt/slides/slide6.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CBF359A-7211-4C5E-8008-91484FA439A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A9FE10D-D41E-47B9-9600-32CB18D31954}"/>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7E7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5EF071E-9C32-4BA5-B56A-A6BB46CDDD1B}"/>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AFBF0">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1C8FBA4-ECED-4EDC-AF06-20E89E41C899}"/>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DE4D9">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D1B2D85-604F-4717-9A50-3E4199ED435F}"/>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46CCCB5E-EDEB-4EC4-8458-23BC26894C16}"/>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F521CC88-C053-4A8B-88D7-535639D167EF}"/>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9D482967-4D86-40E0-A9FC-2FC0E5317BD2}"/>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F0C47CA-1AE2-4D95-83C2-42B88EE4BE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5882"/>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4C2D0017-C402-440F-8E82-66696F6395CB}"/>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05. STACK</a:t>
            </a:r>
          </a:p>
        </p:txBody>
      </p:sp>
      <p:sp>
        <p:nvSpPr>
          <p:cNvPr id="11" name="">
            <a:extLst xmlns:a="http://schemas.openxmlformats.org/drawingml/2006/main">
              <a:ext uri="{FF2B5EF4-FFF2-40B4-BE49-F238E27FC236}">
                <a16:creationId xmlns:a16="http://schemas.microsoft.com/office/drawing/2014/main" id="{64C1D553-B129-4629-8E13-01856BF59643}"/>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06 / 13</a:t>
            </a:r>
          </a:p>
        </p:txBody>
      </p:sp>
      <p:sp>
        <p:nvSpPr>
          <p:cNvPr id="12" name="">
            <a:extLst xmlns:a="http://schemas.openxmlformats.org/drawingml/2006/main">
              <a:ext uri="{FF2B5EF4-FFF2-40B4-BE49-F238E27FC236}">
                <a16:creationId xmlns:a16="http://schemas.microsoft.com/office/drawing/2014/main" id="{B958E69C-3212-46D3-8911-62617EAD4792}"/>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97EAB378-5094-492D-AF32-ABB7AC43B1C2}"/>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7F27200B-4E74-4EBB-BA5D-75CB6A9108DF}"/>
              </a:ext>
            </a:extLst>
          </p:cNvPr>
          <p:cNvSpPr>
            <a:spLocks xmlns:a="http://schemas.openxmlformats.org/drawingml/2006/main" noGrp="1"/>
          </p:cNvSpPr>
          <p:nvPr/>
        </p:nvSpPr>
        <p:spPr>
          <a:xfrm xmlns:a="http://schemas.openxmlformats.org/drawingml/2006/main">
            <a:off x="685800" y="876300"/>
            <a:ext cx="73342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Les technologies utilisées</a:t>
            </a:r>
          </a:p>
        </p:txBody>
      </p:sp>
      <p:sp>
        <p:nvSpPr>
          <p:cNvPr id="15" name="">
            <a:extLst xmlns:a="http://schemas.openxmlformats.org/drawingml/2006/main">
              <a:ext uri="{FF2B5EF4-FFF2-40B4-BE49-F238E27FC236}">
                <a16:creationId xmlns:a16="http://schemas.microsoft.com/office/drawing/2014/main" id="{004B0754-F70D-4285-B475-18D2184D6E56}"/>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Le projet repose sur un frontend web, un backend API, une base relationnelle et un moteur de recherche vectorielle.</a:t>
            </a:r>
          </a:p>
        </p:txBody>
      </p:sp>
      <p:sp>
        <p:nvSpPr>
          <p:cNvPr id="16" name="">
            <a:extLst xmlns:a="http://schemas.openxmlformats.org/drawingml/2006/main">
              <a:ext uri="{FF2B5EF4-FFF2-40B4-BE49-F238E27FC236}">
                <a16:creationId xmlns:a16="http://schemas.microsoft.com/office/drawing/2014/main" id="{E97B7C7D-17F2-4396-BC11-D9097951303F}"/>
              </a:ext>
            </a:extLst>
          </p:cNvPr>
          <p:cNvSpPr>
            <a:spLocks xmlns:a="http://schemas.openxmlformats.org/drawingml/2006/main" noGrp="1"/>
          </p:cNvSpPr>
          <p:nvPr/>
        </p:nvSpPr>
        <p:spPr>
          <a:xfrm xmlns:a="http://schemas.openxmlformats.org/drawingml/2006/main">
            <a:off x="8001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3D906F0F-5FF5-4E6A-90FB-ACE63EBB75FF}"/>
              </a:ext>
            </a:extLst>
          </p:cNvPr>
          <p:cNvSpPr>
            <a:spLocks xmlns:a="http://schemas.openxmlformats.org/drawingml/2006/main" noGrp="1"/>
          </p:cNvSpPr>
          <p:nvPr/>
        </p:nvSpPr>
        <p:spPr>
          <a:xfrm xmlns:a="http://schemas.openxmlformats.org/drawingml/2006/main">
            <a:off x="800100" y="3676650"/>
            <a:ext cx="76200" cy="20383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C88BE7E0-3B77-4990-924C-501EB391FACD}"/>
              </a:ext>
            </a:extLst>
          </p:cNvPr>
          <p:cNvSpPr>
            <a:spLocks xmlns:a="http://schemas.openxmlformats.org/drawingml/2006/main" noGrp="1"/>
          </p:cNvSpPr>
          <p:nvPr/>
        </p:nvSpPr>
        <p:spPr>
          <a:xfrm xmlns:a="http://schemas.openxmlformats.org/drawingml/2006/main">
            <a:off x="10096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19" name="">
            <a:extLst xmlns:a="http://schemas.openxmlformats.org/drawingml/2006/main">
              <a:ext uri="{FF2B5EF4-FFF2-40B4-BE49-F238E27FC236}">
                <a16:creationId xmlns:a16="http://schemas.microsoft.com/office/drawing/2014/main" id="{AF663D43-1650-4438-A161-C8F9B4872AC7}"/>
              </a:ext>
            </a:extLst>
          </p:cNvPr>
          <p:cNvSpPr>
            <a:spLocks xmlns:a="http://schemas.openxmlformats.org/drawingml/2006/main" noGrp="1"/>
          </p:cNvSpPr>
          <p:nvPr/>
        </p:nvSpPr>
        <p:spPr>
          <a:xfrm xmlns:a="http://schemas.openxmlformats.org/drawingml/2006/main">
            <a:off x="1162050" y="4181475"/>
            <a:ext cx="57150" cy="1143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DFB00609-574D-493D-9BD7-EC0143E512AA}"/>
              </a:ext>
            </a:extLst>
          </p:cNvPr>
          <p:cNvSpPr>
            <a:spLocks xmlns:a="http://schemas.openxmlformats.org/drawingml/2006/main" noGrp="1"/>
          </p:cNvSpPr>
          <p:nvPr/>
        </p:nvSpPr>
        <p:spPr>
          <a:xfrm xmlns:a="http://schemas.openxmlformats.org/drawingml/2006/main">
            <a:off x="1247775" y="4105275"/>
            <a:ext cx="57150" cy="1905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ACDAAA57-2CB2-4C72-8223-241DFDBEACC6}"/>
              </a:ext>
            </a:extLst>
          </p:cNvPr>
          <p:cNvSpPr>
            <a:spLocks xmlns:a="http://schemas.openxmlformats.org/drawingml/2006/main" noGrp="1"/>
          </p:cNvSpPr>
          <p:nvPr/>
        </p:nvSpPr>
        <p:spPr>
          <a:xfrm xmlns:a="http://schemas.openxmlformats.org/drawingml/2006/main">
            <a:off x="1333500" y="4038600"/>
            <a:ext cx="57150" cy="2571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859AAF3F-8683-4A2A-831B-1AAB508A071B}"/>
              </a:ext>
            </a:extLst>
          </p:cNvPr>
          <p:cNvSpPr>
            <a:spLocks xmlns:a="http://schemas.openxmlformats.org/drawingml/2006/main" noGrp="1"/>
          </p:cNvSpPr>
          <p:nvPr/>
        </p:nvSpPr>
        <p:spPr>
          <a:xfrm xmlns:a="http://schemas.openxmlformats.org/drawingml/2006/main">
            <a:off x="16383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Interface</a:t>
            </a:r>
          </a:p>
        </p:txBody>
      </p:sp>
      <p:sp>
        <p:nvSpPr>
          <p:cNvPr id="23" name="">
            <a:extLst xmlns:a="http://schemas.openxmlformats.org/drawingml/2006/main">
              <a:ext uri="{FF2B5EF4-FFF2-40B4-BE49-F238E27FC236}">
                <a16:creationId xmlns:a16="http://schemas.microsoft.com/office/drawing/2014/main" id="{0F269963-BA30-4FC6-ADAE-12C71D4432ED}"/>
              </a:ext>
            </a:extLst>
          </p:cNvPr>
          <p:cNvSpPr>
            <a:spLocks xmlns:a="http://schemas.openxmlformats.org/drawingml/2006/main" noGrp="1"/>
          </p:cNvSpPr>
          <p:nvPr/>
        </p:nvSpPr>
        <p:spPr>
          <a:xfrm xmlns:a="http://schemas.openxmlformats.org/drawingml/2006/main">
            <a:off x="10287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React + Vite pour créer des</a:t>
            </a:r>
          </a:p>
          <a:p xmlns:a="http://schemas.openxmlformats.org/drawingml/2006/main">
            <a:pPr algn="l">
              <a:defRPr sz="1275" b="0">
                <a:solidFill>
                  <a:srgbClr val="0B1320"/>
                </a:solidFill>
              </a:defRPr>
            </a:pPr>
            <a:r>
              <a:rPr sz="1275" b="0">
                <a:solidFill>
                  <a:srgbClr val="0B1320"/>
                </a:solidFill>
              </a:rPr>
              <a:t>postes, déposer les CV,</a:t>
            </a:r>
          </a:p>
          <a:p xmlns:a="http://schemas.openxmlformats.org/drawingml/2006/main">
            <a:pPr algn="l">
              <a:defRPr sz="1275" b="0">
                <a:solidFill>
                  <a:srgbClr val="0B1320"/>
                </a:solidFill>
              </a:defRPr>
            </a:pPr>
            <a:r>
              <a:rPr sz="1275" b="0">
                <a:solidFill>
                  <a:srgbClr val="0B1320"/>
                </a:solidFill>
              </a:rPr>
              <a:t>suivre les analyses et</a:t>
            </a:r>
          </a:p>
          <a:p xmlns:a="http://schemas.openxmlformats.org/drawingml/2006/main">
            <a:pPr algn="l">
              <a:defRPr sz="1275" b="0">
                <a:solidFill>
                  <a:srgbClr val="0B1320"/>
                </a:solidFill>
              </a:defRPr>
            </a:pPr>
            <a:r>
              <a:rPr sz="1275" b="0">
                <a:solidFill>
                  <a:srgbClr val="0B1320"/>
                </a:solidFill>
              </a:rPr>
              <a:t>consulter les rapports.</a:t>
            </a:r>
          </a:p>
        </p:txBody>
      </p:sp>
      <p:sp>
        <p:nvSpPr>
          <p:cNvPr id="24" name="">
            <a:extLst xmlns:a="http://schemas.openxmlformats.org/drawingml/2006/main">
              <a:ext uri="{FF2B5EF4-FFF2-40B4-BE49-F238E27FC236}">
                <a16:creationId xmlns:a16="http://schemas.microsoft.com/office/drawing/2014/main" id="{89C179EF-B710-42E8-8B70-66D347D1D065}"/>
              </a:ext>
            </a:extLst>
          </p:cNvPr>
          <p:cNvSpPr>
            <a:spLocks xmlns:a="http://schemas.openxmlformats.org/drawingml/2006/main" noGrp="1"/>
          </p:cNvSpPr>
          <p:nvPr/>
        </p:nvSpPr>
        <p:spPr>
          <a:xfrm xmlns:a="http://schemas.openxmlformats.org/drawingml/2006/main">
            <a:off x="44069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25" name="">
            <a:extLst xmlns:a="http://schemas.openxmlformats.org/drawingml/2006/main">
              <a:ext uri="{FF2B5EF4-FFF2-40B4-BE49-F238E27FC236}">
                <a16:creationId xmlns:a16="http://schemas.microsoft.com/office/drawing/2014/main" id="{C2A9F17D-2D5C-42BC-AAD3-D27F421DD6ED}"/>
              </a:ext>
            </a:extLst>
          </p:cNvPr>
          <p:cNvSpPr>
            <a:spLocks xmlns:a="http://schemas.openxmlformats.org/drawingml/2006/main" noGrp="1"/>
          </p:cNvSpPr>
          <p:nvPr/>
        </p:nvSpPr>
        <p:spPr>
          <a:xfrm xmlns:a="http://schemas.openxmlformats.org/drawingml/2006/main">
            <a:off x="4406900" y="3676650"/>
            <a:ext cx="76200" cy="2038350"/>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73999ED2-14C6-45B3-BA6E-F3705EDD771A}"/>
              </a:ext>
            </a:extLst>
          </p:cNvPr>
          <p:cNvSpPr>
            <a:spLocks xmlns:a="http://schemas.openxmlformats.org/drawingml/2006/main" noGrp="1"/>
          </p:cNvSpPr>
          <p:nvPr/>
        </p:nvSpPr>
        <p:spPr>
          <a:xfrm xmlns:a="http://schemas.openxmlformats.org/drawingml/2006/main">
            <a:off x="46164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F16A8B71-1E23-436D-A4E4-12E2AEC7EEEA}"/>
              </a:ext>
            </a:extLst>
          </p:cNvPr>
          <p:cNvSpPr>
            <a:spLocks xmlns:a="http://schemas.openxmlformats.org/drawingml/2006/main" noGrp="1"/>
          </p:cNvSpPr>
          <p:nvPr/>
        </p:nvSpPr>
        <p:spPr>
          <a:xfrm xmlns:a="http://schemas.openxmlformats.org/drawingml/2006/main">
            <a:off x="4740275" y="4076700"/>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D3FF0E39-289C-45DF-BD51-00A0DA2C481A}"/>
              </a:ext>
            </a:extLst>
          </p:cNvPr>
          <p:cNvSpPr>
            <a:spLocks xmlns:a="http://schemas.openxmlformats.org/drawingml/2006/main" noGrp="1"/>
          </p:cNvSpPr>
          <p:nvPr/>
        </p:nvSpPr>
        <p:spPr>
          <a:xfrm xmlns:a="http://schemas.openxmlformats.org/drawingml/2006/main">
            <a:off x="4911725" y="4162425"/>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D74BBCC9-9C15-4A83-91F0-58734750A71E}"/>
              </a:ext>
            </a:extLst>
          </p:cNvPr>
          <p:cNvSpPr>
            <a:spLocks xmlns:a="http://schemas.openxmlformats.org/drawingml/2006/main" noGrp="1"/>
          </p:cNvSpPr>
          <p:nvPr/>
        </p:nvSpPr>
        <p:spPr>
          <a:xfrm xmlns:a="http://schemas.openxmlformats.org/drawingml/2006/main">
            <a:off x="4826000" y="4143375"/>
            <a:ext cx="180975" cy="28575"/>
          </a:xfrm>
          <a:prstGeom xmlns:a="http://schemas.openxmlformats.org/drawingml/2006/main" prst="rect">
            <a:avLst/>
          </a:prstGeom>
          <a:solidFill xmlns:a="http://schemas.openxmlformats.org/drawingml/2006/main">
            <a:srgbClr val="0B13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052C8A14-E833-46E0-8B68-0514EA434338}"/>
              </a:ext>
            </a:extLst>
          </p:cNvPr>
          <p:cNvSpPr>
            <a:spLocks xmlns:a="http://schemas.openxmlformats.org/drawingml/2006/main" noGrp="1"/>
          </p:cNvSpPr>
          <p:nvPr/>
        </p:nvSpPr>
        <p:spPr>
          <a:xfrm xmlns:a="http://schemas.openxmlformats.org/drawingml/2006/main">
            <a:off x="52451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Backend</a:t>
            </a:r>
          </a:p>
        </p:txBody>
      </p:sp>
      <p:sp>
        <p:nvSpPr>
          <p:cNvPr id="31" name="">
            <a:extLst xmlns:a="http://schemas.openxmlformats.org/drawingml/2006/main">
              <a:ext uri="{FF2B5EF4-FFF2-40B4-BE49-F238E27FC236}">
                <a16:creationId xmlns:a16="http://schemas.microsoft.com/office/drawing/2014/main" id="{72FEF6F4-09E1-4DE3-8A0B-505B0D1F2F9F}"/>
              </a:ext>
            </a:extLst>
          </p:cNvPr>
          <p:cNvSpPr>
            <a:spLocks xmlns:a="http://schemas.openxmlformats.org/drawingml/2006/main" noGrp="1"/>
          </p:cNvSpPr>
          <p:nvPr/>
        </p:nvSpPr>
        <p:spPr>
          <a:xfrm xmlns:a="http://schemas.openxmlformats.org/drawingml/2006/main">
            <a:off x="46355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FastAPI pour exposer les</a:t>
            </a:r>
          </a:p>
          <a:p xmlns:a="http://schemas.openxmlformats.org/drawingml/2006/main">
            <a:pPr algn="l">
              <a:defRPr sz="1275" b="0">
                <a:solidFill>
                  <a:srgbClr val="0B1320"/>
                </a:solidFill>
              </a:defRPr>
            </a:pPr>
            <a:r>
              <a:rPr sz="1275" b="0">
                <a:solidFill>
                  <a:srgbClr val="0B1320"/>
                </a:solidFill>
              </a:rPr>
              <a:t>routes, lancer les</a:t>
            </a:r>
          </a:p>
          <a:p xmlns:a="http://schemas.openxmlformats.org/drawingml/2006/main">
            <a:pPr algn="l">
              <a:defRPr sz="1275" b="0">
                <a:solidFill>
                  <a:srgbClr val="0B1320"/>
                </a:solidFill>
              </a:defRPr>
            </a:pPr>
            <a:r>
              <a:rPr sz="1275" b="0">
                <a:solidFill>
                  <a:srgbClr val="0B1320"/>
                </a:solidFill>
              </a:rPr>
              <a:t>traitements, gérer les</a:t>
            </a:r>
          </a:p>
          <a:p xmlns:a="http://schemas.openxmlformats.org/drawingml/2006/main">
            <a:pPr algn="l">
              <a:defRPr sz="1275" b="0">
                <a:solidFill>
                  <a:srgbClr val="0B1320"/>
                </a:solidFill>
              </a:defRPr>
            </a:pPr>
            <a:r>
              <a:rPr sz="1275" b="0">
                <a:solidFill>
                  <a:srgbClr val="0B1320"/>
                </a:solidFill>
              </a:rPr>
              <a:t>tâches de fond et organiser</a:t>
            </a:r>
          </a:p>
          <a:p xmlns:a="http://schemas.openxmlformats.org/drawingml/2006/main">
            <a:pPr algn="l">
              <a:defRPr sz="1275" b="0">
                <a:solidFill>
                  <a:srgbClr val="0B1320"/>
                </a:solidFill>
              </a:defRPr>
            </a:pPr>
            <a:r>
              <a:rPr sz="1275" b="0">
                <a:solidFill>
                  <a:srgbClr val="0B1320"/>
                </a:solidFill>
              </a:rPr>
              <a:t>le pipeline.</a:t>
            </a:r>
          </a:p>
        </p:txBody>
      </p:sp>
      <p:sp>
        <p:nvSpPr>
          <p:cNvPr id="32" name="">
            <a:extLst xmlns:a="http://schemas.openxmlformats.org/drawingml/2006/main">
              <a:ext uri="{FF2B5EF4-FFF2-40B4-BE49-F238E27FC236}">
                <a16:creationId xmlns:a16="http://schemas.microsoft.com/office/drawing/2014/main" id="{AF0C0B19-E6FD-4115-AD56-F81DC9BF713F}"/>
              </a:ext>
            </a:extLst>
          </p:cNvPr>
          <p:cNvSpPr>
            <a:spLocks xmlns:a="http://schemas.openxmlformats.org/drawingml/2006/main" noGrp="1"/>
          </p:cNvSpPr>
          <p:nvPr/>
        </p:nvSpPr>
        <p:spPr>
          <a:xfrm xmlns:a="http://schemas.openxmlformats.org/drawingml/2006/main">
            <a:off x="80137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33" name="">
            <a:extLst xmlns:a="http://schemas.openxmlformats.org/drawingml/2006/main">
              <a:ext uri="{FF2B5EF4-FFF2-40B4-BE49-F238E27FC236}">
                <a16:creationId xmlns:a16="http://schemas.microsoft.com/office/drawing/2014/main" id="{D9131110-C5F4-4BE8-8EC9-A8638E4BF244}"/>
              </a:ext>
            </a:extLst>
          </p:cNvPr>
          <p:cNvSpPr>
            <a:spLocks xmlns:a="http://schemas.openxmlformats.org/drawingml/2006/main" noGrp="1"/>
          </p:cNvSpPr>
          <p:nvPr/>
        </p:nvSpPr>
        <p:spPr>
          <a:xfrm xmlns:a="http://schemas.openxmlformats.org/drawingml/2006/main">
            <a:off x="8013700" y="3676650"/>
            <a:ext cx="76200" cy="2038350"/>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ABFA7D32-1409-4290-91FE-46C436A26561}"/>
              </a:ext>
            </a:extLst>
          </p:cNvPr>
          <p:cNvSpPr>
            <a:spLocks xmlns:a="http://schemas.openxmlformats.org/drawingml/2006/main" noGrp="1"/>
          </p:cNvSpPr>
          <p:nvPr/>
        </p:nvSpPr>
        <p:spPr>
          <a:xfrm xmlns:a="http://schemas.openxmlformats.org/drawingml/2006/main">
            <a:off x="82232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35" name="">
            <a:extLst xmlns:a="http://schemas.openxmlformats.org/drawingml/2006/main">
              <a:ext uri="{FF2B5EF4-FFF2-40B4-BE49-F238E27FC236}">
                <a16:creationId xmlns:a16="http://schemas.microsoft.com/office/drawing/2014/main" id="{F605ABE0-5F19-4834-8983-CC32A8EB20E9}"/>
              </a:ext>
            </a:extLst>
          </p:cNvPr>
          <p:cNvSpPr>
            <a:spLocks xmlns:a="http://schemas.openxmlformats.org/drawingml/2006/main" noGrp="1"/>
          </p:cNvSpPr>
          <p:nvPr/>
        </p:nvSpPr>
        <p:spPr>
          <a:xfrm xmlns:a="http://schemas.openxmlformats.org/drawingml/2006/main">
            <a:off x="8347075" y="4048125"/>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1BC75BAC-CF01-461C-BF94-AD169E9B2898}"/>
              </a:ext>
            </a:extLst>
          </p:cNvPr>
          <p:cNvSpPr>
            <a:spLocks xmlns:a="http://schemas.openxmlformats.org/drawingml/2006/main" noGrp="1"/>
          </p:cNvSpPr>
          <p:nvPr/>
        </p:nvSpPr>
        <p:spPr>
          <a:xfrm xmlns:a="http://schemas.openxmlformats.org/drawingml/2006/main">
            <a:off x="8394700" y="4133850"/>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BFD9E947-EA30-40E8-AEDF-DABE170EB9B6}"/>
              </a:ext>
            </a:extLst>
          </p:cNvPr>
          <p:cNvSpPr>
            <a:spLocks xmlns:a="http://schemas.openxmlformats.org/drawingml/2006/main" noGrp="1"/>
          </p:cNvSpPr>
          <p:nvPr/>
        </p:nvSpPr>
        <p:spPr>
          <a:xfrm xmlns:a="http://schemas.openxmlformats.org/drawingml/2006/main">
            <a:off x="8442325" y="4219575"/>
            <a:ext cx="190500" cy="95250"/>
          </a:xfrm>
          <a:prstGeom xmlns:a="http://schemas.openxmlformats.org/drawingml/2006/main" prst="roundRect">
            <a:avLst>
              <a:gd name="adj" fmla="val 50000"/>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A9D71E0C-7464-4275-9550-853A1E38DEF3}"/>
              </a:ext>
            </a:extLst>
          </p:cNvPr>
          <p:cNvSpPr>
            <a:spLocks xmlns:a="http://schemas.openxmlformats.org/drawingml/2006/main" noGrp="1"/>
          </p:cNvSpPr>
          <p:nvPr/>
        </p:nvSpPr>
        <p:spPr>
          <a:xfrm xmlns:a="http://schemas.openxmlformats.org/drawingml/2006/main">
            <a:off x="88519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IA et données</a:t>
            </a:r>
          </a:p>
        </p:txBody>
      </p:sp>
      <p:sp>
        <p:nvSpPr>
          <p:cNvPr id="39" name="">
            <a:extLst xmlns:a="http://schemas.openxmlformats.org/drawingml/2006/main">
              <a:ext uri="{FF2B5EF4-FFF2-40B4-BE49-F238E27FC236}">
                <a16:creationId xmlns:a16="http://schemas.microsoft.com/office/drawing/2014/main" id="{01F4AB3C-963B-457D-85FE-AA644484751A}"/>
              </a:ext>
            </a:extLst>
          </p:cNvPr>
          <p:cNvSpPr>
            <a:spLocks xmlns:a="http://schemas.openxmlformats.org/drawingml/2006/main" noGrp="1"/>
          </p:cNvSpPr>
          <p:nvPr/>
        </p:nvSpPr>
        <p:spPr>
          <a:xfrm xmlns:a="http://schemas.openxmlformats.org/drawingml/2006/main">
            <a:off x="82423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PostgreSQL pour les données</a:t>
            </a:r>
          </a:p>
          <a:p xmlns:a="http://schemas.openxmlformats.org/drawingml/2006/main">
            <a:pPr algn="l">
              <a:defRPr sz="1275" b="0">
                <a:solidFill>
                  <a:srgbClr val="0B1320"/>
                </a:solidFill>
              </a:defRPr>
            </a:pPr>
            <a:r>
              <a:rPr sz="1275" b="0">
                <a:solidFill>
                  <a:srgbClr val="0B1320"/>
                </a:solidFill>
              </a:rPr>
              <a:t>métier, ChromaDB pour la</a:t>
            </a:r>
          </a:p>
          <a:p xmlns:a="http://schemas.openxmlformats.org/drawingml/2006/main">
            <a:pPr algn="l">
              <a:defRPr sz="1275" b="0">
                <a:solidFill>
                  <a:srgbClr val="0B1320"/>
                </a:solidFill>
              </a:defRPr>
            </a:pPr>
            <a:r>
              <a:rPr sz="1275" b="0">
                <a:solidFill>
                  <a:srgbClr val="0B1320"/>
                </a:solidFill>
              </a:rPr>
              <a:t>similarité, LLM pour</a:t>
            </a:r>
          </a:p>
          <a:p xmlns:a="http://schemas.openxmlformats.org/drawingml/2006/main">
            <a:pPr algn="l">
              <a:defRPr sz="1275" b="0">
                <a:solidFill>
                  <a:srgbClr val="0B1320"/>
                </a:solidFill>
              </a:defRPr>
            </a:pPr>
            <a:r>
              <a:rPr sz="1275" b="0">
                <a:solidFill>
                  <a:srgbClr val="0B1320"/>
                </a:solidFill>
              </a:rPr>
              <a:t>structurer, scorer et</a:t>
            </a:r>
          </a:p>
          <a:p xmlns:a="http://schemas.openxmlformats.org/drawingml/2006/main">
            <a:pPr algn="l">
              <a:defRPr sz="1275" b="0">
                <a:solidFill>
                  <a:srgbClr val="0B1320"/>
                </a:solidFill>
              </a:defRPr>
            </a:pPr>
            <a:r>
              <a:rPr sz="1275" b="0">
                <a:solidFill>
                  <a:srgbClr val="0B1320"/>
                </a:solidFill>
              </a:rPr>
              <a:t>expliquer.</a:t>
            </a:r>
          </a:p>
        </p:txBody>
      </p:sp>
    </p:spTree>
    <p:extLst>
      <p:ext uri="{BB962C8B-B14F-4D97-AF65-F5344CB8AC3E}">
        <p14:creationId xmlns:p14="http://schemas.microsoft.com/office/powerpoint/2010/main" val="488629797"/>
      </p:ext>
    </p:extLst>
  </p:cSld>
</p:sld>
</file>

<file path=ppt/slides/slide7.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CBF359A-7211-4C5E-8008-91484FA439A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201489DA-A63C-4F10-90EF-4B7D2EE6E7A9}"/>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9EA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D2FAC1C-93FD-40F7-8A10-F62D985DBB7E}"/>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1F9F1">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4CF1923-54B3-4556-AC1E-FF72E270667E}"/>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FECDD">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F5DD3F8-66E3-4FE7-8971-DEFC9FD4CD1F}"/>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E03E3203-21CE-4417-9C0C-1724EAFADF9E}"/>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B59C5798-0039-4800-B3A9-CCF7D08FAD93}"/>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5BF0500A-BDA1-4764-8691-F63F844E9C86}"/>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0B87B379-B6FC-4B71-B320-90D7014DDE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5882"/>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D3CDBD4A-E9A3-47F6-8AF4-8A834CB4BE95}"/>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06. ARCHITECTURE</a:t>
            </a:r>
          </a:p>
        </p:txBody>
      </p:sp>
      <p:sp>
        <p:nvSpPr>
          <p:cNvPr id="11" name="">
            <a:extLst xmlns:a="http://schemas.openxmlformats.org/drawingml/2006/main">
              <a:ext uri="{FF2B5EF4-FFF2-40B4-BE49-F238E27FC236}">
                <a16:creationId xmlns:a16="http://schemas.microsoft.com/office/drawing/2014/main" id="{FCE42F4A-DD40-4614-8946-622A95B088F6}"/>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07 / 13</a:t>
            </a:r>
          </a:p>
        </p:txBody>
      </p:sp>
      <p:sp>
        <p:nvSpPr>
          <p:cNvPr id="12" name="">
            <a:extLst xmlns:a="http://schemas.openxmlformats.org/drawingml/2006/main">
              <a:ext uri="{FF2B5EF4-FFF2-40B4-BE49-F238E27FC236}">
                <a16:creationId xmlns:a16="http://schemas.microsoft.com/office/drawing/2014/main" id="{045BBD5D-4942-4A07-A5BD-19051932B7E9}"/>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5317F82F-8CCE-41B3-B679-898661CFA00C}"/>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975ECE1B-72D5-4D3A-9600-8042DA0A9F53}"/>
              </a:ext>
            </a:extLst>
          </p:cNvPr>
          <p:cNvSpPr>
            <a:spLocks xmlns:a="http://schemas.openxmlformats.org/drawingml/2006/main" noGrp="1"/>
          </p:cNvSpPr>
          <p:nvPr/>
        </p:nvSpPr>
        <p:spPr>
          <a:xfrm xmlns:a="http://schemas.openxmlformats.org/drawingml/2006/main">
            <a:off x="685800" y="876300"/>
            <a:ext cx="73342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Architecture du système</a:t>
            </a:r>
          </a:p>
        </p:txBody>
      </p:sp>
      <p:sp>
        <p:nvSpPr>
          <p:cNvPr id="15" name="">
            <a:extLst xmlns:a="http://schemas.openxmlformats.org/drawingml/2006/main">
              <a:ext uri="{FF2B5EF4-FFF2-40B4-BE49-F238E27FC236}">
                <a16:creationId xmlns:a16="http://schemas.microsoft.com/office/drawing/2014/main" id="{01B63C89-8734-4938-99FD-445FF3ED2317}"/>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Les données circulent entre le frontend, l'API, la base SQL, le moteur vectoriel et les modules d'analyse.</a:t>
            </a:r>
          </a:p>
        </p:txBody>
      </p:sp>
      <p:sp>
        <p:nvSpPr>
          <p:cNvPr id="16" name="">
            <a:extLst xmlns:a="http://schemas.openxmlformats.org/drawingml/2006/main">
              <a:ext uri="{FF2B5EF4-FFF2-40B4-BE49-F238E27FC236}">
                <a16:creationId xmlns:a16="http://schemas.microsoft.com/office/drawing/2014/main" id="{200E1128-351D-419B-9B0A-06A0D460CA7B}"/>
              </a:ext>
            </a:extLst>
          </p:cNvPr>
          <p:cNvSpPr>
            <a:spLocks xmlns:a="http://schemas.openxmlformats.org/drawingml/2006/main" noGrp="1"/>
          </p:cNvSpPr>
          <p:nvPr/>
        </p:nvSpPr>
        <p:spPr>
          <a:xfrm xmlns:a="http://schemas.openxmlformats.org/drawingml/2006/main">
            <a:off x="8001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B9D9A12F-3589-40A5-AA7B-5BCEA3251BDF}"/>
              </a:ext>
            </a:extLst>
          </p:cNvPr>
          <p:cNvSpPr>
            <a:spLocks xmlns:a="http://schemas.openxmlformats.org/drawingml/2006/main" noGrp="1"/>
          </p:cNvSpPr>
          <p:nvPr/>
        </p:nvSpPr>
        <p:spPr>
          <a:xfrm xmlns:a="http://schemas.openxmlformats.org/drawingml/2006/main">
            <a:off x="800100" y="3676650"/>
            <a:ext cx="76200" cy="20383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77767ADC-F0A4-4640-8252-5E8DFA08CEB4}"/>
              </a:ext>
            </a:extLst>
          </p:cNvPr>
          <p:cNvSpPr>
            <a:spLocks xmlns:a="http://schemas.openxmlformats.org/drawingml/2006/main" noGrp="1"/>
          </p:cNvSpPr>
          <p:nvPr/>
        </p:nvSpPr>
        <p:spPr>
          <a:xfrm xmlns:a="http://schemas.openxmlformats.org/drawingml/2006/main">
            <a:off x="10096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19" name="">
            <a:extLst xmlns:a="http://schemas.openxmlformats.org/drawingml/2006/main">
              <a:ext uri="{FF2B5EF4-FFF2-40B4-BE49-F238E27FC236}">
                <a16:creationId xmlns:a16="http://schemas.microsoft.com/office/drawing/2014/main" id="{356939E7-8D62-4EDF-A63A-31089C8462F3}"/>
              </a:ext>
            </a:extLst>
          </p:cNvPr>
          <p:cNvSpPr>
            <a:spLocks xmlns:a="http://schemas.openxmlformats.org/drawingml/2006/main" noGrp="1"/>
          </p:cNvSpPr>
          <p:nvPr/>
        </p:nvSpPr>
        <p:spPr>
          <a:xfrm xmlns:a="http://schemas.openxmlformats.org/drawingml/2006/main">
            <a:off x="1162050" y="4181475"/>
            <a:ext cx="57150" cy="1143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8811CD65-9BCE-4525-BCC9-7B4F5673B342}"/>
              </a:ext>
            </a:extLst>
          </p:cNvPr>
          <p:cNvSpPr>
            <a:spLocks xmlns:a="http://schemas.openxmlformats.org/drawingml/2006/main" noGrp="1"/>
          </p:cNvSpPr>
          <p:nvPr/>
        </p:nvSpPr>
        <p:spPr>
          <a:xfrm xmlns:a="http://schemas.openxmlformats.org/drawingml/2006/main">
            <a:off x="1247775" y="4105275"/>
            <a:ext cx="57150" cy="1905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28D51971-CA00-48D9-9EFA-8606CA8195F6}"/>
              </a:ext>
            </a:extLst>
          </p:cNvPr>
          <p:cNvSpPr>
            <a:spLocks xmlns:a="http://schemas.openxmlformats.org/drawingml/2006/main" noGrp="1"/>
          </p:cNvSpPr>
          <p:nvPr/>
        </p:nvSpPr>
        <p:spPr>
          <a:xfrm xmlns:a="http://schemas.openxmlformats.org/drawingml/2006/main">
            <a:off x="1333500" y="4038600"/>
            <a:ext cx="57150" cy="2571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7B84CA09-3AB8-4CB1-B496-AC6AD1E852C5}"/>
              </a:ext>
            </a:extLst>
          </p:cNvPr>
          <p:cNvSpPr>
            <a:spLocks xmlns:a="http://schemas.openxmlformats.org/drawingml/2006/main" noGrp="1"/>
          </p:cNvSpPr>
          <p:nvPr/>
        </p:nvSpPr>
        <p:spPr>
          <a:xfrm xmlns:a="http://schemas.openxmlformats.org/drawingml/2006/main">
            <a:off x="16383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Entrée utilisateur</a:t>
            </a:r>
          </a:p>
        </p:txBody>
      </p:sp>
      <p:sp>
        <p:nvSpPr>
          <p:cNvPr id="23" name="">
            <a:extLst xmlns:a="http://schemas.openxmlformats.org/drawingml/2006/main">
              <a:ext uri="{FF2B5EF4-FFF2-40B4-BE49-F238E27FC236}">
                <a16:creationId xmlns:a16="http://schemas.microsoft.com/office/drawing/2014/main" id="{EA09EC4C-0DE8-4A9D-A884-8E0278A1DEC4}"/>
              </a:ext>
            </a:extLst>
          </p:cNvPr>
          <p:cNvSpPr>
            <a:spLocks xmlns:a="http://schemas.openxmlformats.org/drawingml/2006/main" noGrp="1"/>
          </p:cNvSpPr>
          <p:nvPr/>
        </p:nvSpPr>
        <p:spPr>
          <a:xfrm xmlns:a="http://schemas.openxmlformats.org/drawingml/2006/main">
            <a:off x="10287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Le frontend envoie au</a:t>
            </a:r>
          </a:p>
          <a:p xmlns:a="http://schemas.openxmlformats.org/drawingml/2006/main">
            <a:pPr algn="l">
              <a:defRPr sz="1275" b="0">
                <a:solidFill>
                  <a:srgbClr val="0B1320"/>
                </a:solidFill>
              </a:defRPr>
            </a:pPr>
            <a:r>
              <a:rPr sz="1275" b="0">
                <a:solidFill>
                  <a:srgbClr val="0B1320"/>
                </a:solidFill>
              </a:rPr>
              <a:t>backend les CV importés, les</a:t>
            </a:r>
          </a:p>
          <a:p xmlns:a="http://schemas.openxmlformats.org/drawingml/2006/main">
            <a:pPr algn="l">
              <a:defRPr sz="1275" b="0">
                <a:solidFill>
                  <a:srgbClr val="0B1320"/>
                </a:solidFill>
              </a:defRPr>
            </a:pPr>
            <a:r>
              <a:rPr sz="1275" b="0">
                <a:solidFill>
                  <a:srgbClr val="0B1320"/>
                </a:solidFill>
              </a:rPr>
              <a:t>fiches de poste et les</a:t>
            </a:r>
          </a:p>
          <a:p xmlns:a="http://schemas.openxmlformats.org/drawingml/2006/main">
            <a:pPr algn="l">
              <a:defRPr sz="1275" b="0">
                <a:solidFill>
                  <a:srgbClr val="0B1320"/>
                </a:solidFill>
              </a:defRPr>
            </a:pPr>
            <a:r>
              <a:rPr sz="1275" b="0">
                <a:solidFill>
                  <a:srgbClr val="0B1320"/>
                </a:solidFill>
              </a:rPr>
              <a:t>demandes d'analyse batch ou</a:t>
            </a:r>
          </a:p>
          <a:p xmlns:a="http://schemas.openxmlformats.org/drawingml/2006/main">
            <a:pPr algn="l">
              <a:defRPr sz="1275" b="0">
                <a:solidFill>
                  <a:srgbClr val="0B1320"/>
                </a:solidFill>
              </a:defRPr>
            </a:pPr>
            <a:r>
              <a:rPr sz="1275" b="0">
                <a:solidFill>
                  <a:srgbClr val="0B1320"/>
                </a:solidFill>
              </a:rPr>
              <a:t>individuelle.</a:t>
            </a:r>
          </a:p>
        </p:txBody>
      </p:sp>
      <p:sp>
        <p:nvSpPr>
          <p:cNvPr id="24" name="">
            <a:extLst xmlns:a="http://schemas.openxmlformats.org/drawingml/2006/main">
              <a:ext uri="{FF2B5EF4-FFF2-40B4-BE49-F238E27FC236}">
                <a16:creationId xmlns:a16="http://schemas.microsoft.com/office/drawing/2014/main" id="{85B557E6-D0C7-4BEF-902A-4746663A39C8}"/>
              </a:ext>
            </a:extLst>
          </p:cNvPr>
          <p:cNvSpPr>
            <a:spLocks xmlns:a="http://schemas.openxmlformats.org/drawingml/2006/main" noGrp="1"/>
          </p:cNvSpPr>
          <p:nvPr/>
        </p:nvSpPr>
        <p:spPr>
          <a:xfrm xmlns:a="http://schemas.openxmlformats.org/drawingml/2006/main">
            <a:off x="44069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25" name="">
            <a:extLst xmlns:a="http://schemas.openxmlformats.org/drawingml/2006/main">
              <a:ext uri="{FF2B5EF4-FFF2-40B4-BE49-F238E27FC236}">
                <a16:creationId xmlns:a16="http://schemas.microsoft.com/office/drawing/2014/main" id="{E75EAA09-3E8A-466D-A95E-33CC4D8DEDF6}"/>
              </a:ext>
            </a:extLst>
          </p:cNvPr>
          <p:cNvSpPr>
            <a:spLocks xmlns:a="http://schemas.openxmlformats.org/drawingml/2006/main" noGrp="1"/>
          </p:cNvSpPr>
          <p:nvPr/>
        </p:nvSpPr>
        <p:spPr>
          <a:xfrm xmlns:a="http://schemas.openxmlformats.org/drawingml/2006/main">
            <a:off x="4406900" y="3676650"/>
            <a:ext cx="76200" cy="2038350"/>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08531DDB-7004-4533-9F2C-79CFE2B67093}"/>
              </a:ext>
            </a:extLst>
          </p:cNvPr>
          <p:cNvSpPr>
            <a:spLocks xmlns:a="http://schemas.openxmlformats.org/drawingml/2006/main" noGrp="1"/>
          </p:cNvSpPr>
          <p:nvPr/>
        </p:nvSpPr>
        <p:spPr>
          <a:xfrm xmlns:a="http://schemas.openxmlformats.org/drawingml/2006/main">
            <a:off x="46164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93A96E0D-BD4B-4546-9ECD-8682C7912671}"/>
              </a:ext>
            </a:extLst>
          </p:cNvPr>
          <p:cNvSpPr>
            <a:spLocks xmlns:a="http://schemas.openxmlformats.org/drawingml/2006/main" noGrp="1"/>
          </p:cNvSpPr>
          <p:nvPr/>
        </p:nvSpPr>
        <p:spPr>
          <a:xfrm xmlns:a="http://schemas.openxmlformats.org/drawingml/2006/main">
            <a:off x="4740275" y="4076700"/>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ADD492F3-8DC0-4956-A8EF-0964F8F543DA}"/>
              </a:ext>
            </a:extLst>
          </p:cNvPr>
          <p:cNvSpPr>
            <a:spLocks xmlns:a="http://schemas.openxmlformats.org/drawingml/2006/main" noGrp="1"/>
          </p:cNvSpPr>
          <p:nvPr/>
        </p:nvSpPr>
        <p:spPr>
          <a:xfrm xmlns:a="http://schemas.openxmlformats.org/drawingml/2006/main">
            <a:off x="4911725" y="4162425"/>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99EA498F-FA9D-44D0-A6D2-15D74FF00AEE}"/>
              </a:ext>
            </a:extLst>
          </p:cNvPr>
          <p:cNvSpPr>
            <a:spLocks xmlns:a="http://schemas.openxmlformats.org/drawingml/2006/main" noGrp="1"/>
          </p:cNvSpPr>
          <p:nvPr/>
        </p:nvSpPr>
        <p:spPr>
          <a:xfrm xmlns:a="http://schemas.openxmlformats.org/drawingml/2006/main">
            <a:off x="4826000" y="4143375"/>
            <a:ext cx="180975" cy="28575"/>
          </a:xfrm>
          <a:prstGeom xmlns:a="http://schemas.openxmlformats.org/drawingml/2006/main" prst="rect">
            <a:avLst/>
          </a:prstGeom>
          <a:solidFill xmlns:a="http://schemas.openxmlformats.org/drawingml/2006/main">
            <a:srgbClr val="0B13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BEBA8743-DD04-438C-B3FC-6F6EFC17C3E9}"/>
              </a:ext>
            </a:extLst>
          </p:cNvPr>
          <p:cNvSpPr>
            <a:spLocks xmlns:a="http://schemas.openxmlformats.org/drawingml/2006/main" noGrp="1"/>
          </p:cNvSpPr>
          <p:nvPr/>
        </p:nvSpPr>
        <p:spPr>
          <a:xfrm xmlns:a="http://schemas.openxmlformats.org/drawingml/2006/main">
            <a:off x="52451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Stockage</a:t>
            </a:r>
          </a:p>
        </p:txBody>
      </p:sp>
      <p:sp>
        <p:nvSpPr>
          <p:cNvPr id="31" name="">
            <a:extLst xmlns:a="http://schemas.openxmlformats.org/drawingml/2006/main">
              <a:ext uri="{FF2B5EF4-FFF2-40B4-BE49-F238E27FC236}">
                <a16:creationId xmlns:a16="http://schemas.microsoft.com/office/drawing/2014/main" id="{497CC427-4ED0-4429-80A6-86533E38AB3B}"/>
              </a:ext>
            </a:extLst>
          </p:cNvPr>
          <p:cNvSpPr>
            <a:spLocks xmlns:a="http://schemas.openxmlformats.org/drawingml/2006/main" noGrp="1"/>
          </p:cNvSpPr>
          <p:nvPr/>
        </p:nvSpPr>
        <p:spPr>
          <a:xfrm xmlns:a="http://schemas.openxmlformats.org/drawingml/2006/main">
            <a:off x="46355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Les fichiers, les postes,</a:t>
            </a:r>
          </a:p>
          <a:p xmlns:a="http://schemas.openxmlformats.org/drawingml/2006/main">
            <a:pPr algn="l">
              <a:defRPr sz="1275" b="0">
                <a:solidFill>
                  <a:srgbClr val="0B1320"/>
                </a:solidFill>
              </a:defRPr>
            </a:pPr>
            <a:r>
              <a:rPr sz="1275" b="0">
                <a:solidFill>
                  <a:srgbClr val="0B1320"/>
                </a:solidFill>
              </a:rPr>
              <a:t>les analyses et les états de</a:t>
            </a:r>
          </a:p>
          <a:p xmlns:a="http://schemas.openxmlformats.org/drawingml/2006/main">
            <a:pPr algn="l">
              <a:defRPr sz="1275" b="0">
                <a:solidFill>
                  <a:srgbClr val="0B1320"/>
                </a:solidFill>
              </a:defRPr>
            </a:pPr>
            <a:r>
              <a:rPr sz="1275" b="0">
                <a:solidFill>
                  <a:srgbClr val="0B1320"/>
                </a:solidFill>
              </a:rPr>
              <a:t>batch sont conservés en base</a:t>
            </a:r>
          </a:p>
          <a:p xmlns:a="http://schemas.openxmlformats.org/drawingml/2006/main">
            <a:pPr algn="l">
              <a:defRPr sz="1275" b="0">
                <a:solidFill>
                  <a:srgbClr val="0B1320"/>
                </a:solidFill>
              </a:defRPr>
            </a:pPr>
            <a:r>
              <a:rPr sz="1275" b="0">
                <a:solidFill>
                  <a:srgbClr val="0B1320"/>
                </a:solidFill>
              </a:rPr>
              <a:t>pour garder un historique</a:t>
            </a:r>
          </a:p>
          <a:p xmlns:a="http://schemas.openxmlformats.org/drawingml/2006/main">
            <a:pPr algn="l">
              <a:defRPr sz="1275" b="0">
                <a:solidFill>
                  <a:srgbClr val="0B1320"/>
                </a:solidFill>
              </a:defRPr>
            </a:pPr>
            <a:r>
              <a:rPr sz="1275" b="0">
                <a:solidFill>
                  <a:srgbClr val="0B1320"/>
                </a:solidFill>
              </a:rPr>
              <a:t>clair.</a:t>
            </a:r>
          </a:p>
        </p:txBody>
      </p:sp>
      <p:sp>
        <p:nvSpPr>
          <p:cNvPr id="32" name="">
            <a:extLst xmlns:a="http://schemas.openxmlformats.org/drawingml/2006/main">
              <a:ext uri="{FF2B5EF4-FFF2-40B4-BE49-F238E27FC236}">
                <a16:creationId xmlns:a16="http://schemas.microsoft.com/office/drawing/2014/main" id="{3FE69DBA-B049-4FEE-8DFB-7FF9236809CA}"/>
              </a:ext>
            </a:extLst>
          </p:cNvPr>
          <p:cNvSpPr>
            <a:spLocks xmlns:a="http://schemas.openxmlformats.org/drawingml/2006/main" noGrp="1"/>
          </p:cNvSpPr>
          <p:nvPr/>
        </p:nvSpPr>
        <p:spPr>
          <a:xfrm xmlns:a="http://schemas.openxmlformats.org/drawingml/2006/main">
            <a:off x="80137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33" name="">
            <a:extLst xmlns:a="http://schemas.openxmlformats.org/drawingml/2006/main">
              <a:ext uri="{FF2B5EF4-FFF2-40B4-BE49-F238E27FC236}">
                <a16:creationId xmlns:a16="http://schemas.microsoft.com/office/drawing/2014/main" id="{650E9076-7914-41FA-8458-64A86EAE5455}"/>
              </a:ext>
            </a:extLst>
          </p:cNvPr>
          <p:cNvSpPr>
            <a:spLocks xmlns:a="http://schemas.openxmlformats.org/drawingml/2006/main" noGrp="1"/>
          </p:cNvSpPr>
          <p:nvPr/>
        </p:nvSpPr>
        <p:spPr>
          <a:xfrm xmlns:a="http://schemas.openxmlformats.org/drawingml/2006/main">
            <a:off x="8013700" y="3676650"/>
            <a:ext cx="76200" cy="2038350"/>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DA6421D2-3DD4-4384-87AE-50D152F7C860}"/>
              </a:ext>
            </a:extLst>
          </p:cNvPr>
          <p:cNvSpPr>
            <a:spLocks xmlns:a="http://schemas.openxmlformats.org/drawingml/2006/main" noGrp="1"/>
          </p:cNvSpPr>
          <p:nvPr/>
        </p:nvSpPr>
        <p:spPr>
          <a:xfrm xmlns:a="http://schemas.openxmlformats.org/drawingml/2006/main">
            <a:off x="82232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35" name="">
            <a:extLst xmlns:a="http://schemas.openxmlformats.org/drawingml/2006/main">
              <a:ext uri="{FF2B5EF4-FFF2-40B4-BE49-F238E27FC236}">
                <a16:creationId xmlns:a16="http://schemas.microsoft.com/office/drawing/2014/main" id="{0FD143D0-7AE8-44C6-BFE2-707A94BA1703}"/>
              </a:ext>
            </a:extLst>
          </p:cNvPr>
          <p:cNvSpPr>
            <a:spLocks xmlns:a="http://schemas.openxmlformats.org/drawingml/2006/main" noGrp="1"/>
          </p:cNvSpPr>
          <p:nvPr/>
        </p:nvSpPr>
        <p:spPr>
          <a:xfrm xmlns:a="http://schemas.openxmlformats.org/drawingml/2006/main">
            <a:off x="8347075" y="4048125"/>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8BBFB3A7-0779-4FE7-A44A-0C91A49B6AC4}"/>
              </a:ext>
            </a:extLst>
          </p:cNvPr>
          <p:cNvSpPr>
            <a:spLocks xmlns:a="http://schemas.openxmlformats.org/drawingml/2006/main" noGrp="1"/>
          </p:cNvSpPr>
          <p:nvPr/>
        </p:nvSpPr>
        <p:spPr>
          <a:xfrm xmlns:a="http://schemas.openxmlformats.org/drawingml/2006/main">
            <a:off x="8394700" y="4133850"/>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7C11ABA8-5363-40EB-B997-C3E6A8833B8D}"/>
              </a:ext>
            </a:extLst>
          </p:cNvPr>
          <p:cNvSpPr>
            <a:spLocks xmlns:a="http://schemas.openxmlformats.org/drawingml/2006/main" noGrp="1"/>
          </p:cNvSpPr>
          <p:nvPr/>
        </p:nvSpPr>
        <p:spPr>
          <a:xfrm xmlns:a="http://schemas.openxmlformats.org/drawingml/2006/main">
            <a:off x="8442325" y="4219575"/>
            <a:ext cx="190500" cy="95250"/>
          </a:xfrm>
          <a:prstGeom xmlns:a="http://schemas.openxmlformats.org/drawingml/2006/main" prst="roundRect">
            <a:avLst>
              <a:gd name="adj" fmla="val 50000"/>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0555894A-C614-490D-8201-67996F9B8689}"/>
              </a:ext>
            </a:extLst>
          </p:cNvPr>
          <p:cNvSpPr>
            <a:spLocks xmlns:a="http://schemas.openxmlformats.org/drawingml/2006/main" noGrp="1"/>
          </p:cNvSpPr>
          <p:nvPr/>
        </p:nvSpPr>
        <p:spPr>
          <a:xfrm xmlns:a="http://schemas.openxmlformats.org/drawingml/2006/main">
            <a:off x="88519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Traitement</a:t>
            </a:r>
          </a:p>
        </p:txBody>
      </p:sp>
      <p:sp>
        <p:nvSpPr>
          <p:cNvPr id="39" name="">
            <a:extLst xmlns:a="http://schemas.openxmlformats.org/drawingml/2006/main">
              <a:ext uri="{FF2B5EF4-FFF2-40B4-BE49-F238E27FC236}">
                <a16:creationId xmlns:a16="http://schemas.microsoft.com/office/drawing/2014/main" id="{7A350439-1E0F-499D-B066-09D317777C55}"/>
              </a:ext>
            </a:extLst>
          </p:cNvPr>
          <p:cNvSpPr>
            <a:spLocks xmlns:a="http://schemas.openxmlformats.org/drawingml/2006/main" noGrp="1"/>
          </p:cNvSpPr>
          <p:nvPr/>
        </p:nvSpPr>
        <p:spPr>
          <a:xfrm xmlns:a="http://schemas.openxmlformats.org/drawingml/2006/main">
            <a:off x="82423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Le backend appelle les</a:t>
            </a:r>
          </a:p>
          <a:p xmlns:a="http://schemas.openxmlformats.org/drawingml/2006/main">
            <a:pPr algn="l">
              <a:defRPr sz="1275" b="0">
                <a:solidFill>
                  <a:srgbClr val="0B1320"/>
                </a:solidFill>
              </a:defRPr>
            </a:pPr>
            <a:r>
              <a:rPr sz="1275" b="0">
                <a:solidFill>
                  <a:srgbClr val="0B1320"/>
                </a:solidFill>
              </a:rPr>
              <a:t>services de parsing,</a:t>
            </a:r>
          </a:p>
          <a:p xmlns:a="http://schemas.openxmlformats.org/drawingml/2006/main">
            <a:pPr algn="l">
              <a:defRPr sz="1275" b="0">
                <a:solidFill>
                  <a:srgbClr val="0B1320"/>
                </a:solidFill>
              </a:defRPr>
            </a:pPr>
            <a:r>
              <a:rPr sz="1275" b="0">
                <a:solidFill>
                  <a:srgbClr val="0B1320"/>
                </a:solidFill>
              </a:rPr>
              <a:t>d'indexation RAG et le</a:t>
            </a:r>
          </a:p>
          <a:p xmlns:a="http://schemas.openxmlformats.org/drawingml/2006/main">
            <a:pPr algn="l">
              <a:defRPr sz="1275" b="0">
                <a:solidFill>
                  <a:srgbClr val="0B1320"/>
                </a:solidFill>
              </a:defRPr>
            </a:pPr>
            <a:r>
              <a:rPr sz="1275" b="0">
                <a:solidFill>
                  <a:srgbClr val="0B1320"/>
                </a:solidFill>
              </a:rPr>
              <a:t>graphe LangGraph pour</a:t>
            </a:r>
          </a:p>
          <a:p xmlns:a="http://schemas.openxmlformats.org/drawingml/2006/main">
            <a:pPr algn="l">
              <a:defRPr sz="1275" b="0">
                <a:solidFill>
                  <a:srgbClr val="0B1320"/>
                </a:solidFill>
              </a:defRPr>
            </a:pPr>
            <a:r>
              <a:rPr sz="1275" b="0">
                <a:solidFill>
                  <a:srgbClr val="0B1320"/>
                </a:solidFill>
              </a:rPr>
              <a:t>fabriquer le résultat final.</a:t>
            </a:r>
          </a:p>
        </p:txBody>
      </p:sp>
    </p:spTree>
    <p:extLst>
      <p:ext uri="{BB962C8B-B14F-4D97-AF65-F5344CB8AC3E}">
        <p14:creationId xmlns:p14="http://schemas.microsoft.com/office/powerpoint/2010/main" val="622875242"/>
      </p:ext>
    </p:extLst>
  </p:cSld>
</p:sld>
</file>

<file path=ppt/slides/slide8.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CBF359A-7211-4C5E-8008-91484FA439A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6B31D71-6DF6-43F1-B4B9-A70B95BBC382}"/>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CE6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7E1CFB1-230E-4D9A-96DA-BC8297E34821}"/>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8FCF5">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E1EC170-1D48-44A3-A553-6E22369C6420}"/>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FF0D8">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59B8ED58-20CB-414B-917E-962EB53399F8}"/>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CEE3BE38-8098-482C-A4B7-7FD2CED02294}"/>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10F7AAC8-323E-486C-A6D3-A80EDAE5F7A1}"/>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0E1689DE-5EA3-4294-8E84-9F9F8FE94F36}"/>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4E560F69-7313-413E-AA22-C7EB081126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5882"/>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B956D3B-6F6D-4C7C-B45E-E871DB02E45E}"/>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07. PARCOURS</a:t>
            </a:r>
          </a:p>
        </p:txBody>
      </p:sp>
      <p:sp>
        <p:nvSpPr>
          <p:cNvPr id="11" name="">
            <a:extLst xmlns:a="http://schemas.openxmlformats.org/drawingml/2006/main">
              <a:ext uri="{FF2B5EF4-FFF2-40B4-BE49-F238E27FC236}">
                <a16:creationId xmlns:a16="http://schemas.microsoft.com/office/drawing/2014/main" id="{61015332-4EB6-4A8C-94E7-B9EC95AE858E}"/>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08 / 13</a:t>
            </a:r>
          </a:p>
        </p:txBody>
      </p:sp>
      <p:sp>
        <p:nvSpPr>
          <p:cNvPr id="12" name="">
            <a:extLst xmlns:a="http://schemas.openxmlformats.org/drawingml/2006/main">
              <a:ext uri="{FF2B5EF4-FFF2-40B4-BE49-F238E27FC236}">
                <a16:creationId xmlns:a16="http://schemas.microsoft.com/office/drawing/2014/main" id="{2D647774-9970-4D62-881F-4A506927ECB5}"/>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87263250-EE06-4148-870E-86EEC836E5F1}"/>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84D6EA56-32B4-40BF-848C-599015DB7612}"/>
              </a:ext>
            </a:extLst>
          </p:cNvPr>
          <p:cNvSpPr>
            <a:spLocks xmlns:a="http://schemas.openxmlformats.org/drawingml/2006/main" noGrp="1"/>
          </p:cNvSpPr>
          <p:nvPr/>
        </p:nvSpPr>
        <p:spPr>
          <a:xfrm xmlns:a="http://schemas.openxmlformats.org/drawingml/2006/main">
            <a:off x="685800" y="876300"/>
            <a:ext cx="73342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Le parcours utilisateur</a:t>
            </a:r>
          </a:p>
        </p:txBody>
      </p:sp>
      <p:sp>
        <p:nvSpPr>
          <p:cNvPr id="15" name="">
            <a:extLst xmlns:a="http://schemas.openxmlformats.org/drawingml/2006/main">
              <a:ext uri="{FF2B5EF4-FFF2-40B4-BE49-F238E27FC236}">
                <a16:creationId xmlns:a16="http://schemas.microsoft.com/office/drawing/2014/main" id="{05BA1137-27CB-44E0-B552-111A3DD6B853}"/>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Du point de vue du recruteur, l'utilisation suit un chemin simple, de la fiche de poste jusqu'au rapport final.</a:t>
            </a:r>
          </a:p>
        </p:txBody>
      </p:sp>
      <p:sp>
        <p:nvSpPr>
          <p:cNvPr id="16" name="">
            <a:extLst xmlns:a="http://schemas.openxmlformats.org/drawingml/2006/main">
              <a:ext uri="{FF2B5EF4-FFF2-40B4-BE49-F238E27FC236}">
                <a16:creationId xmlns:a16="http://schemas.microsoft.com/office/drawing/2014/main" id="{E53A13EC-8108-49F3-A87A-0C5240DF784F}"/>
              </a:ext>
            </a:extLst>
          </p:cNvPr>
          <p:cNvSpPr>
            <a:spLocks xmlns:a="http://schemas.openxmlformats.org/drawingml/2006/main" noGrp="1"/>
          </p:cNvSpPr>
          <p:nvPr/>
        </p:nvSpPr>
        <p:spPr>
          <a:xfrm xmlns:a="http://schemas.openxmlformats.org/drawingml/2006/main">
            <a:off x="8001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2B68FC27-0C3A-4A16-ACEB-6B1AD1F04ADA}"/>
              </a:ext>
            </a:extLst>
          </p:cNvPr>
          <p:cNvSpPr>
            <a:spLocks xmlns:a="http://schemas.openxmlformats.org/drawingml/2006/main" noGrp="1"/>
          </p:cNvSpPr>
          <p:nvPr/>
        </p:nvSpPr>
        <p:spPr>
          <a:xfrm xmlns:a="http://schemas.openxmlformats.org/drawingml/2006/main">
            <a:off x="800100" y="3676650"/>
            <a:ext cx="76200" cy="20383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389A595B-2E8F-447F-9DE8-A6A5CA802136}"/>
              </a:ext>
            </a:extLst>
          </p:cNvPr>
          <p:cNvSpPr>
            <a:spLocks xmlns:a="http://schemas.openxmlformats.org/drawingml/2006/main" noGrp="1"/>
          </p:cNvSpPr>
          <p:nvPr/>
        </p:nvSpPr>
        <p:spPr>
          <a:xfrm xmlns:a="http://schemas.openxmlformats.org/drawingml/2006/main">
            <a:off x="10096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19" name="">
            <a:extLst xmlns:a="http://schemas.openxmlformats.org/drawingml/2006/main">
              <a:ext uri="{FF2B5EF4-FFF2-40B4-BE49-F238E27FC236}">
                <a16:creationId xmlns:a16="http://schemas.microsoft.com/office/drawing/2014/main" id="{685BD4D3-D31C-4A76-86B0-4E8145623E5B}"/>
              </a:ext>
            </a:extLst>
          </p:cNvPr>
          <p:cNvSpPr>
            <a:spLocks xmlns:a="http://schemas.openxmlformats.org/drawingml/2006/main" noGrp="1"/>
          </p:cNvSpPr>
          <p:nvPr/>
        </p:nvSpPr>
        <p:spPr>
          <a:xfrm xmlns:a="http://schemas.openxmlformats.org/drawingml/2006/main">
            <a:off x="1162050" y="4181475"/>
            <a:ext cx="57150" cy="1143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C6B0EE11-156D-4803-8765-5B6C970052B2}"/>
              </a:ext>
            </a:extLst>
          </p:cNvPr>
          <p:cNvSpPr>
            <a:spLocks xmlns:a="http://schemas.openxmlformats.org/drawingml/2006/main" noGrp="1"/>
          </p:cNvSpPr>
          <p:nvPr/>
        </p:nvSpPr>
        <p:spPr>
          <a:xfrm xmlns:a="http://schemas.openxmlformats.org/drawingml/2006/main">
            <a:off x="1247775" y="4105275"/>
            <a:ext cx="57150" cy="1905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0C2BE44E-6165-4105-AA77-C89906DADA55}"/>
              </a:ext>
            </a:extLst>
          </p:cNvPr>
          <p:cNvSpPr>
            <a:spLocks xmlns:a="http://schemas.openxmlformats.org/drawingml/2006/main" noGrp="1"/>
          </p:cNvSpPr>
          <p:nvPr/>
        </p:nvSpPr>
        <p:spPr>
          <a:xfrm xmlns:a="http://schemas.openxmlformats.org/drawingml/2006/main">
            <a:off x="1333500" y="4038600"/>
            <a:ext cx="57150" cy="2571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8939E7B5-95CC-4618-AD6E-C7CF884E169E}"/>
              </a:ext>
            </a:extLst>
          </p:cNvPr>
          <p:cNvSpPr>
            <a:spLocks xmlns:a="http://schemas.openxmlformats.org/drawingml/2006/main" noGrp="1"/>
          </p:cNvSpPr>
          <p:nvPr/>
        </p:nvSpPr>
        <p:spPr>
          <a:xfrm xmlns:a="http://schemas.openxmlformats.org/drawingml/2006/main">
            <a:off x="16383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1. Préparer</a:t>
            </a:r>
          </a:p>
        </p:txBody>
      </p:sp>
      <p:sp>
        <p:nvSpPr>
          <p:cNvPr id="23" name="">
            <a:extLst xmlns:a="http://schemas.openxmlformats.org/drawingml/2006/main">
              <a:ext uri="{FF2B5EF4-FFF2-40B4-BE49-F238E27FC236}">
                <a16:creationId xmlns:a16="http://schemas.microsoft.com/office/drawing/2014/main" id="{CD9FE4A7-2B31-4F30-B536-F65684324D05}"/>
              </a:ext>
            </a:extLst>
          </p:cNvPr>
          <p:cNvSpPr>
            <a:spLocks xmlns:a="http://schemas.openxmlformats.org/drawingml/2006/main" noGrp="1"/>
          </p:cNvSpPr>
          <p:nvPr/>
        </p:nvSpPr>
        <p:spPr>
          <a:xfrm xmlns:a="http://schemas.openxmlformats.org/drawingml/2006/main">
            <a:off x="10287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Le recruteur crée une fiche</a:t>
            </a:r>
          </a:p>
          <a:p xmlns:a="http://schemas.openxmlformats.org/drawingml/2006/main">
            <a:pPr algn="l">
              <a:defRPr sz="1275" b="0">
                <a:solidFill>
                  <a:srgbClr val="0B1320"/>
                </a:solidFill>
              </a:defRPr>
            </a:pPr>
            <a:r>
              <a:rPr sz="1275" b="0">
                <a:solidFill>
                  <a:srgbClr val="0B1320"/>
                </a:solidFill>
              </a:rPr>
              <a:t>de poste manuellement ou la</a:t>
            </a:r>
          </a:p>
          <a:p xmlns:a="http://schemas.openxmlformats.org/drawingml/2006/main">
            <a:pPr algn="l">
              <a:defRPr sz="1275" b="0">
                <a:solidFill>
                  <a:srgbClr val="0B1320"/>
                </a:solidFill>
              </a:defRPr>
            </a:pPr>
            <a:r>
              <a:rPr sz="1275" b="0">
                <a:solidFill>
                  <a:srgbClr val="0B1320"/>
                </a:solidFill>
              </a:rPr>
              <a:t>fait extraire depuis un</a:t>
            </a:r>
          </a:p>
          <a:p xmlns:a="http://schemas.openxmlformats.org/drawingml/2006/main">
            <a:pPr algn="l">
              <a:defRPr sz="1275" b="0">
                <a:solidFill>
                  <a:srgbClr val="0B1320"/>
                </a:solidFill>
              </a:defRPr>
            </a:pPr>
            <a:r>
              <a:rPr sz="1275" b="0">
                <a:solidFill>
                  <a:srgbClr val="0B1320"/>
                </a:solidFill>
              </a:rPr>
              <a:t>document PDF, DOCX ou TXT.</a:t>
            </a:r>
          </a:p>
        </p:txBody>
      </p:sp>
      <p:sp>
        <p:nvSpPr>
          <p:cNvPr id="24" name="">
            <a:extLst xmlns:a="http://schemas.openxmlformats.org/drawingml/2006/main">
              <a:ext uri="{FF2B5EF4-FFF2-40B4-BE49-F238E27FC236}">
                <a16:creationId xmlns:a16="http://schemas.microsoft.com/office/drawing/2014/main" id="{BE8FA96A-64C7-4045-8C63-445ABCDD7703}"/>
              </a:ext>
            </a:extLst>
          </p:cNvPr>
          <p:cNvSpPr>
            <a:spLocks xmlns:a="http://schemas.openxmlformats.org/drawingml/2006/main" noGrp="1"/>
          </p:cNvSpPr>
          <p:nvPr/>
        </p:nvSpPr>
        <p:spPr>
          <a:xfrm xmlns:a="http://schemas.openxmlformats.org/drawingml/2006/main">
            <a:off x="44069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25" name="">
            <a:extLst xmlns:a="http://schemas.openxmlformats.org/drawingml/2006/main">
              <a:ext uri="{FF2B5EF4-FFF2-40B4-BE49-F238E27FC236}">
                <a16:creationId xmlns:a16="http://schemas.microsoft.com/office/drawing/2014/main" id="{8AED161B-0DA9-4C3E-B99F-21E122DC9852}"/>
              </a:ext>
            </a:extLst>
          </p:cNvPr>
          <p:cNvSpPr>
            <a:spLocks xmlns:a="http://schemas.openxmlformats.org/drawingml/2006/main" noGrp="1"/>
          </p:cNvSpPr>
          <p:nvPr/>
        </p:nvSpPr>
        <p:spPr>
          <a:xfrm xmlns:a="http://schemas.openxmlformats.org/drawingml/2006/main">
            <a:off x="4406900" y="3676650"/>
            <a:ext cx="76200" cy="2038350"/>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F36FA5AF-F2F7-460A-8100-2B2D8B18BB95}"/>
              </a:ext>
            </a:extLst>
          </p:cNvPr>
          <p:cNvSpPr>
            <a:spLocks xmlns:a="http://schemas.openxmlformats.org/drawingml/2006/main" noGrp="1"/>
          </p:cNvSpPr>
          <p:nvPr/>
        </p:nvSpPr>
        <p:spPr>
          <a:xfrm xmlns:a="http://schemas.openxmlformats.org/drawingml/2006/main">
            <a:off x="46164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3BBB63AF-F6E3-4445-8E51-59AB3D238E51}"/>
              </a:ext>
            </a:extLst>
          </p:cNvPr>
          <p:cNvSpPr>
            <a:spLocks xmlns:a="http://schemas.openxmlformats.org/drawingml/2006/main" noGrp="1"/>
          </p:cNvSpPr>
          <p:nvPr/>
        </p:nvSpPr>
        <p:spPr>
          <a:xfrm xmlns:a="http://schemas.openxmlformats.org/drawingml/2006/main">
            <a:off x="4740275" y="4076700"/>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0E39C7FE-66F3-4AD1-80CE-F9B7FBC52FC0}"/>
              </a:ext>
            </a:extLst>
          </p:cNvPr>
          <p:cNvSpPr>
            <a:spLocks xmlns:a="http://schemas.openxmlformats.org/drawingml/2006/main" noGrp="1"/>
          </p:cNvSpPr>
          <p:nvPr/>
        </p:nvSpPr>
        <p:spPr>
          <a:xfrm xmlns:a="http://schemas.openxmlformats.org/drawingml/2006/main">
            <a:off x="4911725" y="4162425"/>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C24C5078-CE7D-41BC-8EBE-7153286B1476}"/>
              </a:ext>
            </a:extLst>
          </p:cNvPr>
          <p:cNvSpPr>
            <a:spLocks xmlns:a="http://schemas.openxmlformats.org/drawingml/2006/main" noGrp="1"/>
          </p:cNvSpPr>
          <p:nvPr/>
        </p:nvSpPr>
        <p:spPr>
          <a:xfrm xmlns:a="http://schemas.openxmlformats.org/drawingml/2006/main">
            <a:off x="4826000" y="4143375"/>
            <a:ext cx="180975" cy="28575"/>
          </a:xfrm>
          <a:prstGeom xmlns:a="http://schemas.openxmlformats.org/drawingml/2006/main" prst="rect">
            <a:avLst/>
          </a:prstGeom>
          <a:solidFill xmlns:a="http://schemas.openxmlformats.org/drawingml/2006/main">
            <a:srgbClr val="0B13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6BCD06EB-4CEE-4F18-A159-E25E0D437E5D}"/>
              </a:ext>
            </a:extLst>
          </p:cNvPr>
          <p:cNvSpPr>
            <a:spLocks xmlns:a="http://schemas.openxmlformats.org/drawingml/2006/main" noGrp="1"/>
          </p:cNvSpPr>
          <p:nvPr/>
        </p:nvSpPr>
        <p:spPr>
          <a:xfrm xmlns:a="http://schemas.openxmlformats.org/drawingml/2006/main">
            <a:off x="52451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2. Charger</a:t>
            </a:r>
          </a:p>
        </p:txBody>
      </p:sp>
      <p:sp>
        <p:nvSpPr>
          <p:cNvPr id="31" name="">
            <a:extLst xmlns:a="http://schemas.openxmlformats.org/drawingml/2006/main">
              <a:ext uri="{FF2B5EF4-FFF2-40B4-BE49-F238E27FC236}">
                <a16:creationId xmlns:a16="http://schemas.microsoft.com/office/drawing/2014/main" id="{B1D4EC13-3EB3-4E92-AA31-D113F1D432AA}"/>
              </a:ext>
            </a:extLst>
          </p:cNvPr>
          <p:cNvSpPr>
            <a:spLocks xmlns:a="http://schemas.openxmlformats.org/drawingml/2006/main" noGrp="1"/>
          </p:cNvSpPr>
          <p:nvPr/>
        </p:nvSpPr>
        <p:spPr>
          <a:xfrm xmlns:a="http://schemas.openxmlformats.org/drawingml/2006/main">
            <a:off x="46355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Il dépose ensuite plusieurs</a:t>
            </a:r>
          </a:p>
          <a:p xmlns:a="http://schemas.openxmlformats.org/drawingml/2006/main">
            <a:pPr algn="l">
              <a:defRPr sz="1275" b="0">
                <a:solidFill>
                  <a:srgbClr val="0B1320"/>
                </a:solidFill>
              </a:defRPr>
            </a:pPr>
            <a:r>
              <a:rPr sz="1275" b="0">
                <a:solidFill>
                  <a:srgbClr val="0B1320"/>
                </a:solidFill>
              </a:rPr>
              <a:t>CV. Le système extrait le</a:t>
            </a:r>
          </a:p>
          <a:p xmlns:a="http://schemas.openxmlformats.org/drawingml/2006/main">
            <a:pPr algn="l">
              <a:defRPr sz="1275" b="0">
                <a:solidFill>
                  <a:srgbClr val="0B1320"/>
                </a:solidFill>
              </a:defRPr>
            </a:pPr>
            <a:r>
              <a:rPr sz="1275" b="0">
                <a:solidFill>
                  <a:srgbClr val="0B1320"/>
                </a:solidFill>
              </a:rPr>
              <a:t>texte et prépare</a:t>
            </a:r>
          </a:p>
          <a:p xmlns:a="http://schemas.openxmlformats.org/drawingml/2006/main">
            <a:pPr algn="l">
              <a:defRPr sz="1275" b="0">
                <a:solidFill>
                  <a:srgbClr val="0B1320"/>
                </a:solidFill>
              </a:defRPr>
            </a:pPr>
            <a:r>
              <a:rPr sz="1275" b="0">
                <a:solidFill>
                  <a:srgbClr val="0B1320"/>
                </a:solidFill>
              </a:rPr>
              <a:t>l'indexation en</a:t>
            </a:r>
          </a:p>
          <a:p xmlns:a="http://schemas.openxmlformats.org/drawingml/2006/main">
            <a:pPr algn="l">
              <a:defRPr sz="1275" b="0">
                <a:solidFill>
                  <a:srgbClr val="0B1320"/>
                </a:solidFill>
              </a:defRPr>
            </a:pPr>
            <a:r>
              <a:rPr sz="1275" b="0">
                <a:solidFill>
                  <a:srgbClr val="0B1320"/>
                </a:solidFill>
              </a:rPr>
              <a:t>arrière-plan.</a:t>
            </a:r>
          </a:p>
        </p:txBody>
      </p:sp>
      <p:sp>
        <p:nvSpPr>
          <p:cNvPr id="32" name="">
            <a:extLst xmlns:a="http://schemas.openxmlformats.org/drawingml/2006/main">
              <a:ext uri="{FF2B5EF4-FFF2-40B4-BE49-F238E27FC236}">
                <a16:creationId xmlns:a16="http://schemas.microsoft.com/office/drawing/2014/main" id="{A1301FE7-5CA8-44BF-9D03-634FDEA674BA}"/>
              </a:ext>
            </a:extLst>
          </p:cNvPr>
          <p:cNvSpPr>
            <a:spLocks xmlns:a="http://schemas.openxmlformats.org/drawingml/2006/main" noGrp="1"/>
          </p:cNvSpPr>
          <p:nvPr/>
        </p:nvSpPr>
        <p:spPr>
          <a:xfrm xmlns:a="http://schemas.openxmlformats.org/drawingml/2006/main">
            <a:off x="80137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33" name="">
            <a:extLst xmlns:a="http://schemas.openxmlformats.org/drawingml/2006/main">
              <a:ext uri="{FF2B5EF4-FFF2-40B4-BE49-F238E27FC236}">
                <a16:creationId xmlns:a16="http://schemas.microsoft.com/office/drawing/2014/main" id="{E6527371-5A19-472F-BF1F-9AE38F41C980}"/>
              </a:ext>
            </a:extLst>
          </p:cNvPr>
          <p:cNvSpPr>
            <a:spLocks xmlns:a="http://schemas.openxmlformats.org/drawingml/2006/main" noGrp="1"/>
          </p:cNvSpPr>
          <p:nvPr/>
        </p:nvSpPr>
        <p:spPr>
          <a:xfrm xmlns:a="http://schemas.openxmlformats.org/drawingml/2006/main">
            <a:off x="8013700" y="3676650"/>
            <a:ext cx="76200" cy="2038350"/>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BACDF652-22F4-4E78-913D-44A82E47CAA4}"/>
              </a:ext>
            </a:extLst>
          </p:cNvPr>
          <p:cNvSpPr>
            <a:spLocks xmlns:a="http://schemas.openxmlformats.org/drawingml/2006/main" noGrp="1"/>
          </p:cNvSpPr>
          <p:nvPr/>
        </p:nvSpPr>
        <p:spPr>
          <a:xfrm xmlns:a="http://schemas.openxmlformats.org/drawingml/2006/main">
            <a:off x="82232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35" name="">
            <a:extLst xmlns:a="http://schemas.openxmlformats.org/drawingml/2006/main">
              <a:ext uri="{FF2B5EF4-FFF2-40B4-BE49-F238E27FC236}">
                <a16:creationId xmlns:a16="http://schemas.microsoft.com/office/drawing/2014/main" id="{64194468-A565-47BB-9FA1-355E3CFFAF8F}"/>
              </a:ext>
            </a:extLst>
          </p:cNvPr>
          <p:cNvSpPr>
            <a:spLocks xmlns:a="http://schemas.openxmlformats.org/drawingml/2006/main" noGrp="1"/>
          </p:cNvSpPr>
          <p:nvPr/>
        </p:nvSpPr>
        <p:spPr>
          <a:xfrm xmlns:a="http://schemas.openxmlformats.org/drawingml/2006/main">
            <a:off x="8347075" y="4048125"/>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4CF9B8DD-BD06-426B-84CD-B55FACBDD633}"/>
              </a:ext>
            </a:extLst>
          </p:cNvPr>
          <p:cNvSpPr>
            <a:spLocks xmlns:a="http://schemas.openxmlformats.org/drawingml/2006/main" noGrp="1"/>
          </p:cNvSpPr>
          <p:nvPr/>
        </p:nvSpPr>
        <p:spPr>
          <a:xfrm xmlns:a="http://schemas.openxmlformats.org/drawingml/2006/main">
            <a:off x="8394700" y="4133850"/>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98079012-D259-4E3B-825D-E92E8330E824}"/>
              </a:ext>
            </a:extLst>
          </p:cNvPr>
          <p:cNvSpPr>
            <a:spLocks xmlns:a="http://schemas.openxmlformats.org/drawingml/2006/main" noGrp="1"/>
          </p:cNvSpPr>
          <p:nvPr/>
        </p:nvSpPr>
        <p:spPr>
          <a:xfrm xmlns:a="http://schemas.openxmlformats.org/drawingml/2006/main">
            <a:off x="8442325" y="4219575"/>
            <a:ext cx="190500" cy="95250"/>
          </a:xfrm>
          <a:prstGeom xmlns:a="http://schemas.openxmlformats.org/drawingml/2006/main" prst="roundRect">
            <a:avLst>
              <a:gd name="adj" fmla="val 50000"/>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0BF52885-C794-4920-B524-69EC0D4EFF99}"/>
              </a:ext>
            </a:extLst>
          </p:cNvPr>
          <p:cNvSpPr>
            <a:spLocks xmlns:a="http://schemas.openxmlformats.org/drawingml/2006/main" noGrp="1"/>
          </p:cNvSpPr>
          <p:nvPr/>
        </p:nvSpPr>
        <p:spPr>
          <a:xfrm xmlns:a="http://schemas.openxmlformats.org/drawingml/2006/main">
            <a:off x="88519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3. Analyser</a:t>
            </a:r>
          </a:p>
        </p:txBody>
      </p:sp>
      <p:sp>
        <p:nvSpPr>
          <p:cNvPr id="39" name="">
            <a:extLst xmlns:a="http://schemas.openxmlformats.org/drawingml/2006/main">
              <a:ext uri="{FF2B5EF4-FFF2-40B4-BE49-F238E27FC236}">
                <a16:creationId xmlns:a16="http://schemas.microsoft.com/office/drawing/2014/main" id="{45C7234D-840B-48BB-AAAD-75AC7E9D5447}"/>
              </a:ext>
            </a:extLst>
          </p:cNvPr>
          <p:cNvSpPr>
            <a:spLocks xmlns:a="http://schemas.openxmlformats.org/drawingml/2006/main" noGrp="1"/>
          </p:cNvSpPr>
          <p:nvPr/>
        </p:nvSpPr>
        <p:spPr>
          <a:xfrm xmlns:a="http://schemas.openxmlformats.org/drawingml/2006/main">
            <a:off x="82423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Le batch classe les</a:t>
            </a:r>
          </a:p>
          <a:p xmlns:a="http://schemas.openxmlformats.org/drawingml/2006/main">
            <a:pPr algn="l">
              <a:defRPr sz="1275" b="0">
                <a:solidFill>
                  <a:srgbClr val="0B1320"/>
                </a:solidFill>
              </a:defRPr>
            </a:pPr>
            <a:r>
              <a:rPr sz="1275" b="0">
                <a:solidFill>
                  <a:srgbClr val="0B1320"/>
                </a:solidFill>
              </a:rPr>
              <a:t>candidats, le recruteur</a:t>
            </a:r>
          </a:p>
          <a:p xmlns:a="http://schemas.openxmlformats.org/drawingml/2006/main">
            <a:pPr algn="l">
              <a:defRPr sz="1275" b="0">
                <a:solidFill>
                  <a:srgbClr val="0B1320"/>
                </a:solidFill>
              </a:defRPr>
            </a:pPr>
            <a:r>
              <a:rPr sz="1275" b="0">
                <a:solidFill>
                  <a:srgbClr val="0B1320"/>
                </a:solidFill>
              </a:rPr>
              <a:t>choisit les meilleurs</a:t>
            </a:r>
          </a:p>
          <a:p xmlns:a="http://schemas.openxmlformats.org/drawingml/2006/main">
            <a:pPr algn="l">
              <a:defRPr sz="1275" b="0">
                <a:solidFill>
                  <a:srgbClr val="0B1320"/>
                </a:solidFill>
              </a:defRPr>
            </a:pPr>
            <a:r>
              <a:rPr sz="1275" b="0">
                <a:solidFill>
                  <a:srgbClr val="0B1320"/>
                </a:solidFill>
              </a:rPr>
              <a:t>profils et obtient ensuite</a:t>
            </a:r>
          </a:p>
          <a:p xmlns:a="http://schemas.openxmlformats.org/drawingml/2006/main">
            <a:pPr algn="l">
              <a:defRPr sz="1275" b="0">
                <a:solidFill>
                  <a:srgbClr val="0B1320"/>
                </a:solidFill>
              </a:defRPr>
            </a:pPr>
            <a:r>
              <a:rPr sz="1275" b="0">
                <a:solidFill>
                  <a:srgbClr val="0B1320"/>
                </a:solidFill>
              </a:rPr>
              <a:t>les rapports détaillés.</a:t>
            </a:r>
          </a:p>
        </p:txBody>
      </p:sp>
    </p:spTree>
    <p:extLst>
      <p:ext uri="{BB962C8B-B14F-4D97-AF65-F5344CB8AC3E}">
        <p14:creationId xmlns:p14="http://schemas.microsoft.com/office/powerpoint/2010/main" val="1384243668"/>
      </p:ext>
    </p:extLst>
  </p:cSld>
</p:sld>
</file>

<file path=ppt/slides/slide9.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CBF359A-7211-4C5E-8008-91484FA439A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E9160AD-38EF-4F8C-B4AB-D7A7718D351B}"/>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CE9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351246A-411E-4B20-8F2B-5E133440C5D9}"/>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6FBF3">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A7BFBA7-9451-4ED0-8152-F1E8463952C1}"/>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FE8D7">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F462FB0-E544-495D-9D66-A76897619C29}"/>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92BFEBAF-04E0-43E5-8E57-107DA4BC2694}"/>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D96F08EB-DEFE-4A26-A274-705A2B4D8121}"/>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B950B255-9A14-4ADE-A405-9C9C25618F77}"/>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879AC7D-7B3A-41CD-91D5-E6D59420A7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5882"/>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FCD5DFE-9F77-46FC-A7D3-C0C845AAFC2B}"/>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08. RAG</a:t>
            </a:r>
          </a:p>
        </p:txBody>
      </p:sp>
      <p:sp>
        <p:nvSpPr>
          <p:cNvPr id="11" name="">
            <a:extLst xmlns:a="http://schemas.openxmlformats.org/drawingml/2006/main">
              <a:ext uri="{FF2B5EF4-FFF2-40B4-BE49-F238E27FC236}">
                <a16:creationId xmlns:a16="http://schemas.microsoft.com/office/drawing/2014/main" id="{23DCE433-11B4-4C4C-9B64-6B9648F99E34}"/>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09 / 13</a:t>
            </a:r>
          </a:p>
        </p:txBody>
      </p:sp>
      <p:sp>
        <p:nvSpPr>
          <p:cNvPr id="12" name="">
            <a:extLst xmlns:a="http://schemas.openxmlformats.org/drawingml/2006/main">
              <a:ext uri="{FF2B5EF4-FFF2-40B4-BE49-F238E27FC236}">
                <a16:creationId xmlns:a16="http://schemas.microsoft.com/office/drawing/2014/main" id="{3CE2339A-E092-402A-BA5B-91BFDF5FD7F9}"/>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C2AFC547-2D45-4A42-83F3-5F8ECCEBD5AF}"/>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81FCDA88-520C-4CAE-8EBF-9D306FCF96BB}"/>
              </a:ext>
            </a:extLst>
          </p:cNvPr>
          <p:cNvSpPr>
            <a:spLocks xmlns:a="http://schemas.openxmlformats.org/drawingml/2006/main" noGrp="1"/>
          </p:cNvSpPr>
          <p:nvPr/>
        </p:nvSpPr>
        <p:spPr>
          <a:xfrm xmlns:a="http://schemas.openxmlformats.org/drawingml/2006/main">
            <a:off x="685800" y="876300"/>
            <a:ext cx="73342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Comment fonctionne la présélection RAG</a:t>
            </a:r>
          </a:p>
        </p:txBody>
      </p:sp>
      <p:sp>
        <p:nvSpPr>
          <p:cNvPr id="15" name="">
            <a:extLst xmlns:a="http://schemas.openxmlformats.org/drawingml/2006/main">
              <a:ext uri="{FF2B5EF4-FFF2-40B4-BE49-F238E27FC236}">
                <a16:creationId xmlns:a16="http://schemas.microsoft.com/office/drawing/2014/main" id="{CAD352A4-8580-4115-8DD6-CF77D17C446C}"/>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Le système compare les CV et la fiche de poste par sections normalisées au lieu de comparer seulement des textes bruts.</a:t>
            </a:r>
          </a:p>
        </p:txBody>
      </p:sp>
      <p:sp>
        <p:nvSpPr>
          <p:cNvPr id="16" name="">
            <a:extLst xmlns:a="http://schemas.openxmlformats.org/drawingml/2006/main">
              <a:ext uri="{FF2B5EF4-FFF2-40B4-BE49-F238E27FC236}">
                <a16:creationId xmlns:a16="http://schemas.microsoft.com/office/drawing/2014/main" id="{A57C8757-FA64-4A63-B3C2-209E8848B01C}"/>
              </a:ext>
            </a:extLst>
          </p:cNvPr>
          <p:cNvSpPr>
            <a:spLocks xmlns:a="http://schemas.openxmlformats.org/drawingml/2006/main" noGrp="1"/>
          </p:cNvSpPr>
          <p:nvPr/>
        </p:nvSpPr>
        <p:spPr>
          <a:xfrm xmlns:a="http://schemas.openxmlformats.org/drawingml/2006/main">
            <a:off x="8001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89FF11DF-3E75-4441-A9BC-CD21FC05140B}"/>
              </a:ext>
            </a:extLst>
          </p:cNvPr>
          <p:cNvSpPr>
            <a:spLocks xmlns:a="http://schemas.openxmlformats.org/drawingml/2006/main" noGrp="1"/>
          </p:cNvSpPr>
          <p:nvPr/>
        </p:nvSpPr>
        <p:spPr>
          <a:xfrm xmlns:a="http://schemas.openxmlformats.org/drawingml/2006/main">
            <a:off x="800100" y="3676650"/>
            <a:ext cx="76200" cy="20383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6A33F4BA-93E0-4132-B228-72E1FD2830A1}"/>
              </a:ext>
            </a:extLst>
          </p:cNvPr>
          <p:cNvSpPr>
            <a:spLocks xmlns:a="http://schemas.openxmlformats.org/drawingml/2006/main" noGrp="1"/>
          </p:cNvSpPr>
          <p:nvPr/>
        </p:nvSpPr>
        <p:spPr>
          <a:xfrm xmlns:a="http://schemas.openxmlformats.org/drawingml/2006/main">
            <a:off x="10096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19" name="">
            <a:extLst xmlns:a="http://schemas.openxmlformats.org/drawingml/2006/main">
              <a:ext uri="{FF2B5EF4-FFF2-40B4-BE49-F238E27FC236}">
                <a16:creationId xmlns:a16="http://schemas.microsoft.com/office/drawing/2014/main" id="{514BA661-E0C8-4CC9-A506-F6734E70F47E}"/>
              </a:ext>
            </a:extLst>
          </p:cNvPr>
          <p:cNvSpPr>
            <a:spLocks xmlns:a="http://schemas.openxmlformats.org/drawingml/2006/main" noGrp="1"/>
          </p:cNvSpPr>
          <p:nvPr/>
        </p:nvSpPr>
        <p:spPr>
          <a:xfrm xmlns:a="http://schemas.openxmlformats.org/drawingml/2006/main">
            <a:off x="1162050" y="4181475"/>
            <a:ext cx="57150" cy="1143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9CC0DA4-43F0-4089-AE8A-D06AF15A4D02}"/>
              </a:ext>
            </a:extLst>
          </p:cNvPr>
          <p:cNvSpPr>
            <a:spLocks xmlns:a="http://schemas.openxmlformats.org/drawingml/2006/main" noGrp="1"/>
          </p:cNvSpPr>
          <p:nvPr/>
        </p:nvSpPr>
        <p:spPr>
          <a:xfrm xmlns:a="http://schemas.openxmlformats.org/drawingml/2006/main">
            <a:off x="1247775" y="4105275"/>
            <a:ext cx="57150" cy="1905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7BE9FCBC-373A-465B-A739-177D27B5896A}"/>
              </a:ext>
            </a:extLst>
          </p:cNvPr>
          <p:cNvSpPr>
            <a:spLocks xmlns:a="http://schemas.openxmlformats.org/drawingml/2006/main" noGrp="1"/>
          </p:cNvSpPr>
          <p:nvPr/>
        </p:nvSpPr>
        <p:spPr>
          <a:xfrm xmlns:a="http://schemas.openxmlformats.org/drawingml/2006/main">
            <a:off x="1333500" y="4038600"/>
            <a:ext cx="57150" cy="2571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044A26C9-15F1-4387-8CC3-1E0CF69207F2}"/>
              </a:ext>
            </a:extLst>
          </p:cNvPr>
          <p:cNvSpPr>
            <a:spLocks xmlns:a="http://schemas.openxmlformats.org/drawingml/2006/main" noGrp="1"/>
          </p:cNvSpPr>
          <p:nvPr/>
        </p:nvSpPr>
        <p:spPr>
          <a:xfrm xmlns:a="http://schemas.openxmlformats.org/drawingml/2006/main">
            <a:off x="16383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Découpage</a:t>
            </a:r>
          </a:p>
        </p:txBody>
      </p:sp>
      <p:sp>
        <p:nvSpPr>
          <p:cNvPr id="23" name="">
            <a:extLst xmlns:a="http://schemas.openxmlformats.org/drawingml/2006/main">
              <a:ext uri="{FF2B5EF4-FFF2-40B4-BE49-F238E27FC236}">
                <a16:creationId xmlns:a16="http://schemas.microsoft.com/office/drawing/2014/main" id="{C6B8EDB3-5637-41FA-8058-EA30BBD67599}"/>
              </a:ext>
            </a:extLst>
          </p:cNvPr>
          <p:cNvSpPr>
            <a:spLocks xmlns:a="http://schemas.openxmlformats.org/drawingml/2006/main" noGrp="1"/>
          </p:cNvSpPr>
          <p:nvPr/>
        </p:nvSpPr>
        <p:spPr>
          <a:xfrm xmlns:a="http://schemas.openxmlformats.org/drawingml/2006/main">
            <a:off x="10287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Chaque CV et chaque fiche de</a:t>
            </a:r>
          </a:p>
          <a:p xmlns:a="http://schemas.openxmlformats.org/drawingml/2006/main">
            <a:pPr algn="l">
              <a:defRPr sz="1275" b="0">
                <a:solidFill>
                  <a:srgbClr val="0B1320"/>
                </a:solidFill>
              </a:defRPr>
            </a:pPr>
            <a:r>
              <a:rPr sz="1275" b="0">
                <a:solidFill>
                  <a:srgbClr val="0B1320"/>
                </a:solidFill>
              </a:rPr>
              <a:t>poste sont transformés en</a:t>
            </a:r>
          </a:p>
          <a:p xmlns:a="http://schemas.openxmlformats.org/drawingml/2006/main">
            <a:pPr algn="l">
              <a:defRPr sz="1275" b="0">
                <a:solidFill>
                  <a:srgbClr val="0B1320"/>
                </a:solidFill>
              </a:defRPr>
            </a:pPr>
            <a:r>
              <a:rPr sz="1275" b="0">
                <a:solidFill>
                  <a:srgbClr val="0B1320"/>
                </a:solidFill>
              </a:rPr>
              <a:t>quatre sections :</a:t>
            </a:r>
          </a:p>
          <a:p xmlns:a="http://schemas.openxmlformats.org/drawingml/2006/main">
            <a:pPr algn="l">
              <a:defRPr sz="1275" b="0">
                <a:solidFill>
                  <a:srgbClr val="0B1320"/>
                </a:solidFill>
              </a:defRPr>
            </a:pPr>
            <a:r>
              <a:rPr sz="1275" b="0">
                <a:solidFill>
                  <a:srgbClr val="0B1320"/>
                </a:solidFill>
              </a:rPr>
              <a:t>compétences, expérience,</a:t>
            </a:r>
          </a:p>
          <a:p xmlns:a="http://schemas.openxmlformats.org/drawingml/2006/main">
            <a:pPr algn="l">
              <a:defRPr sz="1275" b="0">
                <a:solidFill>
                  <a:srgbClr val="0B1320"/>
                </a:solidFill>
              </a:defRPr>
            </a:pPr>
            <a:r>
              <a:rPr sz="1275" b="0">
                <a:solidFill>
                  <a:srgbClr val="0B1320"/>
                </a:solidFill>
              </a:rPr>
              <a:t>formation et profil.</a:t>
            </a:r>
          </a:p>
        </p:txBody>
      </p:sp>
      <p:sp>
        <p:nvSpPr>
          <p:cNvPr id="24" name="">
            <a:extLst xmlns:a="http://schemas.openxmlformats.org/drawingml/2006/main">
              <a:ext uri="{FF2B5EF4-FFF2-40B4-BE49-F238E27FC236}">
                <a16:creationId xmlns:a16="http://schemas.microsoft.com/office/drawing/2014/main" id="{7FC4DF58-6BBF-4935-8F5C-4988BFFD1FE4}"/>
              </a:ext>
            </a:extLst>
          </p:cNvPr>
          <p:cNvSpPr>
            <a:spLocks xmlns:a="http://schemas.openxmlformats.org/drawingml/2006/main" noGrp="1"/>
          </p:cNvSpPr>
          <p:nvPr/>
        </p:nvSpPr>
        <p:spPr>
          <a:xfrm xmlns:a="http://schemas.openxmlformats.org/drawingml/2006/main">
            <a:off x="44069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25" name="">
            <a:extLst xmlns:a="http://schemas.openxmlformats.org/drawingml/2006/main">
              <a:ext uri="{FF2B5EF4-FFF2-40B4-BE49-F238E27FC236}">
                <a16:creationId xmlns:a16="http://schemas.microsoft.com/office/drawing/2014/main" id="{28E21EE9-1467-42A7-8568-FB90D4635AA5}"/>
              </a:ext>
            </a:extLst>
          </p:cNvPr>
          <p:cNvSpPr>
            <a:spLocks xmlns:a="http://schemas.openxmlformats.org/drawingml/2006/main" noGrp="1"/>
          </p:cNvSpPr>
          <p:nvPr/>
        </p:nvSpPr>
        <p:spPr>
          <a:xfrm xmlns:a="http://schemas.openxmlformats.org/drawingml/2006/main">
            <a:off x="4406900" y="3676650"/>
            <a:ext cx="76200" cy="2038350"/>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6127BD34-DC36-4EFC-9E30-0799D6296FFC}"/>
              </a:ext>
            </a:extLst>
          </p:cNvPr>
          <p:cNvSpPr>
            <a:spLocks xmlns:a="http://schemas.openxmlformats.org/drawingml/2006/main" noGrp="1"/>
          </p:cNvSpPr>
          <p:nvPr/>
        </p:nvSpPr>
        <p:spPr>
          <a:xfrm xmlns:a="http://schemas.openxmlformats.org/drawingml/2006/main">
            <a:off x="46164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7F0C1D7B-320C-40B1-AD0C-1FF4302B9F9C}"/>
              </a:ext>
            </a:extLst>
          </p:cNvPr>
          <p:cNvSpPr>
            <a:spLocks xmlns:a="http://schemas.openxmlformats.org/drawingml/2006/main" noGrp="1"/>
          </p:cNvSpPr>
          <p:nvPr/>
        </p:nvSpPr>
        <p:spPr>
          <a:xfrm xmlns:a="http://schemas.openxmlformats.org/drawingml/2006/main">
            <a:off x="4740275" y="4076700"/>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7171BF35-A4D0-4A92-897B-2588492E0997}"/>
              </a:ext>
            </a:extLst>
          </p:cNvPr>
          <p:cNvSpPr>
            <a:spLocks xmlns:a="http://schemas.openxmlformats.org/drawingml/2006/main" noGrp="1"/>
          </p:cNvSpPr>
          <p:nvPr/>
        </p:nvSpPr>
        <p:spPr>
          <a:xfrm xmlns:a="http://schemas.openxmlformats.org/drawingml/2006/main">
            <a:off x="4911725" y="4162425"/>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7C60BAC1-67E0-4947-89F8-8E12FB1AA0B8}"/>
              </a:ext>
            </a:extLst>
          </p:cNvPr>
          <p:cNvSpPr>
            <a:spLocks xmlns:a="http://schemas.openxmlformats.org/drawingml/2006/main" noGrp="1"/>
          </p:cNvSpPr>
          <p:nvPr/>
        </p:nvSpPr>
        <p:spPr>
          <a:xfrm xmlns:a="http://schemas.openxmlformats.org/drawingml/2006/main">
            <a:off x="4826000" y="4143375"/>
            <a:ext cx="180975" cy="28575"/>
          </a:xfrm>
          <a:prstGeom xmlns:a="http://schemas.openxmlformats.org/drawingml/2006/main" prst="rect">
            <a:avLst/>
          </a:prstGeom>
          <a:solidFill xmlns:a="http://schemas.openxmlformats.org/drawingml/2006/main">
            <a:srgbClr val="0B13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33CE9A9B-A6CC-4419-BA5E-B5962B3124D5}"/>
              </a:ext>
            </a:extLst>
          </p:cNvPr>
          <p:cNvSpPr>
            <a:spLocks xmlns:a="http://schemas.openxmlformats.org/drawingml/2006/main" noGrp="1"/>
          </p:cNvSpPr>
          <p:nvPr/>
        </p:nvSpPr>
        <p:spPr>
          <a:xfrm xmlns:a="http://schemas.openxmlformats.org/drawingml/2006/main">
            <a:off x="52451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Vectorisation</a:t>
            </a:r>
          </a:p>
        </p:txBody>
      </p:sp>
      <p:sp>
        <p:nvSpPr>
          <p:cNvPr id="31" name="">
            <a:extLst xmlns:a="http://schemas.openxmlformats.org/drawingml/2006/main">
              <a:ext uri="{FF2B5EF4-FFF2-40B4-BE49-F238E27FC236}">
                <a16:creationId xmlns:a16="http://schemas.microsoft.com/office/drawing/2014/main" id="{53817535-0B95-4612-876C-36DAF9B135AF}"/>
              </a:ext>
            </a:extLst>
          </p:cNvPr>
          <p:cNvSpPr>
            <a:spLocks xmlns:a="http://schemas.openxmlformats.org/drawingml/2006/main" noGrp="1"/>
          </p:cNvSpPr>
          <p:nvPr/>
        </p:nvSpPr>
        <p:spPr>
          <a:xfrm xmlns:a="http://schemas.openxmlformats.org/drawingml/2006/main">
            <a:off x="46355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Chaque section est convertie</a:t>
            </a:r>
          </a:p>
          <a:p xmlns:a="http://schemas.openxmlformats.org/drawingml/2006/main">
            <a:pPr algn="l">
              <a:defRPr sz="1275" b="0">
                <a:solidFill>
                  <a:srgbClr val="0B1320"/>
                </a:solidFill>
              </a:defRPr>
            </a:pPr>
            <a:r>
              <a:rPr sz="1275" b="0">
                <a:solidFill>
                  <a:srgbClr val="0B1320"/>
                </a:solidFill>
              </a:rPr>
              <a:t>en embedding et stockée dans</a:t>
            </a:r>
          </a:p>
          <a:p xmlns:a="http://schemas.openxmlformats.org/drawingml/2006/main">
            <a:pPr algn="l">
              <a:defRPr sz="1275" b="0">
                <a:solidFill>
                  <a:srgbClr val="0B1320"/>
                </a:solidFill>
              </a:defRPr>
            </a:pPr>
            <a:r>
              <a:rPr sz="1275" b="0">
                <a:solidFill>
                  <a:srgbClr val="0B1320"/>
                </a:solidFill>
              </a:rPr>
              <a:t>ChromaDB pour permettre la</a:t>
            </a:r>
          </a:p>
          <a:p xmlns:a="http://schemas.openxmlformats.org/drawingml/2006/main">
            <a:pPr algn="l">
              <a:defRPr sz="1275" b="0">
                <a:solidFill>
                  <a:srgbClr val="0B1320"/>
                </a:solidFill>
              </a:defRPr>
            </a:pPr>
            <a:r>
              <a:rPr sz="1275" b="0">
                <a:solidFill>
                  <a:srgbClr val="0B1320"/>
                </a:solidFill>
              </a:rPr>
              <a:t>recherche de similarité.</a:t>
            </a:r>
          </a:p>
        </p:txBody>
      </p:sp>
      <p:sp>
        <p:nvSpPr>
          <p:cNvPr id="32" name="">
            <a:extLst xmlns:a="http://schemas.openxmlformats.org/drawingml/2006/main">
              <a:ext uri="{FF2B5EF4-FFF2-40B4-BE49-F238E27FC236}">
                <a16:creationId xmlns:a16="http://schemas.microsoft.com/office/drawing/2014/main" id="{1397978F-807C-4B11-8497-650FC3910979}"/>
              </a:ext>
            </a:extLst>
          </p:cNvPr>
          <p:cNvSpPr>
            <a:spLocks xmlns:a="http://schemas.openxmlformats.org/drawingml/2006/main" noGrp="1"/>
          </p:cNvSpPr>
          <p:nvPr/>
        </p:nvSpPr>
        <p:spPr>
          <a:xfrm xmlns:a="http://schemas.openxmlformats.org/drawingml/2006/main">
            <a:off x="80137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33" name="">
            <a:extLst xmlns:a="http://schemas.openxmlformats.org/drawingml/2006/main">
              <a:ext uri="{FF2B5EF4-FFF2-40B4-BE49-F238E27FC236}">
                <a16:creationId xmlns:a16="http://schemas.microsoft.com/office/drawing/2014/main" id="{24E66253-D178-4C16-8B96-A3D38B6A6D8E}"/>
              </a:ext>
            </a:extLst>
          </p:cNvPr>
          <p:cNvSpPr>
            <a:spLocks xmlns:a="http://schemas.openxmlformats.org/drawingml/2006/main" noGrp="1"/>
          </p:cNvSpPr>
          <p:nvPr/>
        </p:nvSpPr>
        <p:spPr>
          <a:xfrm xmlns:a="http://schemas.openxmlformats.org/drawingml/2006/main">
            <a:off x="8013700" y="3676650"/>
            <a:ext cx="76200" cy="2038350"/>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DEF1C9DD-BEBA-48E7-80E5-A7E0BCF35DA5}"/>
              </a:ext>
            </a:extLst>
          </p:cNvPr>
          <p:cNvSpPr>
            <a:spLocks xmlns:a="http://schemas.openxmlformats.org/drawingml/2006/main" noGrp="1"/>
          </p:cNvSpPr>
          <p:nvPr/>
        </p:nvSpPr>
        <p:spPr>
          <a:xfrm xmlns:a="http://schemas.openxmlformats.org/drawingml/2006/main">
            <a:off x="82232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35" name="">
            <a:extLst xmlns:a="http://schemas.openxmlformats.org/drawingml/2006/main">
              <a:ext uri="{FF2B5EF4-FFF2-40B4-BE49-F238E27FC236}">
                <a16:creationId xmlns:a16="http://schemas.microsoft.com/office/drawing/2014/main" id="{C11697A1-8113-46FF-A241-338F1D2ED337}"/>
              </a:ext>
            </a:extLst>
          </p:cNvPr>
          <p:cNvSpPr>
            <a:spLocks xmlns:a="http://schemas.openxmlformats.org/drawingml/2006/main" noGrp="1"/>
          </p:cNvSpPr>
          <p:nvPr/>
        </p:nvSpPr>
        <p:spPr>
          <a:xfrm xmlns:a="http://schemas.openxmlformats.org/drawingml/2006/main">
            <a:off x="8347075" y="4048125"/>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86CEBB65-217C-43D3-8BFE-E703A6CDDE89}"/>
              </a:ext>
            </a:extLst>
          </p:cNvPr>
          <p:cNvSpPr>
            <a:spLocks xmlns:a="http://schemas.openxmlformats.org/drawingml/2006/main" noGrp="1"/>
          </p:cNvSpPr>
          <p:nvPr/>
        </p:nvSpPr>
        <p:spPr>
          <a:xfrm xmlns:a="http://schemas.openxmlformats.org/drawingml/2006/main">
            <a:off x="8394700" y="4133850"/>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461AA46E-ED9E-4BAF-A312-418FF6281050}"/>
              </a:ext>
            </a:extLst>
          </p:cNvPr>
          <p:cNvSpPr>
            <a:spLocks xmlns:a="http://schemas.openxmlformats.org/drawingml/2006/main" noGrp="1"/>
          </p:cNvSpPr>
          <p:nvPr/>
        </p:nvSpPr>
        <p:spPr>
          <a:xfrm xmlns:a="http://schemas.openxmlformats.org/drawingml/2006/main">
            <a:off x="8442325" y="4219575"/>
            <a:ext cx="190500" cy="95250"/>
          </a:xfrm>
          <a:prstGeom xmlns:a="http://schemas.openxmlformats.org/drawingml/2006/main" prst="roundRect">
            <a:avLst>
              <a:gd name="adj" fmla="val 50000"/>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849C245E-4E72-442A-B009-32CE63B9154A}"/>
              </a:ext>
            </a:extLst>
          </p:cNvPr>
          <p:cNvSpPr>
            <a:spLocks xmlns:a="http://schemas.openxmlformats.org/drawingml/2006/main" noGrp="1"/>
          </p:cNvSpPr>
          <p:nvPr/>
        </p:nvSpPr>
        <p:spPr>
          <a:xfrm xmlns:a="http://schemas.openxmlformats.org/drawingml/2006/main">
            <a:off x="88519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Classement</a:t>
            </a:r>
          </a:p>
        </p:txBody>
      </p:sp>
      <p:sp>
        <p:nvSpPr>
          <p:cNvPr id="39" name="">
            <a:extLst xmlns:a="http://schemas.openxmlformats.org/drawingml/2006/main">
              <a:ext uri="{FF2B5EF4-FFF2-40B4-BE49-F238E27FC236}">
                <a16:creationId xmlns:a16="http://schemas.microsoft.com/office/drawing/2014/main" id="{65C48CDE-7006-47BD-B00B-094E7AF91A4C}"/>
              </a:ext>
            </a:extLst>
          </p:cNvPr>
          <p:cNvSpPr>
            <a:spLocks xmlns:a="http://schemas.openxmlformats.org/drawingml/2006/main" noGrp="1"/>
          </p:cNvSpPr>
          <p:nvPr/>
        </p:nvSpPr>
        <p:spPr>
          <a:xfrm xmlns:a="http://schemas.openxmlformats.org/drawingml/2006/main">
            <a:off x="82423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Le système calcule ensuite</a:t>
            </a:r>
          </a:p>
          <a:p xmlns:a="http://schemas.openxmlformats.org/drawingml/2006/main">
            <a:pPr algn="l">
              <a:defRPr sz="1275" b="0">
                <a:solidFill>
                  <a:srgbClr val="0B1320"/>
                </a:solidFill>
              </a:defRPr>
            </a:pPr>
            <a:r>
              <a:rPr sz="1275" b="0">
                <a:solidFill>
                  <a:srgbClr val="0B1320"/>
                </a:solidFill>
              </a:rPr>
              <a:t>un score pondéré pour</a:t>
            </a:r>
          </a:p>
          <a:p xmlns:a="http://schemas.openxmlformats.org/drawingml/2006/main">
            <a:pPr algn="l">
              <a:defRPr sz="1275" b="0">
                <a:solidFill>
                  <a:srgbClr val="0B1320"/>
                </a:solidFill>
              </a:defRPr>
            </a:pPr>
            <a:r>
              <a:rPr sz="1275" b="0">
                <a:solidFill>
                  <a:srgbClr val="0B1320"/>
                </a:solidFill>
              </a:rPr>
              <a:t>classer rapidement tous les</a:t>
            </a:r>
          </a:p>
          <a:p xmlns:a="http://schemas.openxmlformats.org/drawingml/2006/main">
            <a:pPr algn="l">
              <a:defRPr sz="1275" b="0">
                <a:solidFill>
                  <a:srgbClr val="0B1320"/>
                </a:solidFill>
              </a:defRPr>
            </a:pPr>
            <a:r>
              <a:rPr sz="1275" b="0">
                <a:solidFill>
                  <a:srgbClr val="0B1320"/>
                </a:solidFill>
              </a:rPr>
              <a:t>CV par ordre de pertinence.</a:t>
            </a:r>
          </a:p>
        </p:txBody>
      </p:sp>
    </p:spTree>
    <p:extLst>
      <p:ext uri="{BB962C8B-B14F-4D97-AF65-F5344CB8AC3E}">
        <p14:creationId xmlns:p14="http://schemas.microsoft.com/office/powerpoint/2010/main" val="393507009"/>
      </p:ext>
    </p:extLst>
  </p:cSld>
</p:sld>
</file>

<file path=ppt/slides/slide10.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CBF359A-7211-4C5E-8008-91484FA439A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65D002F7-8F23-48F2-897D-AC2574B64EC0}"/>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7E7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41440BD-13E9-4920-91D1-DD4BEC12A81C}"/>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AFBF0">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30FB684-D679-4A77-A072-80FBD715A6A6}"/>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DE4D9">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6237A417-545C-4FB1-B0AB-D598A5ECB03C}"/>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A4D32260-1A8A-4DC9-91C6-919CA782ED4C}"/>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F18D8C13-37A3-43D9-8F45-E3E6D3E5747E}"/>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36131A15-2BF2-44E7-B53B-EFAD26559A96}"/>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DAF5959-A150-4C3E-AAE9-2CACAAA210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5882"/>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7ECFF298-0542-4A2B-8BC1-E0A5B2A9F26E}"/>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09. LANGGRAPH</a:t>
            </a:r>
          </a:p>
        </p:txBody>
      </p:sp>
      <p:sp>
        <p:nvSpPr>
          <p:cNvPr id="11" name="">
            <a:extLst xmlns:a="http://schemas.openxmlformats.org/drawingml/2006/main">
              <a:ext uri="{FF2B5EF4-FFF2-40B4-BE49-F238E27FC236}">
                <a16:creationId xmlns:a16="http://schemas.microsoft.com/office/drawing/2014/main" id="{47F6144F-7D31-4487-8E48-FF909F403A1D}"/>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10 / 13</a:t>
            </a:r>
          </a:p>
        </p:txBody>
      </p:sp>
      <p:sp>
        <p:nvSpPr>
          <p:cNvPr id="12" name="">
            <a:extLst xmlns:a="http://schemas.openxmlformats.org/drawingml/2006/main">
              <a:ext uri="{FF2B5EF4-FFF2-40B4-BE49-F238E27FC236}">
                <a16:creationId xmlns:a16="http://schemas.microsoft.com/office/drawing/2014/main" id="{64BBB3B6-5E76-4BAD-8060-DDB7FEDC87D3}"/>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D9F20649-ADDA-48B8-B07A-B9DB14FDF949}"/>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C9C88175-D505-4718-B98F-1E18118F7E4D}"/>
              </a:ext>
            </a:extLst>
          </p:cNvPr>
          <p:cNvSpPr>
            <a:spLocks xmlns:a="http://schemas.openxmlformats.org/drawingml/2006/main" noGrp="1"/>
          </p:cNvSpPr>
          <p:nvPr/>
        </p:nvSpPr>
        <p:spPr>
          <a:xfrm xmlns:a="http://schemas.openxmlformats.org/drawingml/2006/main">
            <a:off x="685800" y="876300"/>
            <a:ext cx="73342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Comment fonctionne l'analyse détaillée</a:t>
            </a:r>
          </a:p>
        </p:txBody>
      </p:sp>
      <p:sp>
        <p:nvSpPr>
          <p:cNvPr id="15" name="">
            <a:extLst xmlns:a="http://schemas.openxmlformats.org/drawingml/2006/main">
              <a:ext uri="{FF2B5EF4-FFF2-40B4-BE49-F238E27FC236}">
                <a16:creationId xmlns:a16="http://schemas.microsoft.com/office/drawing/2014/main" id="{B771476B-C44C-4EC1-9E18-FAB041132FF4}"/>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Une fois les meilleurs profils choisis, LangGraph exécute une chaîne d'analyse en plusieurs étapes successives.</a:t>
            </a:r>
          </a:p>
        </p:txBody>
      </p:sp>
      <p:sp>
        <p:nvSpPr>
          <p:cNvPr id="16" name="">
            <a:extLst xmlns:a="http://schemas.openxmlformats.org/drawingml/2006/main">
              <a:ext uri="{FF2B5EF4-FFF2-40B4-BE49-F238E27FC236}">
                <a16:creationId xmlns:a16="http://schemas.microsoft.com/office/drawing/2014/main" id="{51823373-9568-4EE5-B5FE-2F5DDA02235C}"/>
              </a:ext>
            </a:extLst>
          </p:cNvPr>
          <p:cNvSpPr>
            <a:spLocks xmlns:a="http://schemas.openxmlformats.org/drawingml/2006/main" noGrp="1"/>
          </p:cNvSpPr>
          <p:nvPr/>
        </p:nvSpPr>
        <p:spPr>
          <a:xfrm xmlns:a="http://schemas.openxmlformats.org/drawingml/2006/main">
            <a:off x="8001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B04FDF0A-0087-4B09-8E2D-CEF2A1F7A6AC}"/>
              </a:ext>
            </a:extLst>
          </p:cNvPr>
          <p:cNvSpPr>
            <a:spLocks xmlns:a="http://schemas.openxmlformats.org/drawingml/2006/main" noGrp="1"/>
          </p:cNvSpPr>
          <p:nvPr/>
        </p:nvSpPr>
        <p:spPr>
          <a:xfrm xmlns:a="http://schemas.openxmlformats.org/drawingml/2006/main">
            <a:off x="800100" y="3676650"/>
            <a:ext cx="76200" cy="20383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F05468B0-6746-41B2-8E9E-57C9D2ABEC1E}"/>
              </a:ext>
            </a:extLst>
          </p:cNvPr>
          <p:cNvSpPr>
            <a:spLocks xmlns:a="http://schemas.openxmlformats.org/drawingml/2006/main" noGrp="1"/>
          </p:cNvSpPr>
          <p:nvPr/>
        </p:nvSpPr>
        <p:spPr>
          <a:xfrm xmlns:a="http://schemas.openxmlformats.org/drawingml/2006/main">
            <a:off x="10096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19" name="">
            <a:extLst xmlns:a="http://schemas.openxmlformats.org/drawingml/2006/main">
              <a:ext uri="{FF2B5EF4-FFF2-40B4-BE49-F238E27FC236}">
                <a16:creationId xmlns:a16="http://schemas.microsoft.com/office/drawing/2014/main" id="{779BA4E0-018C-4A1C-94F7-B49CD26BBB7D}"/>
              </a:ext>
            </a:extLst>
          </p:cNvPr>
          <p:cNvSpPr>
            <a:spLocks xmlns:a="http://schemas.openxmlformats.org/drawingml/2006/main" noGrp="1"/>
          </p:cNvSpPr>
          <p:nvPr/>
        </p:nvSpPr>
        <p:spPr>
          <a:xfrm xmlns:a="http://schemas.openxmlformats.org/drawingml/2006/main">
            <a:off x="1162050" y="4181475"/>
            <a:ext cx="57150" cy="1143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5C2550E-91AD-41A3-BA78-15068E682668}"/>
              </a:ext>
            </a:extLst>
          </p:cNvPr>
          <p:cNvSpPr>
            <a:spLocks xmlns:a="http://schemas.openxmlformats.org/drawingml/2006/main" noGrp="1"/>
          </p:cNvSpPr>
          <p:nvPr/>
        </p:nvSpPr>
        <p:spPr>
          <a:xfrm xmlns:a="http://schemas.openxmlformats.org/drawingml/2006/main">
            <a:off x="1247775" y="4105275"/>
            <a:ext cx="57150" cy="1905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C1075440-E2E0-4BE6-A7B4-66E32B9D1B44}"/>
              </a:ext>
            </a:extLst>
          </p:cNvPr>
          <p:cNvSpPr>
            <a:spLocks xmlns:a="http://schemas.openxmlformats.org/drawingml/2006/main" noGrp="1"/>
          </p:cNvSpPr>
          <p:nvPr/>
        </p:nvSpPr>
        <p:spPr>
          <a:xfrm xmlns:a="http://schemas.openxmlformats.org/drawingml/2006/main">
            <a:off x="1333500" y="4038600"/>
            <a:ext cx="57150" cy="2571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58844C8F-DA54-4C39-8B82-0F624B830DD9}"/>
              </a:ext>
            </a:extLst>
          </p:cNvPr>
          <p:cNvSpPr>
            <a:spLocks xmlns:a="http://schemas.openxmlformats.org/drawingml/2006/main" noGrp="1"/>
          </p:cNvSpPr>
          <p:nvPr/>
        </p:nvSpPr>
        <p:spPr>
          <a:xfrm xmlns:a="http://schemas.openxmlformats.org/drawingml/2006/main">
            <a:off x="16383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Étape 1</a:t>
            </a:r>
          </a:p>
        </p:txBody>
      </p:sp>
      <p:sp>
        <p:nvSpPr>
          <p:cNvPr id="23" name="">
            <a:extLst xmlns:a="http://schemas.openxmlformats.org/drawingml/2006/main">
              <a:ext uri="{FF2B5EF4-FFF2-40B4-BE49-F238E27FC236}">
                <a16:creationId xmlns:a16="http://schemas.microsoft.com/office/drawing/2014/main" id="{DB3E4F34-7922-4DFD-818C-C5F02FF25D5A}"/>
              </a:ext>
            </a:extLst>
          </p:cNvPr>
          <p:cNvSpPr>
            <a:spLocks xmlns:a="http://schemas.openxmlformats.org/drawingml/2006/main" noGrp="1"/>
          </p:cNvSpPr>
          <p:nvPr/>
        </p:nvSpPr>
        <p:spPr>
          <a:xfrm xmlns:a="http://schemas.openxmlformats.org/drawingml/2006/main">
            <a:off x="10287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Le système extrait ou</a:t>
            </a:r>
          </a:p>
          <a:p xmlns:a="http://schemas.openxmlformats.org/drawingml/2006/main">
            <a:pPr algn="l">
              <a:defRPr sz="1275" b="0">
                <a:solidFill>
                  <a:srgbClr val="0B1320"/>
                </a:solidFill>
              </a:defRPr>
            </a:pPr>
            <a:r>
              <a:rPr sz="1275" b="0">
                <a:solidFill>
                  <a:srgbClr val="0B1320"/>
                </a:solidFill>
              </a:rPr>
              <a:t>réutilise les compétences,</a:t>
            </a:r>
          </a:p>
          <a:p xmlns:a="http://schemas.openxmlformats.org/drawingml/2006/main">
            <a:pPr algn="l">
              <a:defRPr sz="1275" b="0">
                <a:solidFill>
                  <a:srgbClr val="0B1320"/>
                </a:solidFill>
              </a:defRPr>
            </a:pPr>
            <a:r>
              <a:rPr sz="1275" b="0">
                <a:solidFill>
                  <a:srgbClr val="0B1320"/>
                </a:solidFill>
              </a:rPr>
              <a:t>les soft skills, les langues</a:t>
            </a:r>
          </a:p>
          <a:p xmlns:a="http://schemas.openxmlformats.org/drawingml/2006/main">
            <a:pPr algn="l">
              <a:defRPr sz="1275" b="0">
                <a:solidFill>
                  <a:srgbClr val="0B1320"/>
                </a:solidFill>
              </a:defRPr>
            </a:pPr>
            <a:r>
              <a:rPr sz="1275" b="0">
                <a:solidFill>
                  <a:srgbClr val="0B1320"/>
                </a:solidFill>
              </a:rPr>
              <a:t>et les informations de</a:t>
            </a:r>
          </a:p>
          <a:p xmlns:a="http://schemas.openxmlformats.org/drawingml/2006/main">
            <a:pPr algn="l">
              <a:defRPr sz="1275" b="0">
                <a:solidFill>
                  <a:srgbClr val="0B1320"/>
                </a:solidFill>
              </a:defRPr>
            </a:pPr>
            <a:r>
              <a:rPr sz="1275" b="0">
                <a:solidFill>
                  <a:srgbClr val="0B1320"/>
                </a:solidFill>
              </a:rPr>
              <a:t>profil du CV.</a:t>
            </a:r>
          </a:p>
        </p:txBody>
      </p:sp>
      <p:sp>
        <p:nvSpPr>
          <p:cNvPr id="24" name="">
            <a:extLst xmlns:a="http://schemas.openxmlformats.org/drawingml/2006/main">
              <a:ext uri="{FF2B5EF4-FFF2-40B4-BE49-F238E27FC236}">
                <a16:creationId xmlns:a16="http://schemas.microsoft.com/office/drawing/2014/main" id="{11420286-D342-4299-934C-E9B77A049CC5}"/>
              </a:ext>
            </a:extLst>
          </p:cNvPr>
          <p:cNvSpPr>
            <a:spLocks xmlns:a="http://schemas.openxmlformats.org/drawingml/2006/main" noGrp="1"/>
          </p:cNvSpPr>
          <p:nvPr/>
        </p:nvSpPr>
        <p:spPr>
          <a:xfrm xmlns:a="http://schemas.openxmlformats.org/drawingml/2006/main">
            <a:off x="44069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25" name="">
            <a:extLst xmlns:a="http://schemas.openxmlformats.org/drawingml/2006/main">
              <a:ext uri="{FF2B5EF4-FFF2-40B4-BE49-F238E27FC236}">
                <a16:creationId xmlns:a16="http://schemas.microsoft.com/office/drawing/2014/main" id="{6E8A2E28-3945-4232-8ECD-EDDB92E0DF6B}"/>
              </a:ext>
            </a:extLst>
          </p:cNvPr>
          <p:cNvSpPr>
            <a:spLocks xmlns:a="http://schemas.openxmlformats.org/drawingml/2006/main" noGrp="1"/>
          </p:cNvSpPr>
          <p:nvPr/>
        </p:nvSpPr>
        <p:spPr>
          <a:xfrm xmlns:a="http://schemas.openxmlformats.org/drawingml/2006/main">
            <a:off x="4406900" y="3676650"/>
            <a:ext cx="76200" cy="2038350"/>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00C4D9E5-8E59-4494-89ED-642B87D20595}"/>
              </a:ext>
            </a:extLst>
          </p:cNvPr>
          <p:cNvSpPr>
            <a:spLocks xmlns:a="http://schemas.openxmlformats.org/drawingml/2006/main" noGrp="1"/>
          </p:cNvSpPr>
          <p:nvPr/>
        </p:nvSpPr>
        <p:spPr>
          <a:xfrm xmlns:a="http://schemas.openxmlformats.org/drawingml/2006/main">
            <a:off x="46164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1A7F47EC-5710-4F47-A35F-3764EB4A0322}"/>
              </a:ext>
            </a:extLst>
          </p:cNvPr>
          <p:cNvSpPr>
            <a:spLocks xmlns:a="http://schemas.openxmlformats.org/drawingml/2006/main" noGrp="1"/>
          </p:cNvSpPr>
          <p:nvPr/>
        </p:nvSpPr>
        <p:spPr>
          <a:xfrm xmlns:a="http://schemas.openxmlformats.org/drawingml/2006/main">
            <a:off x="4740275" y="4076700"/>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8A5866C2-6A2E-4158-972B-ADBF714DA899}"/>
              </a:ext>
            </a:extLst>
          </p:cNvPr>
          <p:cNvSpPr>
            <a:spLocks xmlns:a="http://schemas.openxmlformats.org/drawingml/2006/main" noGrp="1"/>
          </p:cNvSpPr>
          <p:nvPr/>
        </p:nvSpPr>
        <p:spPr>
          <a:xfrm xmlns:a="http://schemas.openxmlformats.org/drawingml/2006/main">
            <a:off x="4911725" y="4162425"/>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D287D1F7-C4C8-4D5D-B9F5-4F06E004DB91}"/>
              </a:ext>
            </a:extLst>
          </p:cNvPr>
          <p:cNvSpPr>
            <a:spLocks xmlns:a="http://schemas.openxmlformats.org/drawingml/2006/main" noGrp="1"/>
          </p:cNvSpPr>
          <p:nvPr/>
        </p:nvSpPr>
        <p:spPr>
          <a:xfrm xmlns:a="http://schemas.openxmlformats.org/drawingml/2006/main">
            <a:off x="4826000" y="4143375"/>
            <a:ext cx="180975" cy="28575"/>
          </a:xfrm>
          <a:prstGeom xmlns:a="http://schemas.openxmlformats.org/drawingml/2006/main" prst="rect">
            <a:avLst/>
          </a:prstGeom>
          <a:solidFill xmlns:a="http://schemas.openxmlformats.org/drawingml/2006/main">
            <a:srgbClr val="0B13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26893DBB-4357-43F9-9B2E-14100ADDBE3C}"/>
              </a:ext>
            </a:extLst>
          </p:cNvPr>
          <p:cNvSpPr>
            <a:spLocks xmlns:a="http://schemas.openxmlformats.org/drawingml/2006/main" noGrp="1"/>
          </p:cNvSpPr>
          <p:nvPr/>
        </p:nvSpPr>
        <p:spPr>
          <a:xfrm xmlns:a="http://schemas.openxmlformats.org/drawingml/2006/main">
            <a:off x="52451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Étape 2</a:t>
            </a:r>
          </a:p>
        </p:txBody>
      </p:sp>
      <p:sp>
        <p:nvSpPr>
          <p:cNvPr id="31" name="">
            <a:extLst xmlns:a="http://schemas.openxmlformats.org/drawingml/2006/main">
              <a:ext uri="{FF2B5EF4-FFF2-40B4-BE49-F238E27FC236}">
                <a16:creationId xmlns:a16="http://schemas.microsoft.com/office/drawing/2014/main" id="{F23BCC52-B457-4BF5-8FB9-27B36DAA364C}"/>
              </a:ext>
            </a:extLst>
          </p:cNvPr>
          <p:cNvSpPr>
            <a:spLocks xmlns:a="http://schemas.openxmlformats.org/drawingml/2006/main" noGrp="1"/>
          </p:cNvSpPr>
          <p:nvPr/>
        </p:nvSpPr>
        <p:spPr>
          <a:xfrm xmlns:a="http://schemas.openxmlformats.org/drawingml/2006/main">
            <a:off x="46355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Il réalise ensuite un</a:t>
            </a:r>
          </a:p>
          <a:p xmlns:a="http://schemas.openxmlformats.org/drawingml/2006/main">
            <a:pPr algn="l">
              <a:defRPr sz="1275" b="0">
                <a:solidFill>
                  <a:srgbClr val="0B1320"/>
                </a:solidFill>
              </a:defRPr>
            </a:pPr>
            <a:r>
              <a:rPr sz="1275" b="0">
                <a:solidFill>
                  <a:srgbClr val="0B1320"/>
                </a:solidFill>
              </a:rPr>
              <a:t>matching plus fin entre le</a:t>
            </a:r>
          </a:p>
          <a:p xmlns:a="http://schemas.openxmlformats.org/drawingml/2006/main">
            <a:pPr algn="l">
              <a:defRPr sz="1275" b="0">
                <a:solidFill>
                  <a:srgbClr val="0B1320"/>
                </a:solidFill>
              </a:defRPr>
            </a:pPr>
            <a:r>
              <a:rPr sz="1275" b="0">
                <a:solidFill>
                  <a:srgbClr val="0B1320"/>
                </a:solidFill>
              </a:rPr>
              <a:t>CV et le poste, compétence</a:t>
            </a:r>
          </a:p>
          <a:p xmlns:a="http://schemas.openxmlformats.org/drawingml/2006/main">
            <a:pPr algn="l">
              <a:defRPr sz="1275" b="0">
                <a:solidFill>
                  <a:srgbClr val="0B1320"/>
                </a:solidFill>
              </a:defRPr>
            </a:pPr>
            <a:r>
              <a:rPr sz="1275" b="0">
                <a:solidFill>
                  <a:srgbClr val="0B1320"/>
                </a:solidFill>
              </a:rPr>
              <a:t>par compétence, avec</a:t>
            </a:r>
          </a:p>
          <a:p xmlns:a="http://schemas.openxmlformats.org/drawingml/2006/main">
            <a:pPr algn="l">
              <a:defRPr sz="1275" b="0">
                <a:solidFill>
                  <a:srgbClr val="0B1320"/>
                </a:solidFill>
              </a:defRPr>
            </a:pPr>
            <a:r>
              <a:rPr sz="1275" b="0">
                <a:solidFill>
                  <a:srgbClr val="0B1320"/>
                </a:solidFill>
              </a:rPr>
              <a:t>justification.</a:t>
            </a:r>
          </a:p>
        </p:txBody>
      </p:sp>
      <p:sp>
        <p:nvSpPr>
          <p:cNvPr id="32" name="">
            <a:extLst xmlns:a="http://schemas.openxmlformats.org/drawingml/2006/main">
              <a:ext uri="{FF2B5EF4-FFF2-40B4-BE49-F238E27FC236}">
                <a16:creationId xmlns:a16="http://schemas.microsoft.com/office/drawing/2014/main" id="{839ADFF4-617C-4AD3-952A-872D240CB95F}"/>
              </a:ext>
            </a:extLst>
          </p:cNvPr>
          <p:cNvSpPr>
            <a:spLocks xmlns:a="http://schemas.openxmlformats.org/drawingml/2006/main" noGrp="1"/>
          </p:cNvSpPr>
          <p:nvPr/>
        </p:nvSpPr>
        <p:spPr>
          <a:xfrm xmlns:a="http://schemas.openxmlformats.org/drawingml/2006/main">
            <a:off x="80137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33" name="">
            <a:extLst xmlns:a="http://schemas.openxmlformats.org/drawingml/2006/main">
              <a:ext uri="{FF2B5EF4-FFF2-40B4-BE49-F238E27FC236}">
                <a16:creationId xmlns:a16="http://schemas.microsoft.com/office/drawing/2014/main" id="{DF092413-AA03-4128-B14F-6BF21FD6D5C2}"/>
              </a:ext>
            </a:extLst>
          </p:cNvPr>
          <p:cNvSpPr>
            <a:spLocks xmlns:a="http://schemas.openxmlformats.org/drawingml/2006/main" noGrp="1"/>
          </p:cNvSpPr>
          <p:nvPr/>
        </p:nvSpPr>
        <p:spPr>
          <a:xfrm xmlns:a="http://schemas.openxmlformats.org/drawingml/2006/main">
            <a:off x="8013700" y="3676650"/>
            <a:ext cx="76200" cy="2038350"/>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343EF6E0-46F0-472C-B91A-F8B067C0F8B3}"/>
              </a:ext>
            </a:extLst>
          </p:cNvPr>
          <p:cNvSpPr>
            <a:spLocks xmlns:a="http://schemas.openxmlformats.org/drawingml/2006/main" noGrp="1"/>
          </p:cNvSpPr>
          <p:nvPr/>
        </p:nvSpPr>
        <p:spPr>
          <a:xfrm xmlns:a="http://schemas.openxmlformats.org/drawingml/2006/main">
            <a:off x="82232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35" name="">
            <a:extLst xmlns:a="http://schemas.openxmlformats.org/drawingml/2006/main">
              <a:ext uri="{FF2B5EF4-FFF2-40B4-BE49-F238E27FC236}">
                <a16:creationId xmlns:a16="http://schemas.microsoft.com/office/drawing/2014/main" id="{8C3A8FB2-AD71-4A0D-9FC3-DEEE009ECAD3}"/>
              </a:ext>
            </a:extLst>
          </p:cNvPr>
          <p:cNvSpPr>
            <a:spLocks xmlns:a="http://schemas.openxmlformats.org/drawingml/2006/main" noGrp="1"/>
          </p:cNvSpPr>
          <p:nvPr/>
        </p:nvSpPr>
        <p:spPr>
          <a:xfrm xmlns:a="http://schemas.openxmlformats.org/drawingml/2006/main">
            <a:off x="8347075" y="4048125"/>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740C89D5-D014-4FB2-ADF0-E5BA08767CEB}"/>
              </a:ext>
            </a:extLst>
          </p:cNvPr>
          <p:cNvSpPr>
            <a:spLocks xmlns:a="http://schemas.openxmlformats.org/drawingml/2006/main" noGrp="1"/>
          </p:cNvSpPr>
          <p:nvPr/>
        </p:nvSpPr>
        <p:spPr>
          <a:xfrm xmlns:a="http://schemas.openxmlformats.org/drawingml/2006/main">
            <a:off x="8394700" y="4133850"/>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FF507C51-28C7-448C-AA03-C9010C28BCD1}"/>
              </a:ext>
            </a:extLst>
          </p:cNvPr>
          <p:cNvSpPr>
            <a:spLocks xmlns:a="http://schemas.openxmlformats.org/drawingml/2006/main" noGrp="1"/>
          </p:cNvSpPr>
          <p:nvPr/>
        </p:nvSpPr>
        <p:spPr>
          <a:xfrm xmlns:a="http://schemas.openxmlformats.org/drawingml/2006/main">
            <a:off x="8442325" y="4219575"/>
            <a:ext cx="190500" cy="95250"/>
          </a:xfrm>
          <a:prstGeom xmlns:a="http://schemas.openxmlformats.org/drawingml/2006/main" prst="roundRect">
            <a:avLst>
              <a:gd name="adj" fmla="val 50000"/>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77952B43-3F93-4F7B-B910-B24AEFAE2C11}"/>
              </a:ext>
            </a:extLst>
          </p:cNvPr>
          <p:cNvSpPr>
            <a:spLocks xmlns:a="http://schemas.openxmlformats.org/drawingml/2006/main" noGrp="1"/>
          </p:cNvSpPr>
          <p:nvPr/>
        </p:nvSpPr>
        <p:spPr>
          <a:xfrm xmlns:a="http://schemas.openxmlformats.org/drawingml/2006/main">
            <a:off x="88519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Étape 3</a:t>
            </a:r>
          </a:p>
        </p:txBody>
      </p:sp>
      <p:sp>
        <p:nvSpPr>
          <p:cNvPr id="39" name="">
            <a:extLst xmlns:a="http://schemas.openxmlformats.org/drawingml/2006/main">
              <a:ext uri="{FF2B5EF4-FFF2-40B4-BE49-F238E27FC236}">
                <a16:creationId xmlns:a16="http://schemas.microsoft.com/office/drawing/2014/main" id="{57E502EE-7D60-4809-9F81-A67CD02C2E48}"/>
              </a:ext>
            </a:extLst>
          </p:cNvPr>
          <p:cNvSpPr>
            <a:spLocks xmlns:a="http://schemas.openxmlformats.org/drawingml/2006/main" noGrp="1"/>
          </p:cNvSpPr>
          <p:nvPr/>
        </p:nvSpPr>
        <p:spPr>
          <a:xfrm xmlns:a="http://schemas.openxmlformats.org/drawingml/2006/main">
            <a:off x="82423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Enfin, il calcule les</a:t>
            </a:r>
          </a:p>
          <a:p xmlns:a="http://schemas.openxmlformats.org/drawingml/2006/main">
            <a:pPr algn="l">
              <a:defRPr sz="1275" b="0">
                <a:solidFill>
                  <a:srgbClr val="0B1320"/>
                </a:solidFill>
              </a:defRPr>
            </a:pPr>
            <a:r>
              <a:rPr sz="1275" b="0">
                <a:solidFill>
                  <a:srgbClr val="0B1320"/>
                </a:solidFill>
              </a:rPr>
              <a:t>scores, génère un rapport en</a:t>
            </a:r>
          </a:p>
          <a:p xmlns:a="http://schemas.openxmlformats.org/drawingml/2006/main">
            <a:pPr algn="l">
              <a:defRPr sz="1275" b="0">
                <a:solidFill>
                  <a:srgbClr val="0B1320"/>
                </a:solidFill>
              </a:defRPr>
            </a:pPr>
            <a:r>
              <a:rPr sz="1275" b="0">
                <a:solidFill>
                  <a:srgbClr val="0B1320"/>
                </a:solidFill>
              </a:rPr>
              <a:t>langage naturel et applique</a:t>
            </a:r>
          </a:p>
          <a:p xmlns:a="http://schemas.openxmlformats.org/drawingml/2006/main">
            <a:pPr algn="l">
              <a:defRPr sz="1275" b="0">
                <a:solidFill>
                  <a:srgbClr val="0B1320"/>
                </a:solidFill>
              </a:defRPr>
            </a:pPr>
            <a:r>
              <a:rPr sz="1275" b="0">
                <a:solidFill>
                  <a:srgbClr val="0B1320"/>
                </a:solidFill>
              </a:rPr>
              <a:t>des garde-fous avant</a:t>
            </a:r>
          </a:p>
          <a:p xmlns:a="http://schemas.openxmlformats.org/drawingml/2006/main">
            <a:pPr algn="l">
              <a:defRPr sz="1275" b="0">
                <a:solidFill>
                  <a:srgbClr val="0B1320"/>
                </a:solidFill>
              </a:defRPr>
            </a:pPr>
            <a:r>
              <a:rPr sz="1275" b="0">
                <a:solidFill>
                  <a:srgbClr val="0B1320"/>
                </a:solidFill>
              </a:rPr>
              <a:t>validation.</a:t>
            </a:r>
          </a:p>
        </p:txBody>
      </p:sp>
    </p:spTree>
    <p:extLst>
      <p:ext uri="{BB962C8B-B14F-4D97-AF65-F5344CB8AC3E}">
        <p14:creationId xmlns:p14="http://schemas.microsoft.com/office/powerpoint/2010/main" val="1560327729"/>
      </p:ext>
    </p:extLst>
  </p:cSld>
</p:sld>
</file>

<file path=ppt/slides/slide11.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CBF359A-7211-4C5E-8008-91484FA439A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3AC2DD1E-6EC9-4BAE-8874-44044EF6D325}"/>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9EA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CBFBF42-3A43-44E2-8C19-A62AB739AAA9}"/>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1F9F1">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EB128A4-AE01-47AB-87E1-3694B76E236C}"/>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FECDD">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A4A13AD-9292-4CC0-9DE8-34E4762EC96F}"/>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D35EE7C7-E71F-46C7-BAB0-40AAF276249A}"/>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B1D8F3EB-7A4D-4DAD-BC91-49343F51751B}"/>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BF38A8CF-ED36-4573-AD19-ED83B2218434}"/>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3C74CAB5-A077-47A3-BD72-22B7A95C39E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7451"/>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486657B5-DDC8-44FF-99E4-D7C83A578786}"/>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10. SCORING</a:t>
            </a:r>
          </a:p>
        </p:txBody>
      </p:sp>
      <p:sp>
        <p:nvSpPr>
          <p:cNvPr id="11" name="">
            <a:extLst xmlns:a="http://schemas.openxmlformats.org/drawingml/2006/main">
              <a:ext uri="{FF2B5EF4-FFF2-40B4-BE49-F238E27FC236}">
                <a16:creationId xmlns:a16="http://schemas.microsoft.com/office/drawing/2014/main" id="{E530AB88-ED3F-486C-BD35-018703C68783}"/>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11 / 13</a:t>
            </a:r>
          </a:p>
        </p:txBody>
      </p:sp>
      <p:sp>
        <p:nvSpPr>
          <p:cNvPr id="12" name="">
            <a:extLst xmlns:a="http://schemas.openxmlformats.org/drawingml/2006/main">
              <a:ext uri="{FF2B5EF4-FFF2-40B4-BE49-F238E27FC236}">
                <a16:creationId xmlns:a16="http://schemas.microsoft.com/office/drawing/2014/main" id="{24692466-1C3D-4793-9114-70D9D9D720AC}"/>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E13A3395-DDFA-4C29-B65E-37F1A12CF19B}"/>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1654639E-0ECC-4C9E-A245-A2FC98C4FA31}"/>
              </a:ext>
            </a:extLst>
          </p:cNvPr>
          <p:cNvSpPr>
            <a:spLocks xmlns:a="http://schemas.openxmlformats.org/drawingml/2006/main" noGrp="1"/>
          </p:cNvSpPr>
          <p:nvPr/>
        </p:nvSpPr>
        <p:spPr>
          <a:xfrm xmlns:a="http://schemas.openxmlformats.org/drawingml/2006/main">
            <a:off x="685800" y="876300"/>
            <a:ext cx="781050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Le score final expliqué</a:t>
            </a:r>
          </a:p>
        </p:txBody>
      </p:sp>
      <p:sp>
        <p:nvSpPr>
          <p:cNvPr id="15" name="">
            <a:extLst xmlns:a="http://schemas.openxmlformats.org/drawingml/2006/main">
              <a:ext uri="{FF2B5EF4-FFF2-40B4-BE49-F238E27FC236}">
                <a16:creationId xmlns:a16="http://schemas.microsoft.com/office/drawing/2014/main" id="{C0EABD6F-CB56-4CA2-92FD-C7E1E831FCDA}"/>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Le score global suit une pondération métier claire. Ensuite, le système combine un jugement LLM et un signal RAG.</a:t>
            </a:r>
          </a:p>
        </p:txBody>
      </p:sp>
      <p:sp>
        <p:nvSpPr>
          <p:cNvPr id="16" name="">
            <a:extLst xmlns:a="http://schemas.openxmlformats.org/drawingml/2006/main">
              <a:ext uri="{FF2B5EF4-FFF2-40B4-BE49-F238E27FC236}">
                <a16:creationId xmlns:a16="http://schemas.microsoft.com/office/drawing/2014/main" id="{4952D9B3-06CF-4962-99B7-CB107C4BF691}"/>
              </a:ext>
            </a:extLst>
          </p:cNvPr>
          <p:cNvSpPr>
            <a:spLocks xmlns:a="http://schemas.openxmlformats.org/drawingml/2006/main" noGrp="1"/>
          </p:cNvSpPr>
          <p:nvPr/>
        </p:nvSpPr>
        <p:spPr>
          <a:xfrm xmlns:a="http://schemas.openxmlformats.org/drawingml/2006/main">
            <a:off x="876300" y="3276600"/>
            <a:ext cx="51435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E902CF05-E92B-4A3C-ADCA-293576AD813B}"/>
              </a:ext>
            </a:extLst>
          </p:cNvPr>
          <p:cNvSpPr>
            <a:spLocks xmlns:a="http://schemas.openxmlformats.org/drawingml/2006/main" noGrp="1"/>
          </p:cNvSpPr>
          <p:nvPr/>
        </p:nvSpPr>
        <p:spPr>
          <a:xfrm xmlns:a="http://schemas.openxmlformats.org/drawingml/2006/main">
            <a:off x="876300" y="3276600"/>
            <a:ext cx="5143500" cy="666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2C2CB330-36BC-4938-8AC2-FB6E980D3466}"/>
              </a:ext>
            </a:extLst>
          </p:cNvPr>
          <p:cNvSpPr>
            <a:spLocks xmlns:a="http://schemas.openxmlformats.org/drawingml/2006/main" noGrp="1"/>
          </p:cNvSpPr>
          <p:nvPr/>
        </p:nvSpPr>
        <p:spPr>
          <a:xfrm xmlns:a="http://schemas.openxmlformats.org/drawingml/2006/main">
            <a:off x="1085850" y="3505200"/>
            <a:ext cx="47244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0B1320"/>
                </a:solidFill>
              </a:defRPr>
            </a:pPr>
            <a:r>
              <a:rPr sz="2400" b="1">
                <a:solidFill>
                  <a:srgbClr val="0B1320"/>
                </a:solidFill>
              </a:rPr>
              <a:t>40 %</a:t>
            </a:r>
          </a:p>
        </p:txBody>
      </p:sp>
      <p:sp>
        <p:nvSpPr>
          <p:cNvPr id="19" name="">
            <a:extLst xmlns:a="http://schemas.openxmlformats.org/drawingml/2006/main">
              <a:ext uri="{FF2B5EF4-FFF2-40B4-BE49-F238E27FC236}">
                <a16:creationId xmlns:a16="http://schemas.microsoft.com/office/drawing/2014/main" id="{1F49E17F-9645-4D65-9F19-FBC7EAB2FFEC}"/>
              </a:ext>
            </a:extLst>
          </p:cNvPr>
          <p:cNvSpPr>
            <a:spLocks xmlns:a="http://schemas.openxmlformats.org/drawingml/2006/main" noGrp="1"/>
          </p:cNvSpPr>
          <p:nvPr/>
        </p:nvSpPr>
        <p:spPr>
          <a:xfrm xmlns:a="http://schemas.openxmlformats.org/drawingml/2006/main">
            <a:off x="1104900" y="4000500"/>
            <a:ext cx="46863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Compétences techniques</a:t>
            </a:r>
          </a:p>
        </p:txBody>
      </p:sp>
      <p:sp>
        <p:nvSpPr>
          <p:cNvPr id="20" name="">
            <a:extLst xmlns:a="http://schemas.openxmlformats.org/drawingml/2006/main">
              <a:ext uri="{FF2B5EF4-FFF2-40B4-BE49-F238E27FC236}">
                <a16:creationId xmlns:a16="http://schemas.microsoft.com/office/drawing/2014/main" id="{16F6A0AE-10D9-4796-A575-12FC66087315}"/>
              </a:ext>
            </a:extLst>
          </p:cNvPr>
          <p:cNvSpPr>
            <a:spLocks xmlns:a="http://schemas.openxmlformats.org/drawingml/2006/main" noGrp="1"/>
          </p:cNvSpPr>
          <p:nvPr/>
        </p:nvSpPr>
        <p:spPr>
          <a:xfrm xmlns:a="http://schemas.openxmlformats.org/drawingml/2006/main">
            <a:off x="1104900" y="4324350"/>
            <a:ext cx="4686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B7A90"/>
                </a:solidFill>
              </a:defRPr>
            </a:pPr>
            <a:r>
              <a:rPr sz="750" b="0">
                <a:solidFill>
                  <a:srgbClr val="6B7A90"/>
                </a:solidFill>
              </a:rPr>
              <a:t>Critère principal du score global</a:t>
            </a:r>
          </a:p>
        </p:txBody>
      </p:sp>
      <p:sp>
        <p:nvSpPr>
          <p:cNvPr id="21" name="">
            <a:extLst xmlns:a="http://schemas.openxmlformats.org/drawingml/2006/main">
              <a:ext uri="{FF2B5EF4-FFF2-40B4-BE49-F238E27FC236}">
                <a16:creationId xmlns:a16="http://schemas.microsoft.com/office/drawing/2014/main" id="{9451E6D4-582D-4ABC-8429-2754D3D1508F}"/>
              </a:ext>
            </a:extLst>
          </p:cNvPr>
          <p:cNvSpPr>
            <a:spLocks xmlns:a="http://schemas.openxmlformats.org/drawingml/2006/main" noGrp="1"/>
          </p:cNvSpPr>
          <p:nvPr/>
        </p:nvSpPr>
        <p:spPr>
          <a:xfrm xmlns:a="http://schemas.openxmlformats.org/drawingml/2006/main">
            <a:off x="6172200" y="3276600"/>
            <a:ext cx="51435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11430">
            <a:solidFill>
              <a:srgbClr val="D7E3F3"/>
            </a:solidFill>
            <a:prstDash val="solid"/>
          </a:ln>
        </p:spPr>
      </p:sp>
      <p:sp>
        <p:nvSpPr>
          <p:cNvPr id="22" name="">
            <a:extLst xmlns:a="http://schemas.openxmlformats.org/drawingml/2006/main">
              <a:ext uri="{FF2B5EF4-FFF2-40B4-BE49-F238E27FC236}">
                <a16:creationId xmlns:a16="http://schemas.microsoft.com/office/drawing/2014/main" id="{AA104419-7F9B-4184-B3D3-BF205AF862EB}"/>
              </a:ext>
            </a:extLst>
          </p:cNvPr>
          <p:cNvSpPr>
            <a:spLocks xmlns:a="http://schemas.openxmlformats.org/drawingml/2006/main" noGrp="1"/>
          </p:cNvSpPr>
          <p:nvPr/>
        </p:nvSpPr>
        <p:spPr>
          <a:xfrm xmlns:a="http://schemas.openxmlformats.org/drawingml/2006/main">
            <a:off x="6172200" y="3276600"/>
            <a:ext cx="5143500" cy="66675"/>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81F95A9-D46E-4D76-82EB-D01997467376}"/>
              </a:ext>
            </a:extLst>
          </p:cNvPr>
          <p:cNvSpPr>
            <a:spLocks xmlns:a="http://schemas.openxmlformats.org/drawingml/2006/main" noGrp="1"/>
          </p:cNvSpPr>
          <p:nvPr/>
        </p:nvSpPr>
        <p:spPr>
          <a:xfrm xmlns:a="http://schemas.openxmlformats.org/drawingml/2006/main">
            <a:off x="6381750" y="3505200"/>
            <a:ext cx="47244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0B1320"/>
                </a:solidFill>
              </a:defRPr>
            </a:pPr>
            <a:r>
              <a:rPr sz="2400" b="1">
                <a:solidFill>
                  <a:srgbClr val="0B1320"/>
                </a:solidFill>
              </a:rPr>
              <a:t>30 %</a:t>
            </a:r>
          </a:p>
        </p:txBody>
      </p:sp>
      <p:sp>
        <p:nvSpPr>
          <p:cNvPr id="24" name="">
            <a:extLst xmlns:a="http://schemas.openxmlformats.org/drawingml/2006/main">
              <a:ext uri="{FF2B5EF4-FFF2-40B4-BE49-F238E27FC236}">
                <a16:creationId xmlns:a16="http://schemas.microsoft.com/office/drawing/2014/main" id="{F6C263BB-7BAD-4FA4-8A8B-56B09ACE2524}"/>
              </a:ext>
            </a:extLst>
          </p:cNvPr>
          <p:cNvSpPr>
            <a:spLocks xmlns:a="http://schemas.openxmlformats.org/drawingml/2006/main" noGrp="1"/>
          </p:cNvSpPr>
          <p:nvPr/>
        </p:nvSpPr>
        <p:spPr>
          <a:xfrm xmlns:a="http://schemas.openxmlformats.org/drawingml/2006/main">
            <a:off x="6400800" y="4000500"/>
            <a:ext cx="46863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Expérience</a:t>
            </a:r>
          </a:p>
        </p:txBody>
      </p:sp>
      <p:sp>
        <p:nvSpPr>
          <p:cNvPr id="25" name="">
            <a:extLst xmlns:a="http://schemas.openxmlformats.org/drawingml/2006/main">
              <a:ext uri="{FF2B5EF4-FFF2-40B4-BE49-F238E27FC236}">
                <a16:creationId xmlns:a16="http://schemas.microsoft.com/office/drawing/2014/main" id="{E7735504-F77E-4779-B4C3-21853E5086BB}"/>
              </a:ext>
            </a:extLst>
          </p:cNvPr>
          <p:cNvSpPr>
            <a:spLocks xmlns:a="http://schemas.openxmlformats.org/drawingml/2006/main" noGrp="1"/>
          </p:cNvSpPr>
          <p:nvPr/>
        </p:nvSpPr>
        <p:spPr>
          <a:xfrm xmlns:a="http://schemas.openxmlformats.org/drawingml/2006/main">
            <a:off x="6400800" y="4324350"/>
            <a:ext cx="4686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B7A90"/>
                </a:solidFill>
              </a:defRPr>
            </a:pPr>
            <a:r>
              <a:rPr sz="750" b="0">
                <a:solidFill>
                  <a:srgbClr val="6B7A90"/>
                </a:solidFill>
              </a:rPr>
              <a:t>Missions réalisées et niveau d'adéquation</a:t>
            </a:r>
          </a:p>
        </p:txBody>
      </p:sp>
      <p:sp>
        <p:nvSpPr>
          <p:cNvPr id="26" name="">
            <a:extLst xmlns:a="http://schemas.openxmlformats.org/drawingml/2006/main">
              <a:ext uri="{FF2B5EF4-FFF2-40B4-BE49-F238E27FC236}">
                <a16:creationId xmlns:a16="http://schemas.microsoft.com/office/drawing/2014/main" id="{311C2417-4668-4408-99DB-09E199C0541B}"/>
              </a:ext>
            </a:extLst>
          </p:cNvPr>
          <p:cNvSpPr>
            <a:spLocks xmlns:a="http://schemas.openxmlformats.org/drawingml/2006/main" noGrp="1"/>
          </p:cNvSpPr>
          <p:nvPr/>
        </p:nvSpPr>
        <p:spPr>
          <a:xfrm xmlns:a="http://schemas.openxmlformats.org/drawingml/2006/main">
            <a:off x="876300" y="4876800"/>
            <a:ext cx="51435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1E7F7E7C-2D18-4AC3-B066-E03E0F6C037E}"/>
              </a:ext>
            </a:extLst>
          </p:cNvPr>
          <p:cNvSpPr>
            <a:spLocks xmlns:a="http://schemas.openxmlformats.org/drawingml/2006/main" noGrp="1"/>
          </p:cNvSpPr>
          <p:nvPr/>
        </p:nvSpPr>
        <p:spPr>
          <a:xfrm xmlns:a="http://schemas.openxmlformats.org/drawingml/2006/main">
            <a:off x="876300" y="4876800"/>
            <a:ext cx="5143500" cy="66675"/>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1FC186B0-A138-4539-9687-FCCE3A9124E7}"/>
              </a:ext>
            </a:extLst>
          </p:cNvPr>
          <p:cNvSpPr>
            <a:spLocks xmlns:a="http://schemas.openxmlformats.org/drawingml/2006/main" noGrp="1"/>
          </p:cNvSpPr>
          <p:nvPr/>
        </p:nvSpPr>
        <p:spPr>
          <a:xfrm xmlns:a="http://schemas.openxmlformats.org/drawingml/2006/main">
            <a:off x="1085850" y="5105400"/>
            <a:ext cx="47244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0B1320"/>
                </a:solidFill>
              </a:defRPr>
            </a:pPr>
            <a:r>
              <a:rPr sz="2400" b="1">
                <a:solidFill>
                  <a:srgbClr val="0B1320"/>
                </a:solidFill>
              </a:rPr>
              <a:t>20 %</a:t>
            </a:r>
          </a:p>
        </p:txBody>
      </p:sp>
      <p:sp>
        <p:nvSpPr>
          <p:cNvPr id="29" name="">
            <a:extLst xmlns:a="http://schemas.openxmlformats.org/drawingml/2006/main">
              <a:ext uri="{FF2B5EF4-FFF2-40B4-BE49-F238E27FC236}">
                <a16:creationId xmlns:a16="http://schemas.microsoft.com/office/drawing/2014/main" id="{D6AC7DC1-90F8-445E-ABCD-5F34C9E29DF0}"/>
              </a:ext>
            </a:extLst>
          </p:cNvPr>
          <p:cNvSpPr>
            <a:spLocks xmlns:a="http://schemas.openxmlformats.org/drawingml/2006/main" noGrp="1"/>
          </p:cNvSpPr>
          <p:nvPr/>
        </p:nvSpPr>
        <p:spPr>
          <a:xfrm xmlns:a="http://schemas.openxmlformats.org/drawingml/2006/main">
            <a:off x="1104900" y="5600700"/>
            <a:ext cx="46863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Formation</a:t>
            </a:r>
          </a:p>
        </p:txBody>
      </p:sp>
      <p:sp>
        <p:nvSpPr>
          <p:cNvPr id="30" name="">
            <a:extLst xmlns:a="http://schemas.openxmlformats.org/drawingml/2006/main">
              <a:ext uri="{FF2B5EF4-FFF2-40B4-BE49-F238E27FC236}">
                <a16:creationId xmlns:a16="http://schemas.microsoft.com/office/drawing/2014/main" id="{98384289-5486-4501-B0A5-B208254F1B3E}"/>
              </a:ext>
            </a:extLst>
          </p:cNvPr>
          <p:cNvSpPr>
            <a:spLocks xmlns:a="http://schemas.openxmlformats.org/drawingml/2006/main" noGrp="1"/>
          </p:cNvSpPr>
          <p:nvPr/>
        </p:nvSpPr>
        <p:spPr>
          <a:xfrm xmlns:a="http://schemas.openxmlformats.org/drawingml/2006/main">
            <a:off x="1104900" y="5924550"/>
            <a:ext cx="4686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B7A90"/>
                </a:solidFill>
              </a:defRPr>
            </a:pPr>
            <a:r>
              <a:rPr sz="750" b="0">
                <a:solidFill>
                  <a:srgbClr val="6B7A90"/>
                </a:solidFill>
              </a:rPr>
              <a:t>Diplôme, cursus, certifications</a:t>
            </a:r>
          </a:p>
        </p:txBody>
      </p:sp>
      <p:sp>
        <p:nvSpPr>
          <p:cNvPr id="31" name="">
            <a:extLst xmlns:a="http://schemas.openxmlformats.org/drawingml/2006/main">
              <a:ext uri="{FF2B5EF4-FFF2-40B4-BE49-F238E27FC236}">
                <a16:creationId xmlns:a16="http://schemas.microsoft.com/office/drawing/2014/main" id="{FF9C0116-D6B6-4751-B6EA-FA7378F89A65}"/>
              </a:ext>
            </a:extLst>
          </p:cNvPr>
          <p:cNvSpPr>
            <a:spLocks xmlns:a="http://schemas.openxmlformats.org/drawingml/2006/main" noGrp="1"/>
          </p:cNvSpPr>
          <p:nvPr/>
        </p:nvSpPr>
        <p:spPr>
          <a:xfrm xmlns:a="http://schemas.openxmlformats.org/drawingml/2006/main">
            <a:off x="6172200" y="4876800"/>
            <a:ext cx="51435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11430">
            <a:solidFill>
              <a:srgbClr val="D7E3F3"/>
            </a:solidFill>
            <a:prstDash val="solid"/>
          </a:ln>
        </p:spPr>
      </p:sp>
      <p:sp>
        <p:nvSpPr>
          <p:cNvPr id="32" name="">
            <a:extLst xmlns:a="http://schemas.openxmlformats.org/drawingml/2006/main">
              <a:ext uri="{FF2B5EF4-FFF2-40B4-BE49-F238E27FC236}">
                <a16:creationId xmlns:a16="http://schemas.microsoft.com/office/drawing/2014/main" id="{4307F0F4-F667-4D61-A393-379AF653BA50}"/>
              </a:ext>
            </a:extLst>
          </p:cNvPr>
          <p:cNvSpPr>
            <a:spLocks xmlns:a="http://schemas.openxmlformats.org/drawingml/2006/main" noGrp="1"/>
          </p:cNvSpPr>
          <p:nvPr/>
        </p:nvSpPr>
        <p:spPr>
          <a:xfrm xmlns:a="http://schemas.openxmlformats.org/drawingml/2006/main">
            <a:off x="6172200" y="4876800"/>
            <a:ext cx="5143500" cy="66675"/>
          </a:xfrm>
          <a:prstGeom xmlns:a="http://schemas.openxmlformats.org/drawingml/2006/main" prst="rect">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012274B9-E428-4DBE-B3F8-57CE28A8D29D}"/>
              </a:ext>
            </a:extLst>
          </p:cNvPr>
          <p:cNvSpPr>
            <a:spLocks xmlns:a="http://schemas.openxmlformats.org/drawingml/2006/main" noGrp="1"/>
          </p:cNvSpPr>
          <p:nvPr/>
        </p:nvSpPr>
        <p:spPr>
          <a:xfrm xmlns:a="http://schemas.openxmlformats.org/drawingml/2006/main">
            <a:off x="6381750" y="5105400"/>
            <a:ext cx="47244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0B1320"/>
                </a:solidFill>
              </a:defRPr>
            </a:pPr>
            <a:r>
              <a:rPr sz="2400" b="1">
                <a:solidFill>
                  <a:srgbClr val="0B1320"/>
                </a:solidFill>
              </a:rPr>
              <a:t>10 %</a:t>
            </a:r>
          </a:p>
        </p:txBody>
      </p:sp>
      <p:sp>
        <p:nvSpPr>
          <p:cNvPr id="34" name="">
            <a:extLst xmlns:a="http://schemas.openxmlformats.org/drawingml/2006/main">
              <a:ext uri="{FF2B5EF4-FFF2-40B4-BE49-F238E27FC236}">
                <a16:creationId xmlns:a16="http://schemas.microsoft.com/office/drawing/2014/main" id="{F39961DB-9B06-4207-8704-FE894DD86CFF}"/>
              </a:ext>
            </a:extLst>
          </p:cNvPr>
          <p:cNvSpPr>
            <a:spLocks xmlns:a="http://schemas.openxmlformats.org/drawingml/2006/main" noGrp="1"/>
          </p:cNvSpPr>
          <p:nvPr/>
        </p:nvSpPr>
        <p:spPr>
          <a:xfrm xmlns:a="http://schemas.openxmlformats.org/drawingml/2006/main">
            <a:off x="6400800" y="5600700"/>
            <a:ext cx="46863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Profil</a:t>
            </a:r>
          </a:p>
        </p:txBody>
      </p:sp>
      <p:sp>
        <p:nvSpPr>
          <p:cNvPr id="35" name="">
            <a:extLst xmlns:a="http://schemas.openxmlformats.org/drawingml/2006/main">
              <a:ext uri="{FF2B5EF4-FFF2-40B4-BE49-F238E27FC236}">
                <a16:creationId xmlns:a16="http://schemas.microsoft.com/office/drawing/2014/main" id="{390EF347-10C1-431C-AEB8-FD126C498D15}"/>
              </a:ext>
            </a:extLst>
          </p:cNvPr>
          <p:cNvSpPr>
            <a:spLocks xmlns:a="http://schemas.openxmlformats.org/drawingml/2006/main" noGrp="1"/>
          </p:cNvSpPr>
          <p:nvPr/>
        </p:nvSpPr>
        <p:spPr>
          <a:xfrm xmlns:a="http://schemas.openxmlformats.org/drawingml/2006/main">
            <a:off x="6400800" y="5924550"/>
            <a:ext cx="4686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B7A90"/>
                </a:solidFill>
              </a:defRPr>
            </a:pPr>
            <a:r>
              <a:rPr sz="750" b="0">
                <a:solidFill>
                  <a:srgbClr val="6B7A90"/>
                </a:solidFill>
              </a:rPr>
              <a:t>Soft skills, langues, résumé</a:t>
            </a:r>
          </a:p>
        </p:txBody>
      </p:sp>
    </p:spTree>
    <p:extLst>
      <p:ext uri="{BB962C8B-B14F-4D97-AF65-F5344CB8AC3E}">
        <p14:creationId xmlns:p14="http://schemas.microsoft.com/office/powerpoint/2010/main" val="1508204326"/>
      </p:ext>
    </p:extLst>
  </p:cSld>
</p:sld>
</file>

<file path=ppt/slides/slide12.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CBF359A-7211-4C5E-8008-91484FA439A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359D23D5-A86C-4D7F-9486-BB0EDC32DB9A}"/>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CE6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D5F20CC-4B7C-4283-9C05-7A34615E272E}"/>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8FCF5">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667AD4E-2BBB-4CC6-847F-03CD64B322A2}"/>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FF0D8">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5CAA3A3E-E8FE-4D61-891A-7ABCE6260FE2}"/>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C16D4570-603C-4DFF-A3D0-6D2CA62598F5}"/>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52F9A8D7-0F3E-4F0A-BEDB-71AB69E99915}"/>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E44F9FB6-FE46-48AE-8A8B-76C789C15E44}"/>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5D9499F1-A170-44E2-980C-322384B77A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5882"/>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78450E7-E56B-4535-B53E-0C82A1149A7A}"/>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11. SORTIES</a:t>
            </a:r>
          </a:p>
        </p:txBody>
      </p:sp>
      <p:sp>
        <p:nvSpPr>
          <p:cNvPr id="11" name="">
            <a:extLst xmlns:a="http://schemas.openxmlformats.org/drawingml/2006/main">
              <a:ext uri="{FF2B5EF4-FFF2-40B4-BE49-F238E27FC236}">
                <a16:creationId xmlns:a16="http://schemas.microsoft.com/office/drawing/2014/main" id="{BB367740-AFA2-4E79-9B31-220B2ACD0633}"/>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12 / 13</a:t>
            </a:r>
          </a:p>
        </p:txBody>
      </p:sp>
      <p:sp>
        <p:nvSpPr>
          <p:cNvPr id="12" name="">
            <a:extLst xmlns:a="http://schemas.openxmlformats.org/drawingml/2006/main">
              <a:ext uri="{FF2B5EF4-FFF2-40B4-BE49-F238E27FC236}">
                <a16:creationId xmlns:a16="http://schemas.microsoft.com/office/drawing/2014/main" id="{5344B7E6-7925-465F-9FE5-C5497395E7F9}"/>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464230D3-12FF-45CF-B41A-0654EB3C4447}"/>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CE848F91-C6CC-4CF2-A174-9AED5D369311}"/>
              </a:ext>
            </a:extLst>
          </p:cNvPr>
          <p:cNvSpPr>
            <a:spLocks xmlns:a="http://schemas.openxmlformats.org/drawingml/2006/main" noGrp="1"/>
          </p:cNvSpPr>
          <p:nvPr/>
        </p:nvSpPr>
        <p:spPr>
          <a:xfrm xmlns:a="http://schemas.openxmlformats.org/drawingml/2006/main">
            <a:off x="685800" y="876300"/>
            <a:ext cx="73342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Ce que le système produit concrètement</a:t>
            </a:r>
          </a:p>
        </p:txBody>
      </p:sp>
      <p:sp>
        <p:nvSpPr>
          <p:cNvPr id="15" name="">
            <a:extLst xmlns:a="http://schemas.openxmlformats.org/drawingml/2006/main">
              <a:ext uri="{FF2B5EF4-FFF2-40B4-BE49-F238E27FC236}">
                <a16:creationId xmlns:a16="http://schemas.microsoft.com/office/drawing/2014/main" id="{42337675-EC7F-4AAE-A341-EF9F9D035D4A}"/>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Le résultat final n'est pas seulement un score. Le système génère un dossier de décision complet, lisible et exploitable.</a:t>
            </a:r>
          </a:p>
        </p:txBody>
      </p:sp>
      <p:sp>
        <p:nvSpPr>
          <p:cNvPr id="16" name="">
            <a:extLst xmlns:a="http://schemas.openxmlformats.org/drawingml/2006/main">
              <a:ext uri="{FF2B5EF4-FFF2-40B4-BE49-F238E27FC236}">
                <a16:creationId xmlns:a16="http://schemas.microsoft.com/office/drawing/2014/main" id="{7756820A-5F3C-4E5B-AE7F-FD99B0705ADB}"/>
              </a:ext>
            </a:extLst>
          </p:cNvPr>
          <p:cNvSpPr>
            <a:spLocks xmlns:a="http://schemas.openxmlformats.org/drawingml/2006/main" noGrp="1"/>
          </p:cNvSpPr>
          <p:nvPr/>
        </p:nvSpPr>
        <p:spPr>
          <a:xfrm xmlns:a="http://schemas.openxmlformats.org/drawingml/2006/main">
            <a:off x="8001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714F524F-4225-4F86-8B63-BBDDB10629F4}"/>
              </a:ext>
            </a:extLst>
          </p:cNvPr>
          <p:cNvSpPr>
            <a:spLocks xmlns:a="http://schemas.openxmlformats.org/drawingml/2006/main" noGrp="1"/>
          </p:cNvSpPr>
          <p:nvPr/>
        </p:nvSpPr>
        <p:spPr>
          <a:xfrm xmlns:a="http://schemas.openxmlformats.org/drawingml/2006/main">
            <a:off x="800100" y="3676650"/>
            <a:ext cx="76200" cy="20383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53791FEF-26DE-4C19-A904-EF8164D8B74F}"/>
              </a:ext>
            </a:extLst>
          </p:cNvPr>
          <p:cNvSpPr>
            <a:spLocks xmlns:a="http://schemas.openxmlformats.org/drawingml/2006/main" noGrp="1"/>
          </p:cNvSpPr>
          <p:nvPr/>
        </p:nvSpPr>
        <p:spPr>
          <a:xfrm xmlns:a="http://schemas.openxmlformats.org/drawingml/2006/main">
            <a:off x="10096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19" name="">
            <a:extLst xmlns:a="http://schemas.openxmlformats.org/drawingml/2006/main">
              <a:ext uri="{FF2B5EF4-FFF2-40B4-BE49-F238E27FC236}">
                <a16:creationId xmlns:a16="http://schemas.microsoft.com/office/drawing/2014/main" id="{A7B22973-2E7D-4658-B711-1051B4D064AC}"/>
              </a:ext>
            </a:extLst>
          </p:cNvPr>
          <p:cNvSpPr>
            <a:spLocks xmlns:a="http://schemas.openxmlformats.org/drawingml/2006/main" noGrp="1"/>
          </p:cNvSpPr>
          <p:nvPr/>
        </p:nvSpPr>
        <p:spPr>
          <a:xfrm xmlns:a="http://schemas.openxmlformats.org/drawingml/2006/main">
            <a:off x="1162050" y="4181475"/>
            <a:ext cx="57150" cy="1143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FEAB4978-DE61-4081-8187-5554180A5433}"/>
              </a:ext>
            </a:extLst>
          </p:cNvPr>
          <p:cNvSpPr>
            <a:spLocks xmlns:a="http://schemas.openxmlformats.org/drawingml/2006/main" noGrp="1"/>
          </p:cNvSpPr>
          <p:nvPr/>
        </p:nvSpPr>
        <p:spPr>
          <a:xfrm xmlns:a="http://schemas.openxmlformats.org/drawingml/2006/main">
            <a:off x="1247775" y="4105275"/>
            <a:ext cx="57150" cy="1905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55A8D574-7E33-449D-935D-BF6AB2C36242}"/>
              </a:ext>
            </a:extLst>
          </p:cNvPr>
          <p:cNvSpPr>
            <a:spLocks xmlns:a="http://schemas.openxmlformats.org/drawingml/2006/main" noGrp="1"/>
          </p:cNvSpPr>
          <p:nvPr/>
        </p:nvSpPr>
        <p:spPr>
          <a:xfrm xmlns:a="http://schemas.openxmlformats.org/drawingml/2006/main">
            <a:off x="1333500" y="4038600"/>
            <a:ext cx="57150" cy="2571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F8FDB6DB-A9D7-48D2-BC19-63CF438EF7E7}"/>
              </a:ext>
            </a:extLst>
          </p:cNvPr>
          <p:cNvSpPr>
            <a:spLocks xmlns:a="http://schemas.openxmlformats.org/drawingml/2006/main" noGrp="1"/>
          </p:cNvSpPr>
          <p:nvPr/>
        </p:nvSpPr>
        <p:spPr>
          <a:xfrm xmlns:a="http://schemas.openxmlformats.org/drawingml/2006/main">
            <a:off x="16383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Classement batch</a:t>
            </a:r>
          </a:p>
        </p:txBody>
      </p:sp>
      <p:sp>
        <p:nvSpPr>
          <p:cNvPr id="23" name="">
            <a:extLst xmlns:a="http://schemas.openxmlformats.org/drawingml/2006/main">
              <a:ext uri="{FF2B5EF4-FFF2-40B4-BE49-F238E27FC236}">
                <a16:creationId xmlns:a16="http://schemas.microsoft.com/office/drawing/2014/main" id="{6D5966FB-8702-4407-986D-9F97B6614085}"/>
              </a:ext>
            </a:extLst>
          </p:cNvPr>
          <p:cNvSpPr>
            <a:spLocks xmlns:a="http://schemas.openxmlformats.org/drawingml/2006/main" noGrp="1"/>
          </p:cNvSpPr>
          <p:nvPr/>
        </p:nvSpPr>
        <p:spPr>
          <a:xfrm xmlns:a="http://schemas.openxmlformats.org/drawingml/2006/main">
            <a:off x="10287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Une liste ordonnée des</a:t>
            </a:r>
          </a:p>
          <a:p xmlns:a="http://schemas.openxmlformats.org/drawingml/2006/main">
            <a:pPr algn="l">
              <a:defRPr sz="1275" b="0">
                <a:solidFill>
                  <a:srgbClr val="0B1320"/>
                </a:solidFill>
              </a:defRPr>
            </a:pPr>
            <a:r>
              <a:rPr sz="1275" b="0">
                <a:solidFill>
                  <a:srgbClr val="0B1320"/>
                </a:solidFill>
              </a:rPr>
              <a:t>candidats avec leur rang et</a:t>
            </a:r>
          </a:p>
          <a:p xmlns:a="http://schemas.openxmlformats.org/drawingml/2006/main">
            <a:pPr algn="l">
              <a:defRPr sz="1275" b="0">
                <a:solidFill>
                  <a:srgbClr val="0B1320"/>
                </a:solidFill>
              </a:defRPr>
            </a:pPr>
            <a:r>
              <a:rPr sz="1275" b="0">
                <a:solidFill>
                  <a:srgbClr val="0B1320"/>
                </a:solidFill>
              </a:rPr>
              <a:t>leurs scores pour orienter</a:t>
            </a:r>
          </a:p>
          <a:p xmlns:a="http://schemas.openxmlformats.org/drawingml/2006/main">
            <a:pPr algn="l">
              <a:defRPr sz="1275" b="0">
                <a:solidFill>
                  <a:srgbClr val="0B1320"/>
                </a:solidFill>
              </a:defRPr>
            </a:pPr>
            <a:r>
              <a:rPr sz="1275" b="0">
                <a:solidFill>
                  <a:srgbClr val="0B1320"/>
                </a:solidFill>
              </a:rPr>
              <a:t>rapidement le recruteur.</a:t>
            </a:r>
          </a:p>
        </p:txBody>
      </p:sp>
      <p:sp>
        <p:nvSpPr>
          <p:cNvPr id="24" name="">
            <a:extLst xmlns:a="http://schemas.openxmlformats.org/drawingml/2006/main">
              <a:ext uri="{FF2B5EF4-FFF2-40B4-BE49-F238E27FC236}">
                <a16:creationId xmlns:a16="http://schemas.microsoft.com/office/drawing/2014/main" id="{DE648278-F22B-49F8-AC23-934246D9B7AB}"/>
              </a:ext>
            </a:extLst>
          </p:cNvPr>
          <p:cNvSpPr>
            <a:spLocks xmlns:a="http://schemas.openxmlformats.org/drawingml/2006/main" noGrp="1"/>
          </p:cNvSpPr>
          <p:nvPr/>
        </p:nvSpPr>
        <p:spPr>
          <a:xfrm xmlns:a="http://schemas.openxmlformats.org/drawingml/2006/main">
            <a:off x="44069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25" name="">
            <a:extLst xmlns:a="http://schemas.openxmlformats.org/drawingml/2006/main">
              <a:ext uri="{FF2B5EF4-FFF2-40B4-BE49-F238E27FC236}">
                <a16:creationId xmlns:a16="http://schemas.microsoft.com/office/drawing/2014/main" id="{2AB162A2-A000-4590-8799-E0593E184D63}"/>
              </a:ext>
            </a:extLst>
          </p:cNvPr>
          <p:cNvSpPr>
            <a:spLocks xmlns:a="http://schemas.openxmlformats.org/drawingml/2006/main" noGrp="1"/>
          </p:cNvSpPr>
          <p:nvPr/>
        </p:nvSpPr>
        <p:spPr>
          <a:xfrm xmlns:a="http://schemas.openxmlformats.org/drawingml/2006/main">
            <a:off x="4406900" y="3676650"/>
            <a:ext cx="76200" cy="2038350"/>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894473D4-63DE-43AE-9B3E-A01AEFCD2E36}"/>
              </a:ext>
            </a:extLst>
          </p:cNvPr>
          <p:cNvSpPr>
            <a:spLocks xmlns:a="http://schemas.openxmlformats.org/drawingml/2006/main" noGrp="1"/>
          </p:cNvSpPr>
          <p:nvPr/>
        </p:nvSpPr>
        <p:spPr>
          <a:xfrm xmlns:a="http://schemas.openxmlformats.org/drawingml/2006/main">
            <a:off x="46164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358C696B-9B30-4F26-A8D3-CDE70B5E4865}"/>
              </a:ext>
            </a:extLst>
          </p:cNvPr>
          <p:cNvSpPr>
            <a:spLocks xmlns:a="http://schemas.openxmlformats.org/drawingml/2006/main" noGrp="1"/>
          </p:cNvSpPr>
          <p:nvPr/>
        </p:nvSpPr>
        <p:spPr>
          <a:xfrm xmlns:a="http://schemas.openxmlformats.org/drawingml/2006/main">
            <a:off x="4740275" y="4076700"/>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5AFA6413-9E62-432D-8AA6-E73DF4265722}"/>
              </a:ext>
            </a:extLst>
          </p:cNvPr>
          <p:cNvSpPr>
            <a:spLocks xmlns:a="http://schemas.openxmlformats.org/drawingml/2006/main" noGrp="1"/>
          </p:cNvSpPr>
          <p:nvPr/>
        </p:nvSpPr>
        <p:spPr>
          <a:xfrm xmlns:a="http://schemas.openxmlformats.org/drawingml/2006/main">
            <a:off x="4911725" y="4162425"/>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6BFA5F42-E425-4183-913D-7105C04349DC}"/>
              </a:ext>
            </a:extLst>
          </p:cNvPr>
          <p:cNvSpPr>
            <a:spLocks xmlns:a="http://schemas.openxmlformats.org/drawingml/2006/main" noGrp="1"/>
          </p:cNvSpPr>
          <p:nvPr/>
        </p:nvSpPr>
        <p:spPr>
          <a:xfrm xmlns:a="http://schemas.openxmlformats.org/drawingml/2006/main">
            <a:off x="4826000" y="4143375"/>
            <a:ext cx="180975" cy="28575"/>
          </a:xfrm>
          <a:prstGeom xmlns:a="http://schemas.openxmlformats.org/drawingml/2006/main" prst="rect">
            <a:avLst/>
          </a:prstGeom>
          <a:solidFill xmlns:a="http://schemas.openxmlformats.org/drawingml/2006/main">
            <a:srgbClr val="0B13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B7CEDB60-AAAE-4BB6-8C7A-930BE85CF6EF}"/>
              </a:ext>
            </a:extLst>
          </p:cNvPr>
          <p:cNvSpPr>
            <a:spLocks xmlns:a="http://schemas.openxmlformats.org/drawingml/2006/main" noGrp="1"/>
          </p:cNvSpPr>
          <p:nvPr/>
        </p:nvSpPr>
        <p:spPr>
          <a:xfrm xmlns:a="http://schemas.openxmlformats.org/drawingml/2006/main">
            <a:off x="52451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Rapport détaillé</a:t>
            </a:r>
          </a:p>
        </p:txBody>
      </p:sp>
      <p:sp>
        <p:nvSpPr>
          <p:cNvPr id="31" name="">
            <a:extLst xmlns:a="http://schemas.openxmlformats.org/drawingml/2006/main">
              <a:ext uri="{FF2B5EF4-FFF2-40B4-BE49-F238E27FC236}">
                <a16:creationId xmlns:a16="http://schemas.microsoft.com/office/drawing/2014/main" id="{55257F21-C052-495E-B0EB-8CC882D378E8}"/>
              </a:ext>
            </a:extLst>
          </p:cNvPr>
          <p:cNvSpPr>
            <a:spLocks xmlns:a="http://schemas.openxmlformats.org/drawingml/2006/main" noGrp="1"/>
          </p:cNvSpPr>
          <p:nvPr/>
        </p:nvSpPr>
        <p:spPr>
          <a:xfrm xmlns:a="http://schemas.openxmlformats.org/drawingml/2006/main">
            <a:off x="46355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Un document structuré avec</a:t>
            </a:r>
          </a:p>
          <a:p xmlns:a="http://schemas.openxmlformats.org/drawingml/2006/main">
            <a:pPr algn="l">
              <a:defRPr sz="1275" b="0">
                <a:solidFill>
                  <a:srgbClr val="0B1320"/>
                </a:solidFill>
              </a:defRPr>
            </a:pPr>
            <a:r>
              <a:rPr sz="1275" b="0">
                <a:solidFill>
                  <a:srgbClr val="0B1320"/>
                </a:solidFill>
              </a:rPr>
              <a:t>adéquation au poste, points</a:t>
            </a:r>
          </a:p>
          <a:p xmlns:a="http://schemas.openxmlformats.org/drawingml/2006/main">
            <a:pPr algn="l">
              <a:defRPr sz="1275" b="0">
                <a:solidFill>
                  <a:srgbClr val="0B1320"/>
                </a:solidFill>
              </a:defRPr>
            </a:pPr>
            <a:r>
              <a:rPr sz="1275" b="0">
                <a:solidFill>
                  <a:srgbClr val="0B1320"/>
                </a:solidFill>
              </a:rPr>
              <a:t>forts, points faibles,</a:t>
            </a:r>
          </a:p>
          <a:p xmlns:a="http://schemas.openxmlformats.org/drawingml/2006/main">
            <a:pPr algn="l">
              <a:defRPr sz="1275" b="0">
                <a:solidFill>
                  <a:srgbClr val="0B1320"/>
                </a:solidFill>
              </a:defRPr>
            </a:pPr>
            <a:r>
              <a:rPr sz="1275" b="0">
                <a:solidFill>
                  <a:srgbClr val="0B1320"/>
                </a:solidFill>
              </a:rPr>
              <a:t>matching par compétence et</a:t>
            </a:r>
          </a:p>
          <a:p xmlns:a="http://schemas.openxmlformats.org/drawingml/2006/main">
            <a:pPr algn="l">
              <a:defRPr sz="1275" b="0">
                <a:solidFill>
                  <a:srgbClr val="0B1320"/>
                </a:solidFill>
              </a:defRPr>
            </a:pPr>
            <a:r>
              <a:rPr sz="1275" b="0">
                <a:solidFill>
                  <a:srgbClr val="0B1320"/>
                </a:solidFill>
              </a:rPr>
              <a:t>recommandation.</a:t>
            </a:r>
          </a:p>
        </p:txBody>
      </p:sp>
      <p:sp>
        <p:nvSpPr>
          <p:cNvPr id="32" name="">
            <a:extLst xmlns:a="http://schemas.openxmlformats.org/drawingml/2006/main">
              <a:ext uri="{FF2B5EF4-FFF2-40B4-BE49-F238E27FC236}">
                <a16:creationId xmlns:a16="http://schemas.microsoft.com/office/drawing/2014/main" id="{EA1ACEE9-1C47-4B6B-873D-54C782DC47DF}"/>
              </a:ext>
            </a:extLst>
          </p:cNvPr>
          <p:cNvSpPr>
            <a:spLocks xmlns:a="http://schemas.openxmlformats.org/drawingml/2006/main" noGrp="1"/>
          </p:cNvSpPr>
          <p:nvPr/>
        </p:nvSpPr>
        <p:spPr>
          <a:xfrm xmlns:a="http://schemas.openxmlformats.org/drawingml/2006/main">
            <a:off x="80137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33" name="">
            <a:extLst xmlns:a="http://schemas.openxmlformats.org/drawingml/2006/main">
              <a:ext uri="{FF2B5EF4-FFF2-40B4-BE49-F238E27FC236}">
                <a16:creationId xmlns:a16="http://schemas.microsoft.com/office/drawing/2014/main" id="{21BC3AF0-9DD3-4405-877B-036ED5D7F6C6}"/>
              </a:ext>
            </a:extLst>
          </p:cNvPr>
          <p:cNvSpPr>
            <a:spLocks xmlns:a="http://schemas.openxmlformats.org/drawingml/2006/main" noGrp="1"/>
          </p:cNvSpPr>
          <p:nvPr/>
        </p:nvSpPr>
        <p:spPr>
          <a:xfrm xmlns:a="http://schemas.openxmlformats.org/drawingml/2006/main">
            <a:off x="8013700" y="3676650"/>
            <a:ext cx="76200" cy="2038350"/>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D9505FDF-6444-4799-A2C0-C635C8472ED7}"/>
              </a:ext>
            </a:extLst>
          </p:cNvPr>
          <p:cNvSpPr>
            <a:spLocks xmlns:a="http://schemas.openxmlformats.org/drawingml/2006/main" noGrp="1"/>
          </p:cNvSpPr>
          <p:nvPr/>
        </p:nvSpPr>
        <p:spPr>
          <a:xfrm xmlns:a="http://schemas.openxmlformats.org/drawingml/2006/main">
            <a:off x="82232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35" name="">
            <a:extLst xmlns:a="http://schemas.openxmlformats.org/drawingml/2006/main">
              <a:ext uri="{FF2B5EF4-FFF2-40B4-BE49-F238E27FC236}">
                <a16:creationId xmlns:a16="http://schemas.microsoft.com/office/drawing/2014/main" id="{233D4A94-F293-4198-9AEB-5BFE4B4F0689}"/>
              </a:ext>
            </a:extLst>
          </p:cNvPr>
          <p:cNvSpPr>
            <a:spLocks xmlns:a="http://schemas.openxmlformats.org/drawingml/2006/main" noGrp="1"/>
          </p:cNvSpPr>
          <p:nvPr/>
        </p:nvSpPr>
        <p:spPr>
          <a:xfrm xmlns:a="http://schemas.openxmlformats.org/drawingml/2006/main">
            <a:off x="8347075" y="4048125"/>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89B016CC-6F98-4937-9EE6-4E97CA9450BF}"/>
              </a:ext>
            </a:extLst>
          </p:cNvPr>
          <p:cNvSpPr>
            <a:spLocks xmlns:a="http://schemas.openxmlformats.org/drawingml/2006/main" noGrp="1"/>
          </p:cNvSpPr>
          <p:nvPr/>
        </p:nvSpPr>
        <p:spPr>
          <a:xfrm xmlns:a="http://schemas.openxmlformats.org/drawingml/2006/main">
            <a:off x="8394700" y="4133850"/>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592967F0-DC48-42CD-8220-DBE55F227C1C}"/>
              </a:ext>
            </a:extLst>
          </p:cNvPr>
          <p:cNvSpPr>
            <a:spLocks xmlns:a="http://schemas.openxmlformats.org/drawingml/2006/main" noGrp="1"/>
          </p:cNvSpPr>
          <p:nvPr/>
        </p:nvSpPr>
        <p:spPr>
          <a:xfrm xmlns:a="http://schemas.openxmlformats.org/drawingml/2006/main">
            <a:off x="8442325" y="4219575"/>
            <a:ext cx="190500" cy="95250"/>
          </a:xfrm>
          <a:prstGeom xmlns:a="http://schemas.openxmlformats.org/drawingml/2006/main" prst="roundRect">
            <a:avLst>
              <a:gd name="adj" fmla="val 50000"/>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677F1DED-BF26-41D8-87BE-D2E1F2497D7D}"/>
              </a:ext>
            </a:extLst>
          </p:cNvPr>
          <p:cNvSpPr>
            <a:spLocks xmlns:a="http://schemas.openxmlformats.org/drawingml/2006/main" noGrp="1"/>
          </p:cNvSpPr>
          <p:nvPr/>
        </p:nvSpPr>
        <p:spPr>
          <a:xfrm xmlns:a="http://schemas.openxmlformats.org/drawingml/2006/main">
            <a:off x="88519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Export PDF</a:t>
            </a:r>
          </a:p>
        </p:txBody>
      </p:sp>
      <p:sp>
        <p:nvSpPr>
          <p:cNvPr id="39" name="">
            <a:extLst xmlns:a="http://schemas.openxmlformats.org/drawingml/2006/main">
              <a:ext uri="{FF2B5EF4-FFF2-40B4-BE49-F238E27FC236}">
                <a16:creationId xmlns:a16="http://schemas.microsoft.com/office/drawing/2014/main" id="{314762EC-D7F8-494D-A676-FC9662DC52DD}"/>
              </a:ext>
            </a:extLst>
          </p:cNvPr>
          <p:cNvSpPr>
            <a:spLocks xmlns:a="http://schemas.openxmlformats.org/drawingml/2006/main" noGrp="1"/>
          </p:cNvSpPr>
          <p:nvPr/>
        </p:nvSpPr>
        <p:spPr>
          <a:xfrm xmlns:a="http://schemas.openxmlformats.org/drawingml/2006/main">
            <a:off x="82423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Un format pratique pour</a:t>
            </a:r>
          </a:p>
          <a:p xmlns:a="http://schemas.openxmlformats.org/drawingml/2006/main">
            <a:pPr algn="l">
              <a:defRPr sz="1275" b="0">
                <a:solidFill>
                  <a:srgbClr val="0B1320"/>
                </a:solidFill>
              </a:defRPr>
            </a:pPr>
            <a:r>
              <a:rPr sz="1275" b="0">
                <a:solidFill>
                  <a:srgbClr val="0B1320"/>
                </a:solidFill>
              </a:rPr>
              <a:t>partager, archiver et relire</a:t>
            </a:r>
          </a:p>
          <a:p xmlns:a="http://schemas.openxmlformats.org/drawingml/2006/main">
            <a:pPr algn="l">
              <a:defRPr sz="1275" b="0">
                <a:solidFill>
                  <a:srgbClr val="0B1320"/>
                </a:solidFill>
              </a:defRPr>
            </a:pPr>
            <a:r>
              <a:rPr sz="1275" b="0">
                <a:solidFill>
                  <a:srgbClr val="0B1320"/>
                </a:solidFill>
              </a:rPr>
              <a:t>l'analyse avec une vraie</a:t>
            </a:r>
          </a:p>
          <a:p xmlns:a="http://schemas.openxmlformats.org/drawingml/2006/main">
            <a:pPr algn="l">
              <a:defRPr sz="1275" b="0">
                <a:solidFill>
                  <a:srgbClr val="0B1320"/>
                </a:solidFill>
              </a:defRPr>
            </a:pPr>
            <a:r>
              <a:rPr sz="1275" b="0">
                <a:solidFill>
                  <a:srgbClr val="0B1320"/>
                </a:solidFill>
              </a:rPr>
              <a:t>traçabilité des résultats.</a:t>
            </a:r>
          </a:p>
        </p:txBody>
      </p:sp>
    </p:spTree>
    <p:extLst>
      <p:ext uri="{BB962C8B-B14F-4D97-AF65-F5344CB8AC3E}">
        <p14:creationId xmlns:p14="http://schemas.microsoft.com/office/powerpoint/2010/main" val="389276967"/>
      </p:ext>
    </p:extLst>
  </p:cSld>
</p:sld>
</file>

<file path=ppt/slides/slide13.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CBF359A-7211-4C5E-8008-91484FA439A7}"/>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6651317-C6C5-4551-A95B-11BA2D4BAA76}"/>
              </a:ext>
            </a:extLst>
          </p:cNvPr>
          <p:cNvSpPr>
            <a:spLocks xmlns:a="http://schemas.openxmlformats.org/drawingml/2006/main" noGrp="1"/>
          </p:cNvSpPr>
          <p:nvPr/>
        </p:nvSpPr>
        <p:spPr>
          <a:xfrm xmlns:a="http://schemas.openxmlformats.org/drawingml/2006/main">
            <a:off x="8572500" y="-1238250"/>
            <a:ext cx="4476750" cy="4476750"/>
          </a:xfrm>
          <a:prstGeom xmlns:a="http://schemas.openxmlformats.org/drawingml/2006/main" prst="ellipse">
            <a:avLst/>
          </a:prstGeom>
          <a:solidFill xmlns:a="http://schemas.openxmlformats.org/drawingml/2006/main">
            <a:srgbClr val="DCE9FF">
              <a:alpha val="80000"/>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4D08B6E-722D-4115-9DFD-A7F0CB39ECE4}"/>
              </a:ext>
            </a:extLst>
          </p:cNvPr>
          <p:cNvSpPr>
            <a:spLocks xmlns:a="http://schemas.openxmlformats.org/drawingml/2006/main" noGrp="1"/>
          </p:cNvSpPr>
          <p:nvPr/>
        </p:nvSpPr>
        <p:spPr>
          <a:xfrm xmlns:a="http://schemas.openxmlformats.org/drawingml/2006/main">
            <a:off x="-1333500" y="4381500"/>
            <a:ext cx="4000500" cy="4000500"/>
          </a:xfrm>
          <a:prstGeom xmlns:a="http://schemas.openxmlformats.org/drawingml/2006/main" prst="ellipse">
            <a:avLst/>
          </a:prstGeom>
          <a:solidFill xmlns:a="http://schemas.openxmlformats.org/drawingml/2006/main">
            <a:srgbClr val="E6FBF3">
              <a:alpha val="73333"/>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F3B15DD-AA84-43E6-A5DC-1505C8BCEFBF}"/>
              </a:ext>
            </a:extLst>
          </p:cNvPr>
          <p:cNvSpPr>
            <a:spLocks xmlns:a="http://schemas.openxmlformats.org/drawingml/2006/main" noGrp="1"/>
          </p:cNvSpPr>
          <p:nvPr/>
        </p:nvSpPr>
        <p:spPr>
          <a:xfrm xmlns:a="http://schemas.openxmlformats.org/drawingml/2006/main">
            <a:off x="9620250" y="5191125"/>
            <a:ext cx="1619250" cy="1619250"/>
          </a:xfrm>
          <a:prstGeom xmlns:a="http://schemas.openxmlformats.org/drawingml/2006/main" prst="ellipse">
            <a:avLst/>
          </a:prstGeom>
          <a:solidFill xmlns:a="http://schemas.openxmlformats.org/drawingml/2006/main">
            <a:srgbClr val="FFE8D7">
              <a:alpha val="8352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6DD8C09A-7A79-41E1-BA84-157F3C1A9980}"/>
              </a:ext>
            </a:extLst>
          </p:cNvPr>
          <p:cNvSpPr>
            <a:spLocks xmlns:a="http://schemas.openxmlformats.org/drawingml/2006/main" noGrp="1"/>
          </p:cNvSpPr>
          <p:nvPr/>
        </p:nvSpPr>
        <p:spPr>
          <a:xfrm xmlns:a="http://schemas.openxmlformats.org/drawingml/2006/main">
            <a:off x="666750" y="838200"/>
            <a:ext cx="1047750" cy="1047750"/>
          </a:xfrm>
          <a:prstGeom xmlns:a="http://schemas.openxmlformats.org/drawingml/2006/main" prst="ellipse">
            <a:avLst/>
          </a:prstGeom>
          <a:solidFill xmlns:a="http://schemas.openxmlformats.org/drawingml/2006/main">
            <a:srgbClr val="FFFFFF">
              <a:alpha val="58431"/>
            </a:srgbClr>
          </a:solidFill>
          <a:ln xmlns:a="http://schemas.openxmlformats.org/drawingml/2006/main" w="9525">
            <a:solidFill>
              <a:srgbClr val="D9E4F2"/>
            </a:solidFill>
            <a:prstDash val="solid"/>
          </a:ln>
        </p:spPr>
      </p:sp>
      <p:sp>
        <p:nvSpPr>
          <p:cNvPr id="6" name="">
            <a:extLst xmlns:a="http://schemas.openxmlformats.org/drawingml/2006/main">
              <a:ext uri="{FF2B5EF4-FFF2-40B4-BE49-F238E27FC236}">
                <a16:creationId xmlns:a16="http://schemas.microsoft.com/office/drawing/2014/main" id="{D6A63E03-496E-4B9A-AA04-74D8E6F1D9B7}"/>
              </a:ext>
            </a:extLst>
          </p:cNvPr>
          <p:cNvSpPr>
            <a:spLocks xmlns:a="http://schemas.openxmlformats.org/drawingml/2006/main" noGrp="1"/>
          </p:cNvSpPr>
          <p:nvPr/>
        </p:nvSpPr>
        <p:spPr>
          <a:xfrm xmlns:a="http://schemas.openxmlformats.org/drawingml/2006/main">
            <a:off x="9220200" y="495300"/>
            <a:ext cx="2286000" cy="2286000"/>
          </a:xfrm>
          <a:prstGeom xmlns:a="http://schemas.openxmlformats.org/drawingml/2006/main" prst="ellipse">
            <a:avLst/>
          </a:prstGeom>
          <a:solidFill xmlns:a="http://schemas.openxmlformats.org/drawingml/2006/main">
            <a:srgbClr val="000000">
              <a:alpha val="0"/>
            </a:srgbClr>
          </a:solidFill>
          <a:ln xmlns:a="http://schemas.openxmlformats.org/drawingml/2006/main" w="13335">
            <a:solidFill>
              <a:srgbClr val="C8DAF4"/>
            </a:solidFill>
            <a:prstDash val="solid"/>
          </a:ln>
        </p:spPr>
      </p:sp>
      <p:sp>
        <p:nvSpPr>
          <p:cNvPr id="7" name="">
            <a:extLst xmlns:a="http://schemas.openxmlformats.org/drawingml/2006/main">
              <a:ext uri="{FF2B5EF4-FFF2-40B4-BE49-F238E27FC236}">
                <a16:creationId xmlns:a16="http://schemas.microsoft.com/office/drawing/2014/main" id="{D2382896-020C-4443-89A9-31EE19653693}"/>
              </a:ext>
            </a:extLst>
          </p:cNvPr>
          <p:cNvSpPr>
            <a:spLocks xmlns:a="http://schemas.openxmlformats.org/drawingml/2006/main" noGrp="1"/>
          </p:cNvSpPr>
          <p:nvPr/>
        </p:nvSpPr>
        <p:spPr>
          <a:xfrm xmlns:a="http://schemas.openxmlformats.org/drawingml/2006/main">
            <a:off x="9829800" y="1104900"/>
            <a:ext cx="1047750" cy="1047750"/>
          </a:xfrm>
          <a:prstGeom xmlns:a="http://schemas.openxmlformats.org/drawingml/2006/main" prst="ellipse">
            <a:avLst/>
          </a:prstGeom>
          <a:solidFill xmlns:a="http://schemas.openxmlformats.org/drawingml/2006/main">
            <a:srgbClr val="000000">
              <a:alpha val="0"/>
            </a:srgbClr>
          </a:solidFill>
          <a:ln xmlns:a="http://schemas.openxmlformats.org/drawingml/2006/main" w="11430">
            <a:solidFill>
              <a:srgbClr val="D6E3F6"/>
            </a:solidFill>
            <a:prstDash val="solid"/>
          </a:ln>
        </p:spPr>
      </p:sp>
      <p:sp>
        <p:nvSpPr>
          <p:cNvPr id="8" name="">
            <a:extLst xmlns:a="http://schemas.openxmlformats.org/drawingml/2006/main">
              <a:ext uri="{FF2B5EF4-FFF2-40B4-BE49-F238E27FC236}">
                <a16:creationId xmlns:a16="http://schemas.microsoft.com/office/drawing/2014/main" id="{E6573858-CD54-4D55-A476-37E8961D54DA}"/>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FFFFFF">
              <a:alpha val="66667"/>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ADF5DCE-3671-408C-844C-96C6BF775C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65882"/>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258DEED-75EC-4999-9206-1E4AC431FDC9}"/>
              </a:ext>
            </a:extLst>
          </p:cNvPr>
          <p:cNvSpPr>
            <a:spLocks xmlns:a="http://schemas.openxmlformats.org/drawingml/2006/main" noGrp="1"/>
          </p:cNvSpPr>
          <p:nvPr/>
        </p:nvSpPr>
        <p:spPr>
          <a:xfrm xmlns:a="http://schemas.openxmlformats.org/drawingml/2006/main">
            <a:off x="685800" y="2857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47A6"/>
                </a:solidFill>
              </a:defRPr>
            </a:pPr>
            <a:r>
              <a:rPr sz="975" b="1">
                <a:solidFill>
                  <a:srgbClr val="1747A6"/>
                </a:solidFill>
              </a:rPr>
              <a:t>12. VALEUR</a:t>
            </a:r>
          </a:p>
        </p:txBody>
      </p:sp>
      <p:sp>
        <p:nvSpPr>
          <p:cNvPr id="11" name="">
            <a:extLst xmlns:a="http://schemas.openxmlformats.org/drawingml/2006/main">
              <a:ext uri="{FF2B5EF4-FFF2-40B4-BE49-F238E27FC236}">
                <a16:creationId xmlns:a16="http://schemas.microsoft.com/office/drawing/2014/main" id="{CBF9B93B-DAA2-4338-9853-B8DC6E67AF34}"/>
              </a:ext>
            </a:extLst>
          </p:cNvPr>
          <p:cNvSpPr>
            <a:spLocks xmlns:a="http://schemas.openxmlformats.org/drawingml/2006/main" noGrp="1"/>
          </p:cNvSpPr>
          <p:nvPr/>
        </p:nvSpPr>
        <p:spPr>
          <a:xfrm xmlns:a="http://schemas.openxmlformats.org/drawingml/2006/main">
            <a:off x="10477500" y="2857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47A6"/>
                </a:solidFill>
              </a:defRPr>
            </a:pPr>
            <a:r>
              <a:rPr sz="975" b="1">
                <a:solidFill>
                  <a:srgbClr val="1747A6"/>
                </a:solidFill>
              </a:rPr>
              <a:t>13 / 13</a:t>
            </a:r>
          </a:p>
        </p:txBody>
      </p:sp>
      <p:sp>
        <p:nvSpPr>
          <p:cNvPr id="12" name="">
            <a:extLst xmlns:a="http://schemas.openxmlformats.org/drawingml/2006/main">
              <a:ext uri="{FF2B5EF4-FFF2-40B4-BE49-F238E27FC236}">
                <a16:creationId xmlns:a16="http://schemas.microsoft.com/office/drawing/2014/main" id="{3A0C1B06-93EF-4C93-993E-414598D21CC2}"/>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B7CAE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F0683CC1-5DC7-41E6-ADDE-74A026E67383}"/>
              </a:ext>
            </a:extLst>
          </p:cNvPr>
          <p:cNvSpPr>
            <a:spLocks xmlns:a="http://schemas.openxmlformats.org/drawingml/2006/main" noGrp="1"/>
          </p:cNvSpPr>
          <p:nvPr/>
        </p:nvSpPr>
        <p:spPr>
          <a:xfrm xmlns:a="http://schemas.openxmlformats.org/drawingml/2006/main">
            <a:off x="600075" y="504825"/>
            <a:ext cx="171450" cy="171450"/>
          </a:xfrm>
          <a:prstGeom xmlns:a="http://schemas.openxmlformats.org/drawingml/2006/main" prst="ellipse">
            <a:avLst/>
          </a:prstGeom>
          <a:solidFill xmlns:a="http://schemas.openxmlformats.org/drawingml/2006/main">
            <a:srgbClr val="1B63F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349E036F-FC63-4931-BE7F-B8200F56776F}"/>
              </a:ext>
            </a:extLst>
          </p:cNvPr>
          <p:cNvSpPr>
            <a:spLocks xmlns:a="http://schemas.openxmlformats.org/drawingml/2006/main" noGrp="1"/>
          </p:cNvSpPr>
          <p:nvPr/>
        </p:nvSpPr>
        <p:spPr>
          <a:xfrm xmlns:a="http://schemas.openxmlformats.org/drawingml/2006/main">
            <a:off x="685800" y="876300"/>
            <a:ext cx="73342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B1320"/>
                </a:solidFill>
              </a:defRPr>
            </a:pPr>
            <a:r>
              <a:rPr sz="3000" b="1">
                <a:solidFill>
                  <a:srgbClr val="0B1320"/>
                </a:solidFill>
              </a:rPr>
              <a:t>Valeur, limites et perspectives</a:t>
            </a:r>
          </a:p>
        </p:txBody>
      </p:sp>
      <p:sp>
        <p:nvSpPr>
          <p:cNvPr id="15" name="">
            <a:extLst xmlns:a="http://schemas.openxmlformats.org/drawingml/2006/main">
              <a:ext uri="{FF2B5EF4-FFF2-40B4-BE49-F238E27FC236}">
                <a16:creationId xmlns:a16="http://schemas.microsoft.com/office/drawing/2014/main" id="{F7EA5AA1-EE0D-4ADD-B2E4-F89F0B34FE30}"/>
              </a:ext>
            </a:extLst>
          </p:cNvPr>
          <p:cNvSpPr>
            <a:spLocks xmlns:a="http://schemas.openxmlformats.org/drawingml/2006/main" noGrp="1"/>
          </p:cNvSpPr>
          <p:nvPr/>
        </p:nvSpPr>
        <p:spPr>
          <a:xfrm xmlns:a="http://schemas.openxmlformats.org/drawingml/2006/main">
            <a:off x="704850" y="224790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defRPr>
            </a:pPr>
            <a:r>
              <a:rPr sz="1425" b="0">
                <a:solidFill>
                  <a:srgbClr val="334155"/>
                </a:solidFill>
              </a:rPr>
              <a:t>Le projet apporte une vraie valeur opérationnelle, mais il doit rester cadré comme un outil d'assistance responsable.</a:t>
            </a:r>
          </a:p>
        </p:txBody>
      </p:sp>
      <p:sp>
        <p:nvSpPr>
          <p:cNvPr id="16" name="">
            <a:extLst xmlns:a="http://schemas.openxmlformats.org/drawingml/2006/main">
              <a:ext uri="{FF2B5EF4-FFF2-40B4-BE49-F238E27FC236}">
                <a16:creationId xmlns:a16="http://schemas.microsoft.com/office/drawing/2014/main" id="{944AA403-C614-4B25-BF73-1D6FA3F52A0A}"/>
              </a:ext>
            </a:extLst>
          </p:cNvPr>
          <p:cNvSpPr>
            <a:spLocks xmlns:a="http://schemas.openxmlformats.org/drawingml/2006/main" noGrp="1"/>
          </p:cNvSpPr>
          <p:nvPr/>
        </p:nvSpPr>
        <p:spPr>
          <a:xfrm xmlns:a="http://schemas.openxmlformats.org/drawingml/2006/main">
            <a:off x="8001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17" name="">
            <a:extLst xmlns:a="http://schemas.openxmlformats.org/drawingml/2006/main">
              <a:ext uri="{FF2B5EF4-FFF2-40B4-BE49-F238E27FC236}">
                <a16:creationId xmlns:a16="http://schemas.microsoft.com/office/drawing/2014/main" id="{EB0E47D5-DC15-48A5-AEE1-EBD9DDCD1B8E}"/>
              </a:ext>
            </a:extLst>
          </p:cNvPr>
          <p:cNvSpPr>
            <a:spLocks xmlns:a="http://schemas.openxmlformats.org/drawingml/2006/main" noGrp="1"/>
          </p:cNvSpPr>
          <p:nvPr/>
        </p:nvSpPr>
        <p:spPr>
          <a:xfrm xmlns:a="http://schemas.openxmlformats.org/drawingml/2006/main">
            <a:off x="800100" y="3676650"/>
            <a:ext cx="76200" cy="203835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E6F688D1-6E4F-4AED-B802-161194CBF6EC}"/>
              </a:ext>
            </a:extLst>
          </p:cNvPr>
          <p:cNvSpPr>
            <a:spLocks xmlns:a="http://schemas.openxmlformats.org/drawingml/2006/main" noGrp="1"/>
          </p:cNvSpPr>
          <p:nvPr/>
        </p:nvSpPr>
        <p:spPr>
          <a:xfrm xmlns:a="http://schemas.openxmlformats.org/drawingml/2006/main">
            <a:off x="10096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19" name="">
            <a:extLst xmlns:a="http://schemas.openxmlformats.org/drawingml/2006/main">
              <a:ext uri="{FF2B5EF4-FFF2-40B4-BE49-F238E27FC236}">
                <a16:creationId xmlns:a16="http://schemas.microsoft.com/office/drawing/2014/main" id="{52584C07-047E-42FF-AEF8-FB0E6B4AA627}"/>
              </a:ext>
            </a:extLst>
          </p:cNvPr>
          <p:cNvSpPr>
            <a:spLocks xmlns:a="http://schemas.openxmlformats.org/drawingml/2006/main" noGrp="1"/>
          </p:cNvSpPr>
          <p:nvPr/>
        </p:nvSpPr>
        <p:spPr>
          <a:xfrm xmlns:a="http://schemas.openxmlformats.org/drawingml/2006/main">
            <a:off x="1162050" y="4181475"/>
            <a:ext cx="57150" cy="1143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3BF53511-A253-4450-9E0C-C10C8F030DFD}"/>
              </a:ext>
            </a:extLst>
          </p:cNvPr>
          <p:cNvSpPr>
            <a:spLocks xmlns:a="http://schemas.openxmlformats.org/drawingml/2006/main" noGrp="1"/>
          </p:cNvSpPr>
          <p:nvPr/>
        </p:nvSpPr>
        <p:spPr>
          <a:xfrm xmlns:a="http://schemas.openxmlformats.org/drawingml/2006/main">
            <a:off x="1247775" y="4105275"/>
            <a:ext cx="57150" cy="190500"/>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521F9015-4B8D-4294-B9F5-B45CCCB3F094}"/>
              </a:ext>
            </a:extLst>
          </p:cNvPr>
          <p:cNvSpPr>
            <a:spLocks xmlns:a="http://schemas.openxmlformats.org/drawingml/2006/main" noGrp="1"/>
          </p:cNvSpPr>
          <p:nvPr/>
        </p:nvSpPr>
        <p:spPr>
          <a:xfrm xmlns:a="http://schemas.openxmlformats.org/drawingml/2006/main">
            <a:off x="1333500" y="4038600"/>
            <a:ext cx="57150" cy="257175"/>
          </a:xfrm>
          <a:prstGeom xmlns:a="http://schemas.openxmlformats.org/drawingml/2006/main" prst="rect">
            <a:avLst/>
          </a:prstGeom>
          <a:solidFill xmlns:a="http://schemas.openxmlformats.org/drawingml/2006/main">
            <a:srgbClr val="1B63F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ECAD692A-99F2-44A2-B280-B725D7A46000}"/>
              </a:ext>
            </a:extLst>
          </p:cNvPr>
          <p:cNvSpPr>
            <a:spLocks xmlns:a="http://schemas.openxmlformats.org/drawingml/2006/main" noGrp="1"/>
          </p:cNvSpPr>
          <p:nvPr/>
        </p:nvSpPr>
        <p:spPr>
          <a:xfrm xmlns:a="http://schemas.openxmlformats.org/drawingml/2006/main">
            <a:off x="16383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Valeur</a:t>
            </a:r>
          </a:p>
        </p:txBody>
      </p:sp>
      <p:sp>
        <p:nvSpPr>
          <p:cNvPr id="23" name="">
            <a:extLst xmlns:a="http://schemas.openxmlformats.org/drawingml/2006/main">
              <a:ext uri="{FF2B5EF4-FFF2-40B4-BE49-F238E27FC236}">
                <a16:creationId xmlns:a16="http://schemas.microsoft.com/office/drawing/2014/main" id="{8D5ECF26-72AF-4B7D-B17B-02D69B5C3E27}"/>
              </a:ext>
            </a:extLst>
          </p:cNvPr>
          <p:cNvSpPr>
            <a:spLocks xmlns:a="http://schemas.openxmlformats.org/drawingml/2006/main" noGrp="1"/>
          </p:cNvSpPr>
          <p:nvPr/>
        </p:nvSpPr>
        <p:spPr>
          <a:xfrm xmlns:a="http://schemas.openxmlformats.org/drawingml/2006/main">
            <a:off x="10287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Le projet fait gagner du</a:t>
            </a:r>
          </a:p>
          <a:p xmlns:a="http://schemas.openxmlformats.org/drawingml/2006/main">
            <a:pPr algn="l">
              <a:defRPr sz="1275" b="0">
                <a:solidFill>
                  <a:srgbClr val="0B1320"/>
                </a:solidFill>
              </a:defRPr>
            </a:pPr>
            <a:r>
              <a:rPr sz="1275" b="0">
                <a:solidFill>
                  <a:srgbClr val="0B1320"/>
                </a:solidFill>
              </a:rPr>
              <a:t>temps, améliore</a:t>
            </a:r>
          </a:p>
          <a:p xmlns:a="http://schemas.openxmlformats.org/drawingml/2006/main">
            <a:pPr algn="l">
              <a:defRPr sz="1275" b="0">
                <a:solidFill>
                  <a:srgbClr val="0B1320"/>
                </a:solidFill>
              </a:defRPr>
            </a:pPr>
            <a:r>
              <a:rPr sz="1275" b="0">
                <a:solidFill>
                  <a:srgbClr val="0B1320"/>
                </a:solidFill>
              </a:rPr>
              <a:t>l'homogénéité du tri et rend</a:t>
            </a:r>
          </a:p>
          <a:p xmlns:a="http://schemas.openxmlformats.org/drawingml/2006/main">
            <a:pPr algn="l">
              <a:defRPr sz="1275" b="0">
                <a:solidFill>
                  <a:srgbClr val="0B1320"/>
                </a:solidFill>
              </a:defRPr>
            </a:pPr>
            <a:r>
              <a:rPr sz="1275" b="0">
                <a:solidFill>
                  <a:srgbClr val="0B1320"/>
                </a:solidFill>
              </a:rPr>
              <a:t>les décisions plus faciles à</a:t>
            </a:r>
          </a:p>
          <a:p xmlns:a="http://schemas.openxmlformats.org/drawingml/2006/main">
            <a:pPr algn="l">
              <a:defRPr sz="1275" b="0">
                <a:solidFill>
                  <a:srgbClr val="0B1320"/>
                </a:solidFill>
              </a:defRPr>
            </a:pPr>
            <a:r>
              <a:rPr sz="1275" b="0">
                <a:solidFill>
                  <a:srgbClr val="0B1320"/>
                </a:solidFill>
              </a:rPr>
              <a:t>expliquer.</a:t>
            </a:r>
          </a:p>
        </p:txBody>
      </p:sp>
      <p:sp>
        <p:nvSpPr>
          <p:cNvPr id="24" name="">
            <a:extLst xmlns:a="http://schemas.openxmlformats.org/drawingml/2006/main">
              <a:ext uri="{FF2B5EF4-FFF2-40B4-BE49-F238E27FC236}">
                <a16:creationId xmlns:a16="http://schemas.microsoft.com/office/drawing/2014/main" id="{551F8307-9A37-4C48-A4BF-9DD39D0659D5}"/>
              </a:ext>
            </a:extLst>
          </p:cNvPr>
          <p:cNvSpPr>
            <a:spLocks xmlns:a="http://schemas.openxmlformats.org/drawingml/2006/main" noGrp="1"/>
          </p:cNvSpPr>
          <p:nvPr/>
        </p:nvSpPr>
        <p:spPr>
          <a:xfrm xmlns:a="http://schemas.openxmlformats.org/drawingml/2006/main">
            <a:off x="44069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25" name="">
            <a:extLst xmlns:a="http://schemas.openxmlformats.org/drawingml/2006/main">
              <a:ext uri="{FF2B5EF4-FFF2-40B4-BE49-F238E27FC236}">
                <a16:creationId xmlns:a16="http://schemas.microsoft.com/office/drawing/2014/main" id="{7ABFA8B1-37C0-4C09-BA5F-5C5BD73111F0}"/>
              </a:ext>
            </a:extLst>
          </p:cNvPr>
          <p:cNvSpPr>
            <a:spLocks xmlns:a="http://schemas.openxmlformats.org/drawingml/2006/main" noGrp="1"/>
          </p:cNvSpPr>
          <p:nvPr/>
        </p:nvSpPr>
        <p:spPr>
          <a:xfrm xmlns:a="http://schemas.openxmlformats.org/drawingml/2006/main">
            <a:off x="4406900" y="3676650"/>
            <a:ext cx="76200" cy="2038350"/>
          </a:xfrm>
          <a:prstGeom xmlns:a="http://schemas.openxmlformats.org/drawingml/2006/main" prst="rect">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137A6516-C6C2-457B-AC0D-E406A6BD85B8}"/>
              </a:ext>
            </a:extLst>
          </p:cNvPr>
          <p:cNvSpPr>
            <a:spLocks xmlns:a="http://schemas.openxmlformats.org/drawingml/2006/main" noGrp="1"/>
          </p:cNvSpPr>
          <p:nvPr/>
        </p:nvSpPr>
        <p:spPr>
          <a:xfrm xmlns:a="http://schemas.openxmlformats.org/drawingml/2006/main">
            <a:off x="46164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27" name="">
            <a:extLst xmlns:a="http://schemas.openxmlformats.org/drawingml/2006/main">
              <a:ext uri="{FF2B5EF4-FFF2-40B4-BE49-F238E27FC236}">
                <a16:creationId xmlns:a16="http://schemas.microsoft.com/office/drawing/2014/main" id="{E6C14848-4EFA-4836-8ECE-F230FE79B85C}"/>
              </a:ext>
            </a:extLst>
          </p:cNvPr>
          <p:cNvSpPr>
            <a:spLocks xmlns:a="http://schemas.openxmlformats.org/drawingml/2006/main" noGrp="1"/>
          </p:cNvSpPr>
          <p:nvPr/>
        </p:nvSpPr>
        <p:spPr>
          <a:xfrm xmlns:a="http://schemas.openxmlformats.org/drawingml/2006/main">
            <a:off x="4740275" y="4076700"/>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DDC8CBE8-0BC6-42D4-A634-FC565574982C}"/>
              </a:ext>
            </a:extLst>
          </p:cNvPr>
          <p:cNvSpPr>
            <a:spLocks xmlns:a="http://schemas.openxmlformats.org/drawingml/2006/main" noGrp="1"/>
          </p:cNvSpPr>
          <p:nvPr/>
        </p:nvSpPr>
        <p:spPr>
          <a:xfrm xmlns:a="http://schemas.openxmlformats.org/drawingml/2006/main">
            <a:off x="4911725" y="4162425"/>
            <a:ext cx="95250" cy="95250"/>
          </a:xfrm>
          <a:prstGeom xmlns:a="http://schemas.openxmlformats.org/drawingml/2006/main" prst="ellipse">
            <a:avLst/>
          </a:prstGeom>
          <a:solidFill xmlns:a="http://schemas.openxmlformats.org/drawingml/2006/main">
            <a:srgbClr val="19A87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02AC42A9-F5E8-4E8D-9BD6-07735DBC1273}"/>
              </a:ext>
            </a:extLst>
          </p:cNvPr>
          <p:cNvSpPr>
            <a:spLocks xmlns:a="http://schemas.openxmlformats.org/drawingml/2006/main" noGrp="1"/>
          </p:cNvSpPr>
          <p:nvPr/>
        </p:nvSpPr>
        <p:spPr>
          <a:xfrm xmlns:a="http://schemas.openxmlformats.org/drawingml/2006/main">
            <a:off x="4826000" y="4143375"/>
            <a:ext cx="180975" cy="28575"/>
          </a:xfrm>
          <a:prstGeom xmlns:a="http://schemas.openxmlformats.org/drawingml/2006/main" prst="rect">
            <a:avLst/>
          </a:prstGeom>
          <a:solidFill xmlns:a="http://schemas.openxmlformats.org/drawingml/2006/main">
            <a:srgbClr val="0B132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580658FF-4526-4F31-8588-DFEDA4E5ADC0}"/>
              </a:ext>
            </a:extLst>
          </p:cNvPr>
          <p:cNvSpPr>
            <a:spLocks xmlns:a="http://schemas.openxmlformats.org/drawingml/2006/main" noGrp="1"/>
          </p:cNvSpPr>
          <p:nvPr/>
        </p:nvSpPr>
        <p:spPr>
          <a:xfrm xmlns:a="http://schemas.openxmlformats.org/drawingml/2006/main">
            <a:off x="52451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Limites</a:t>
            </a:r>
          </a:p>
        </p:txBody>
      </p:sp>
      <p:sp>
        <p:nvSpPr>
          <p:cNvPr id="31" name="">
            <a:extLst xmlns:a="http://schemas.openxmlformats.org/drawingml/2006/main">
              <a:ext uri="{FF2B5EF4-FFF2-40B4-BE49-F238E27FC236}">
                <a16:creationId xmlns:a16="http://schemas.microsoft.com/office/drawing/2014/main" id="{BF0AA3CA-648E-4742-87EB-8007791BDDAB}"/>
              </a:ext>
            </a:extLst>
          </p:cNvPr>
          <p:cNvSpPr>
            <a:spLocks xmlns:a="http://schemas.openxmlformats.org/drawingml/2006/main" noGrp="1"/>
          </p:cNvSpPr>
          <p:nvPr/>
        </p:nvSpPr>
        <p:spPr>
          <a:xfrm xmlns:a="http://schemas.openxmlformats.org/drawingml/2006/main">
            <a:off x="46355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La qualité dépend du contenu</a:t>
            </a:r>
          </a:p>
          <a:p xmlns:a="http://schemas.openxmlformats.org/drawingml/2006/main">
            <a:pPr algn="l">
              <a:defRPr sz="1275" b="0">
                <a:solidFill>
                  <a:srgbClr val="0B1320"/>
                </a:solidFill>
              </a:defRPr>
            </a:pPr>
            <a:r>
              <a:rPr sz="1275" b="0">
                <a:solidFill>
                  <a:srgbClr val="0B1320"/>
                </a:solidFill>
              </a:rPr>
              <a:t>des CV, des modèles utilisés</a:t>
            </a:r>
          </a:p>
          <a:p xmlns:a="http://schemas.openxmlformats.org/drawingml/2006/main">
            <a:pPr algn="l">
              <a:defRPr sz="1275" b="0">
                <a:solidFill>
                  <a:srgbClr val="0B1320"/>
                </a:solidFill>
              </a:defRPr>
            </a:pPr>
            <a:r>
              <a:rPr sz="1275" b="0">
                <a:solidFill>
                  <a:srgbClr val="0B1320"/>
                </a:solidFill>
              </a:rPr>
              <a:t>et de la qualité des</a:t>
            </a:r>
          </a:p>
          <a:p xmlns:a="http://schemas.openxmlformats.org/drawingml/2006/main">
            <a:pPr algn="l">
              <a:defRPr sz="1275" b="0">
                <a:solidFill>
                  <a:srgbClr val="0B1320"/>
                </a:solidFill>
              </a:defRPr>
            </a:pPr>
            <a:r>
              <a:rPr sz="1275" b="0">
                <a:solidFill>
                  <a:srgbClr val="0B1320"/>
                </a:solidFill>
              </a:rPr>
              <a:t>prompts. Le contrôle humain</a:t>
            </a:r>
          </a:p>
          <a:p xmlns:a="http://schemas.openxmlformats.org/drawingml/2006/main">
            <a:pPr algn="l">
              <a:defRPr sz="1275" b="0">
                <a:solidFill>
                  <a:srgbClr val="0B1320"/>
                </a:solidFill>
              </a:defRPr>
            </a:pPr>
            <a:r>
              <a:rPr sz="1275" b="0">
                <a:solidFill>
                  <a:srgbClr val="0B1320"/>
                </a:solidFill>
              </a:rPr>
              <a:t>reste indispensable.</a:t>
            </a:r>
          </a:p>
        </p:txBody>
      </p:sp>
      <p:sp>
        <p:nvSpPr>
          <p:cNvPr id="32" name="">
            <a:extLst xmlns:a="http://schemas.openxmlformats.org/drawingml/2006/main">
              <a:ext uri="{FF2B5EF4-FFF2-40B4-BE49-F238E27FC236}">
                <a16:creationId xmlns:a16="http://schemas.microsoft.com/office/drawing/2014/main" id="{055B8D40-B976-4970-B7AC-3780C6E2CA75}"/>
              </a:ext>
            </a:extLst>
          </p:cNvPr>
          <p:cNvSpPr>
            <a:spLocks xmlns:a="http://schemas.openxmlformats.org/drawingml/2006/main" noGrp="1"/>
          </p:cNvSpPr>
          <p:nvPr/>
        </p:nvSpPr>
        <p:spPr>
          <a:xfrm xmlns:a="http://schemas.openxmlformats.org/drawingml/2006/main">
            <a:off x="8013700" y="3676650"/>
            <a:ext cx="3378200" cy="2038350"/>
          </a:xfrm>
          <a:prstGeom xmlns:a="http://schemas.openxmlformats.org/drawingml/2006/main" prst="roundRect">
            <a:avLst>
              <a:gd name="adj" fmla="val 3738"/>
            </a:avLst>
          </a:prstGeom>
          <a:solidFill xmlns:a="http://schemas.openxmlformats.org/drawingml/2006/main">
            <a:srgbClr val="FFFFFF">
              <a:alpha val="94118"/>
            </a:srgbClr>
          </a:solidFill>
          <a:ln xmlns:a="http://schemas.openxmlformats.org/drawingml/2006/main" w="11430">
            <a:solidFill>
              <a:srgbClr val="D7E3F3"/>
            </a:solidFill>
            <a:prstDash val="solid"/>
          </a:ln>
        </p:spPr>
      </p:sp>
      <p:sp>
        <p:nvSpPr>
          <p:cNvPr id="33" name="">
            <a:extLst xmlns:a="http://schemas.openxmlformats.org/drawingml/2006/main">
              <a:ext uri="{FF2B5EF4-FFF2-40B4-BE49-F238E27FC236}">
                <a16:creationId xmlns:a16="http://schemas.microsoft.com/office/drawing/2014/main" id="{72D4841F-E577-4827-AE24-C885A1F6AE7E}"/>
              </a:ext>
            </a:extLst>
          </p:cNvPr>
          <p:cNvSpPr>
            <a:spLocks xmlns:a="http://schemas.openxmlformats.org/drawingml/2006/main" noGrp="1"/>
          </p:cNvSpPr>
          <p:nvPr/>
        </p:nvSpPr>
        <p:spPr>
          <a:xfrm xmlns:a="http://schemas.openxmlformats.org/drawingml/2006/main">
            <a:off x="8013700" y="3676650"/>
            <a:ext cx="76200" cy="2038350"/>
          </a:xfrm>
          <a:prstGeom xmlns:a="http://schemas.openxmlformats.org/drawingml/2006/main" prst="rect">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C5357724-7892-4BB4-80A5-93A76B26C797}"/>
              </a:ext>
            </a:extLst>
          </p:cNvPr>
          <p:cNvSpPr>
            <a:spLocks xmlns:a="http://schemas.openxmlformats.org/drawingml/2006/main" noGrp="1"/>
          </p:cNvSpPr>
          <p:nvPr/>
        </p:nvSpPr>
        <p:spPr>
          <a:xfrm xmlns:a="http://schemas.openxmlformats.org/drawingml/2006/main">
            <a:off x="8223250" y="3905250"/>
            <a:ext cx="514350" cy="514350"/>
          </a:xfrm>
          <a:prstGeom xmlns:a="http://schemas.openxmlformats.org/drawingml/2006/main" prst="ellipse">
            <a:avLst/>
          </a:prstGeom>
          <a:solidFill xmlns:a="http://schemas.openxmlformats.org/drawingml/2006/main">
            <a:srgbClr val="FFFFFF"/>
          </a:solidFill>
          <a:ln xmlns:a="http://schemas.openxmlformats.org/drawingml/2006/main" w="11430">
            <a:solidFill>
              <a:srgbClr val="D7E3F3"/>
            </a:solidFill>
            <a:prstDash val="solid"/>
          </a:ln>
        </p:spPr>
      </p:sp>
      <p:sp>
        <p:nvSpPr>
          <p:cNvPr id="35" name="">
            <a:extLst xmlns:a="http://schemas.openxmlformats.org/drawingml/2006/main">
              <a:ext uri="{FF2B5EF4-FFF2-40B4-BE49-F238E27FC236}">
                <a16:creationId xmlns:a16="http://schemas.microsoft.com/office/drawing/2014/main" id="{87D50ACE-8675-498E-9CDE-0DDF471683B3}"/>
              </a:ext>
            </a:extLst>
          </p:cNvPr>
          <p:cNvSpPr>
            <a:spLocks xmlns:a="http://schemas.openxmlformats.org/drawingml/2006/main" noGrp="1"/>
          </p:cNvSpPr>
          <p:nvPr/>
        </p:nvSpPr>
        <p:spPr>
          <a:xfrm xmlns:a="http://schemas.openxmlformats.org/drawingml/2006/main">
            <a:off x="8347075" y="4048125"/>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59B3F217-0720-4B62-9748-B6925155AEE4}"/>
              </a:ext>
            </a:extLst>
          </p:cNvPr>
          <p:cNvSpPr>
            <a:spLocks xmlns:a="http://schemas.openxmlformats.org/drawingml/2006/main" noGrp="1"/>
          </p:cNvSpPr>
          <p:nvPr/>
        </p:nvSpPr>
        <p:spPr>
          <a:xfrm xmlns:a="http://schemas.openxmlformats.org/drawingml/2006/main">
            <a:off x="8394700" y="4133850"/>
            <a:ext cx="247650" cy="123825"/>
          </a:xfrm>
          <a:prstGeom xmlns:a="http://schemas.openxmlformats.org/drawingml/2006/main" prst="roundRect">
            <a:avLst>
              <a:gd name="adj" fmla="val 50000"/>
            </a:avLst>
          </a:prstGeom>
          <a:solidFill xmlns:a="http://schemas.openxmlformats.org/drawingml/2006/main">
            <a:srgbClr val="F0A03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A1331302-30E7-44FE-ABB9-79D06FE37E5C}"/>
              </a:ext>
            </a:extLst>
          </p:cNvPr>
          <p:cNvSpPr>
            <a:spLocks xmlns:a="http://schemas.openxmlformats.org/drawingml/2006/main" noGrp="1"/>
          </p:cNvSpPr>
          <p:nvPr/>
        </p:nvSpPr>
        <p:spPr>
          <a:xfrm xmlns:a="http://schemas.openxmlformats.org/drawingml/2006/main">
            <a:off x="8442325" y="4219575"/>
            <a:ext cx="190500" cy="95250"/>
          </a:xfrm>
          <a:prstGeom xmlns:a="http://schemas.openxmlformats.org/drawingml/2006/main" prst="roundRect">
            <a:avLst>
              <a:gd name="adj" fmla="val 50000"/>
            </a:avLst>
          </a:prstGeom>
          <a:solidFill xmlns:a="http://schemas.openxmlformats.org/drawingml/2006/main">
            <a:srgbClr val="FF6A5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3DB5B6A3-2C53-41E0-BD03-B412AC919593}"/>
              </a:ext>
            </a:extLst>
          </p:cNvPr>
          <p:cNvSpPr>
            <a:spLocks xmlns:a="http://schemas.openxmlformats.org/drawingml/2006/main" noGrp="1"/>
          </p:cNvSpPr>
          <p:nvPr/>
        </p:nvSpPr>
        <p:spPr>
          <a:xfrm xmlns:a="http://schemas.openxmlformats.org/drawingml/2006/main">
            <a:off x="8851900" y="3886200"/>
            <a:ext cx="234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47A6"/>
                </a:solidFill>
              </a:defRPr>
            </a:pPr>
            <a:r>
              <a:rPr sz="1125" b="1">
                <a:solidFill>
                  <a:srgbClr val="1747A6"/>
                </a:solidFill>
              </a:rPr>
              <a:t>Suite</a:t>
            </a:r>
          </a:p>
        </p:txBody>
      </p:sp>
      <p:sp>
        <p:nvSpPr>
          <p:cNvPr id="39" name="">
            <a:extLst xmlns:a="http://schemas.openxmlformats.org/drawingml/2006/main">
              <a:ext uri="{FF2B5EF4-FFF2-40B4-BE49-F238E27FC236}">
                <a16:creationId xmlns:a16="http://schemas.microsoft.com/office/drawing/2014/main" id="{B04D0881-71A4-4038-9C51-8D7B12656E2B}"/>
              </a:ext>
            </a:extLst>
          </p:cNvPr>
          <p:cNvSpPr>
            <a:spLocks xmlns:a="http://schemas.openxmlformats.org/drawingml/2006/main" noGrp="1"/>
          </p:cNvSpPr>
          <p:nvPr/>
        </p:nvSpPr>
        <p:spPr>
          <a:xfrm xmlns:a="http://schemas.openxmlformats.org/drawingml/2006/main">
            <a:off x="8242300" y="4495800"/>
            <a:ext cx="2921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320"/>
                </a:solidFill>
              </a:defRPr>
            </a:pPr>
            <a:r>
              <a:rPr sz="1275" b="0">
                <a:solidFill>
                  <a:srgbClr val="0B1320"/>
                </a:solidFill>
              </a:rPr>
              <a:t>Les évolutions possibles</a:t>
            </a:r>
          </a:p>
          <a:p xmlns:a="http://schemas.openxmlformats.org/drawingml/2006/main">
            <a:pPr algn="l">
              <a:defRPr sz="1275" b="0">
                <a:solidFill>
                  <a:srgbClr val="0B1320"/>
                </a:solidFill>
              </a:defRPr>
            </a:pPr>
            <a:r>
              <a:rPr sz="1275" b="0">
                <a:solidFill>
                  <a:srgbClr val="0B1320"/>
                </a:solidFill>
              </a:rPr>
              <a:t>sont l'intégration ATS, des</a:t>
            </a:r>
          </a:p>
          <a:p xmlns:a="http://schemas.openxmlformats.org/drawingml/2006/main">
            <a:pPr algn="l">
              <a:defRPr sz="1275" b="0">
                <a:solidFill>
                  <a:srgbClr val="0B1320"/>
                </a:solidFill>
              </a:defRPr>
            </a:pPr>
            <a:r>
              <a:rPr sz="1275" b="0">
                <a:solidFill>
                  <a:srgbClr val="0B1320"/>
                </a:solidFill>
              </a:rPr>
              <a:t>tableaux de bord RH plus</a:t>
            </a:r>
          </a:p>
          <a:p xmlns:a="http://schemas.openxmlformats.org/drawingml/2006/main">
            <a:pPr algn="l">
              <a:defRPr sz="1275" b="0">
                <a:solidFill>
                  <a:srgbClr val="0B1320"/>
                </a:solidFill>
              </a:defRPr>
            </a:pPr>
            <a:r>
              <a:rPr sz="1275" b="0">
                <a:solidFill>
                  <a:srgbClr val="0B1320"/>
                </a:solidFill>
              </a:rPr>
              <a:t>complets et des tests</a:t>
            </a:r>
          </a:p>
          <a:p xmlns:a="http://schemas.openxmlformats.org/drawingml/2006/main">
            <a:pPr algn="l">
              <a:defRPr sz="1275" b="0">
                <a:solidFill>
                  <a:srgbClr val="0B1320"/>
                </a:solidFill>
              </a:defRPr>
            </a:pPr>
            <a:r>
              <a:rPr sz="1275" b="0">
                <a:solidFill>
                  <a:srgbClr val="0B1320"/>
                </a:solidFill>
              </a:rPr>
              <a:t>qualité plus poussés.</a:t>
            </a:r>
          </a:p>
        </p:txBody>
      </p:sp>
    </p:spTree>
    <p:extLst>
      <p:ext uri="{BB962C8B-B14F-4D97-AF65-F5344CB8AC3E}">
        <p14:creationId xmlns:p14="http://schemas.microsoft.com/office/powerpoint/2010/main" val="10372241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2026-04-20T23:53:02.7050000Z</dcterms:created>
  <dcterms:modified xsi:type="dcterms:W3CDTF">2026-04-20T23:53:02.7050000Z</dcterms:modified>
</coreProperties>
</file>